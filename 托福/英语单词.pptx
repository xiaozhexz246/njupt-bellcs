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80" r:id="rId13"/>
    <p:sldId id="268" r:id="rId14"/>
    <p:sldId id="281" r:id="rId15"/>
    <p:sldId id="270" r:id="rId16"/>
    <p:sldId id="282" r:id="rId17"/>
    <p:sldId id="273" r:id="rId18"/>
    <p:sldId id="272" r:id="rId19"/>
    <p:sldId id="275" r:id="rId20"/>
    <p:sldId id="274" r:id="rId21"/>
    <p:sldId id="276" r:id="rId22"/>
    <p:sldId id="278"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04" autoAdjust="0"/>
  </p:normalViewPr>
  <p:slideViewPr>
    <p:cSldViewPr snapToGrid="0">
      <p:cViewPr varScale="1">
        <p:scale>
          <a:sx n="86" d="100"/>
          <a:sy n="86" d="100"/>
        </p:scale>
        <p:origin x="9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871FF-17CC-42D9-A1AD-4F80E722356A}" type="datetimeFigureOut">
              <a:rPr lang="zh-CN" altLang="en-US" smtClean="0"/>
              <a:t>2024/1/9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57F5A1-EDDA-4947-9B6B-CE4C78A6C0AC}" type="slidenum">
              <a:rPr lang="zh-CN" altLang="en-US" smtClean="0"/>
              <a:t>‹#›</a:t>
            </a:fld>
            <a:endParaRPr lang="zh-CN" altLang="en-US"/>
          </a:p>
        </p:txBody>
      </p:sp>
    </p:spTree>
    <p:extLst>
      <p:ext uri="{BB962C8B-B14F-4D97-AF65-F5344CB8AC3E}">
        <p14:creationId xmlns:p14="http://schemas.microsoft.com/office/powerpoint/2010/main" val="4257296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5</a:t>
            </a:fld>
            <a:endParaRPr lang="zh-CN" altLang="en-US"/>
          </a:p>
        </p:txBody>
      </p:sp>
    </p:spTree>
    <p:extLst>
      <p:ext uri="{BB962C8B-B14F-4D97-AF65-F5344CB8AC3E}">
        <p14:creationId xmlns:p14="http://schemas.microsoft.com/office/powerpoint/2010/main" val="2260492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6</a:t>
            </a:fld>
            <a:endParaRPr lang="zh-CN" altLang="en-US"/>
          </a:p>
        </p:txBody>
      </p:sp>
    </p:spTree>
    <p:extLst>
      <p:ext uri="{BB962C8B-B14F-4D97-AF65-F5344CB8AC3E}">
        <p14:creationId xmlns:p14="http://schemas.microsoft.com/office/powerpoint/2010/main" val="1195960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7</a:t>
            </a:fld>
            <a:endParaRPr lang="zh-CN" altLang="en-US"/>
          </a:p>
        </p:txBody>
      </p:sp>
    </p:spTree>
    <p:extLst>
      <p:ext uri="{BB962C8B-B14F-4D97-AF65-F5344CB8AC3E}">
        <p14:creationId xmlns:p14="http://schemas.microsoft.com/office/powerpoint/2010/main" val="2349165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8</a:t>
            </a:fld>
            <a:endParaRPr lang="zh-CN" altLang="en-US"/>
          </a:p>
        </p:txBody>
      </p:sp>
    </p:spTree>
    <p:extLst>
      <p:ext uri="{BB962C8B-B14F-4D97-AF65-F5344CB8AC3E}">
        <p14:creationId xmlns:p14="http://schemas.microsoft.com/office/powerpoint/2010/main" val="3978305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9</a:t>
            </a:fld>
            <a:endParaRPr lang="zh-CN" altLang="en-US"/>
          </a:p>
        </p:txBody>
      </p:sp>
    </p:spTree>
    <p:extLst>
      <p:ext uri="{BB962C8B-B14F-4D97-AF65-F5344CB8AC3E}">
        <p14:creationId xmlns:p14="http://schemas.microsoft.com/office/powerpoint/2010/main" val="2404182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10</a:t>
            </a:fld>
            <a:endParaRPr lang="zh-CN" altLang="en-US"/>
          </a:p>
        </p:txBody>
      </p:sp>
    </p:spTree>
    <p:extLst>
      <p:ext uri="{BB962C8B-B14F-4D97-AF65-F5344CB8AC3E}">
        <p14:creationId xmlns:p14="http://schemas.microsoft.com/office/powerpoint/2010/main" val="433350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11</a:t>
            </a:fld>
            <a:endParaRPr lang="zh-CN" altLang="en-US"/>
          </a:p>
        </p:txBody>
      </p:sp>
    </p:spTree>
    <p:extLst>
      <p:ext uri="{BB962C8B-B14F-4D97-AF65-F5344CB8AC3E}">
        <p14:creationId xmlns:p14="http://schemas.microsoft.com/office/powerpoint/2010/main" val="153392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12</a:t>
            </a:fld>
            <a:endParaRPr lang="zh-CN" altLang="en-US"/>
          </a:p>
        </p:txBody>
      </p:sp>
    </p:spTree>
    <p:extLst>
      <p:ext uri="{BB962C8B-B14F-4D97-AF65-F5344CB8AC3E}">
        <p14:creationId xmlns:p14="http://schemas.microsoft.com/office/powerpoint/2010/main" val="100256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13</a:t>
            </a:fld>
            <a:endParaRPr lang="zh-CN" altLang="en-US"/>
          </a:p>
        </p:txBody>
      </p:sp>
    </p:spTree>
    <p:extLst>
      <p:ext uri="{BB962C8B-B14F-4D97-AF65-F5344CB8AC3E}">
        <p14:creationId xmlns:p14="http://schemas.microsoft.com/office/powerpoint/2010/main" val="2345907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14</a:t>
            </a:fld>
            <a:endParaRPr lang="zh-CN" altLang="en-US"/>
          </a:p>
        </p:txBody>
      </p:sp>
    </p:spTree>
    <p:extLst>
      <p:ext uri="{BB962C8B-B14F-4D97-AF65-F5344CB8AC3E}">
        <p14:creationId xmlns:p14="http://schemas.microsoft.com/office/powerpoint/2010/main" val="3176148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15</a:t>
            </a:fld>
            <a:endParaRPr lang="zh-CN" altLang="en-US"/>
          </a:p>
        </p:txBody>
      </p:sp>
    </p:spTree>
    <p:extLst>
      <p:ext uri="{BB962C8B-B14F-4D97-AF65-F5344CB8AC3E}">
        <p14:creationId xmlns:p14="http://schemas.microsoft.com/office/powerpoint/2010/main" val="2905313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16</a:t>
            </a:fld>
            <a:endParaRPr lang="zh-CN" altLang="en-US"/>
          </a:p>
        </p:txBody>
      </p:sp>
    </p:spTree>
    <p:extLst>
      <p:ext uri="{BB962C8B-B14F-4D97-AF65-F5344CB8AC3E}">
        <p14:creationId xmlns:p14="http://schemas.microsoft.com/office/powerpoint/2010/main" val="2156559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17</a:t>
            </a:fld>
            <a:endParaRPr lang="zh-CN" altLang="en-US"/>
          </a:p>
        </p:txBody>
      </p:sp>
    </p:spTree>
    <p:extLst>
      <p:ext uri="{BB962C8B-B14F-4D97-AF65-F5344CB8AC3E}">
        <p14:creationId xmlns:p14="http://schemas.microsoft.com/office/powerpoint/2010/main" val="1202073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18</a:t>
            </a:fld>
            <a:endParaRPr lang="zh-CN" altLang="en-US"/>
          </a:p>
        </p:txBody>
      </p:sp>
    </p:spTree>
    <p:extLst>
      <p:ext uri="{BB962C8B-B14F-4D97-AF65-F5344CB8AC3E}">
        <p14:creationId xmlns:p14="http://schemas.microsoft.com/office/powerpoint/2010/main" val="704644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19</a:t>
            </a:fld>
            <a:endParaRPr lang="zh-CN" altLang="en-US"/>
          </a:p>
        </p:txBody>
      </p:sp>
    </p:spTree>
    <p:extLst>
      <p:ext uri="{BB962C8B-B14F-4D97-AF65-F5344CB8AC3E}">
        <p14:creationId xmlns:p14="http://schemas.microsoft.com/office/powerpoint/2010/main" val="3088655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20</a:t>
            </a:fld>
            <a:endParaRPr lang="zh-CN" altLang="en-US"/>
          </a:p>
        </p:txBody>
      </p:sp>
    </p:spTree>
    <p:extLst>
      <p:ext uri="{BB962C8B-B14F-4D97-AF65-F5344CB8AC3E}">
        <p14:creationId xmlns:p14="http://schemas.microsoft.com/office/powerpoint/2010/main" val="1813130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21</a:t>
            </a:fld>
            <a:endParaRPr lang="zh-CN" altLang="en-US"/>
          </a:p>
        </p:txBody>
      </p:sp>
    </p:spTree>
    <p:extLst>
      <p:ext uri="{BB962C8B-B14F-4D97-AF65-F5344CB8AC3E}">
        <p14:creationId xmlns:p14="http://schemas.microsoft.com/office/powerpoint/2010/main" val="2506661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257F5A1-EDDA-4947-9B6B-CE4C78A6C0AC}" type="slidenum">
              <a:rPr lang="zh-CN" altLang="en-US" smtClean="0"/>
              <a:t>22</a:t>
            </a:fld>
            <a:endParaRPr lang="zh-CN" altLang="en-US"/>
          </a:p>
        </p:txBody>
      </p:sp>
    </p:spTree>
    <p:extLst>
      <p:ext uri="{BB962C8B-B14F-4D97-AF65-F5344CB8AC3E}">
        <p14:creationId xmlns:p14="http://schemas.microsoft.com/office/powerpoint/2010/main" val="931297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6A1130-A5D5-28D8-BBE2-3EB0B3015BA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915ACE0-A3C3-7123-CACB-76B332648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5971A9D-D565-F8F3-D93E-5E6CD6E62FA1}"/>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0951DA0C-8754-6A79-4193-056DDA51C9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2B3D96-C439-7900-955C-58BD948ECA40}"/>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3643734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6BB1CD-F46D-7FCF-2236-838030DFB44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251DDFE-D297-519D-4BA5-996C3AA5BA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611CB0-6F76-CEBC-E98A-DD758BFF79D5}"/>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D6C65A5C-EE5D-E8BA-AE12-A556F449E6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B9ED15-B047-4B11-3635-B7332577B6B7}"/>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1209645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64B518-7C5C-8C7E-6B6A-3986B35585A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E44E7E4-EFF7-53AD-3A90-A3442BC8D8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ED0E73-029A-F60A-F936-5F57F4503C20}"/>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C9AC96FC-6089-82C1-8924-639E1AAE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4EA46C-8887-805A-C0D5-5B4FF7951A5D}"/>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410454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0B26BE-691C-20A9-A2F6-97FC52BF109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9D70C26-1768-F25F-8AA8-D4DD4E97174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F515D9C-6005-546D-1CF0-CBBACE7662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A8283E0-2D8E-1F6C-DC2E-24E5814C1506}"/>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6" name="页脚占位符 5">
            <a:extLst>
              <a:ext uri="{FF2B5EF4-FFF2-40B4-BE49-F238E27FC236}">
                <a16:creationId xmlns:a16="http://schemas.microsoft.com/office/drawing/2014/main" id="{DFC7D6F2-F70D-02B9-0B7E-1A4E991C4E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9AA9B5-FCE3-A109-1434-19D62C03B827}"/>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206041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BF9560-BFB5-52A8-2A68-1DA68FBC03A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D1B12F3-9FC0-31FC-24FD-D790F57CBD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DF690D6-01E7-415E-8B42-8E0EF2A7496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3335B29-9918-6F52-2AA8-66199CBBF6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ADB24A1-B008-552A-4A7C-7D111BDB750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9852291-EA7C-028E-641D-72BECFCA6484}"/>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8" name="页脚占位符 7">
            <a:extLst>
              <a:ext uri="{FF2B5EF4-FFF2-40B4-BE49-F238E27FC236}">
                <a16:creationId xmlns:a16="http://schemas.microsoft.com/office/drawing/2014/main" id="{C0ECF36D-F969-2532-3DD1-F8E452735E5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10CAF6E-7938-D52F-6B23-B3AAF23B19B2}"/>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150748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EDB9D4-604E-288A-A57F-25F2595BB31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56433B7-FD66-030D-4CF3-8FC6B3A77F4D}"/>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4" name="页脚占位符 3">
            <a:extLst>
              <a:ext uri="{FF2B5EF4-FFF2-40B4-BE49-F238E27FC236}">
                <a16:creationId xmlns:a16="http://schemas.microsoft.com/office/drawing/2014/main" id="{903E0BE8-EB65-A278-C62C-BEAEEEB624C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ED8CBCB-F7C3-B28A-058B-05F17C29532F}"/>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3140308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1CFBFB-BEFA-07EE-4E13-7641B9D6BD2F}"/>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3" name="页脚占位符 2">
            <a:extLst>
              <a:ext uri="{FF2B5EF4-FFF2-40B4-BE49-F238E27FC236}">
                <a16:creationId xmlns:a16="http://schemas.microsoft.com/office/drawing/2014/main" id="{D2C06804-7FC3-FC63-658B-7647450BFA9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F8C5668-6ECA-2A03-63C0-75C9EAA88551}"/>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391705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B7B8C-6785-C6FB-E32D-8C4650CCBF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13D8622-1C8F-E490-9506-CFB6BE45EE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B26B0B-372B-D4AC-512A-82666E90C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1ECA34C-99A5-59A1-68B2-028CB4A3EF9D}"/>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6" name="页脚占位符 5">
            <a:extLst>
              <a:ext uri="{FF2B5EF4-FFF2-40B4-BE49-F238E27FC236}">
                <a16:creationId xmlns:a16="http://schemas.microsoft.com/office/drawing/2014/main" id="{3237B7F0-4891-5AAC-669C-EE4B15F067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B9B77F7-F19C-A6B9-DA7E-C9B21074ED0F}"/>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3216303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5E60DC-D99B-2103-440A-F638A68F37B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D1FB49-9ADA-1691-570B-C44B12DDF7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78AD25-FC39-877D-6CDF-26A3C0EDD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FE5AFF-317C-9BBE-90CF-44CA98913648}"/>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6" name="页脚占位符 5">
            <a:extLst>
              <a:ext uri="{FF2B5EF4-FFF2-40B4-BE49-F238E27FC236}">
                <a16:creationId xmlns:a16="http://schemas.microsoft.com/office/drawing/2014/main" id="{FCFA4EDF-FB00-96C9-452A-91A49E78A9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71E9B3-6A28-461B-453B-D78AB2170B15}"/>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4027929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0AEAA9-E6D2-910E-86BA-9B65AFA67FD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82ED09A-D609-E881-8815-B5E87709369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A14365-1A4B-8966-C60B-E2276C9541F3}"/>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5F251EFA-DEF9-DA0D-FC8C-05D3FFA51E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6110DA-1A4A-DCDF-495C-E1DA66B12124}"/>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3489447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9F3A5C4-D1D1-1732-1ECD-2FF5FC3A732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E6C2A81-4F08-48F0-C17F-E10146C6274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1339A-1FF9-132D-4C6D-34646F204221}"/>
              </a:ext>
            </a:extLst>
          </p:cNvPr>
          <p:cNvSpPr>
            <a:spLocks noGrp="1"/>
          </p:cNvSpPr>
          <p:nvPr>
            <p:ph type="dt" sz="half" idx="10"/>
          </p:nvPr>
        </p:nvSpPr>
        <p:spPr/>
        <p:txBody>
          <a:bodyPr/>
          <a:lstStyle/>
          <a:p>
            <a:fld id="{7C793423-7CE7-4E8D-AAEF-EA6AD1BB2447}"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DD9E2DC3-4098-5F51-5024-A5B7E2A8C3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7B907C-7ECA-7E15-E24C-728E78A047AA}"/>
              </a:ext>
            </a:extLst>
          </p:cNvPr>
          <p:cNvSpPr>
            <a:spLocks noGrp="1"/>
          </p:cNvSpPr>
          <p:nvPr>
            <p:ph type="sldNum" sz="quarter" idx="12"/>
          </p:nvPr>
        </p:nvSpPr>
        <p:spPr/>
        <p:txBody>
          <a:body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1730421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BE4A4D6-6BD3-E4C5-915C-DCAA02DB92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EFB1DE1-80F2-BCBC-B9E0-B3338C297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CAE6A3-56B1-8F57-FC36-562FB0213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793423-7CE7-4E8D-AAEF-EA6AD1BB2447}"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5402E710-3F42-5853-5722-BA65B05CF8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69BB7A7-817E-E1F9-BE47-6E52E06DC0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CA86E-ABBF-499A-83C9-AA30254CE0C7}" type="slidenum">
              <a:rPr lang="zh-CN" altLang="en-US" smtClean="0"/>
              <a:t>‹#›</a:t>
            </a:fld>
            <a:endParaRPr lang="zh-CN" altLang="en-US"/>
          </a:p>
        </p:txBody>
      </p:sp>
    </p:spTree>
    <p:extLst>
      <p:ext uri="{BB962C8B-B14F-4D97-AF65-F5344CB8AC3E}">
        <p14:creationId xmlns:p14="http://schemas.microsoft.com/office/powerpoint/2010/main" val="2407725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6124754"/>
          </a:xfrm>
          <a:prstGeom prst="rect">
            <a:avLst/>
          </a:prstGeom>
          <a:noFill/>
        </p:spPr>
        <p:txBody>
          <a:bodyPr wrap="square" rtlCol="0">
            <a:spAutoFit/>
          </a:bodyPr>
          <a:lstStyle/>
          <a:p>
            <a:pPr algn="just"/>
            <a:r>
              <a:rPr lang="en-US" altLang="zh-CN" sz="1400" b="1" i="0" dirty="0">
                <a:effectLst/>
                <a:latin typeface="-apple-system"/>
              </a:rPr>
              <a:t>Professor </a:t>
            </a:r>
            <a:r>
              <a:rPr lang="en-US" altLang="zh-CN" sz="1400" b="0" i="0" dirty="0">
                <a:effectLst/>
                <a:latin typeface="-apple-system"/>
              </a:rPr>
              <a:t> Take a look at the automobiles </a:t>
            </a:r>
            <a:r>
              <a:rPr lang="en-US" altLang="zh-CN" sz="1400" b="1" i="0" dirty="0">
                <a:effectLst/>
                <a:latin typeface="-apple-system"/>
              </a:rPr>
              <a:t>displayed</a:t>
            </a:r>
            <a:r>
              <a:rPr lang="en-US" altLang="zh-CN" sz="1400" b="0" i="0" dirty="0">
                <a:effectLst/>
                <a:latin typeface="-apple-system"/>
              </a:rPr>
              <a:t> in this PowerPoint presentation. Do you notice anything unusual?</a:t>
            </a:r>
          </a:p>
          <a:p>
            <a:pPr algn="just"/>
            <a:r>
              <a:rPr lang="en-US" altLang="zh-CN" sz="1400" b="1" i="0" dirty="0">
                <a:effectLst/>
                <a:latin typeface="-apple-system"/>
              </a:rPr>
              <a:t>Student</a:t>
            </a:r>
            <a:r>
              <a:rPr lang="en-US" altLang="zh-CN" sz="1400" b="0" i="0" dirty="0">
                <a:effectLst/>
                <a:latin typeface="-apple-system"/>
              </a:rPr>
              <a:t>  Yes. There’s a small sign on the back of one of the cars that reads: “</a:t>
            </a:r>
            <a:r>
              <a:rPr lang="en-US" altLang="zh-CN" sz="1400" b="1" i="0" dirty="0">
                <a:effectLst/>
                <a:latin typeface="-apple-system"/>
              </a:rPr>
              <a:t>Hybrid</a:t>
            </a:r>
            <a:r>
              <a:rPr lang="en-US" altLang="zh-CN" sz="1400" b="0" i="0" dirty="0">
                <a:effectLst/>
                <a:latin typeface="-apple-system"/>
              </a:rPr>
              <a:t> cars save energy.”</a:t>
            </a:r>
          </a:p>
          <a:p>
            <a:pPr algn="just"/>
            <a:r>
              <a:rPr lang="en-US" altLang="zh-CN" sz="1400" b="1" i="0" dirty="0">
                <a:effectLst/>
                <a:latin typeface="-apple-system"/>
              </a:rPr>
              <a:t>Professor </a:t>
            </a:r>
            <a:r>
              <a:rPr lang="en-US" altLang="zh-CN" sz="1400" b="0" i="0" dirty="0">
                <a:effectLst/>
                <a:latin typeface="-apple-system"/>
              </a:rPr>
              <a:t> Is anyone familiar with how hybrid technology works in the </a:t>
            </a:r>
            <a:r>
              <a:rPr lang="en-US" altLang="zh-CN" sz="1400" b="1" i="0" dirty="0">
                <a:effectLst/>
                <a:latin typeface="-apple-system"/>
              </a:rPr>
              <a:t>automotive </a:t>
            </a:r>
            <a:r>
              <a:rPr lang="en-US" altLang="zh-CN" sz="1400" b="0" i="0" dirty="0">
                <a:effectLst/>
                <a:latin typeface="-apple-system"/>
              </a:rPr>
              <a:t>industry?</a:t>
            </a:r>
          </a:p>
          <a:p>
            <a:pPr algn="just"/>
            <a:r>
              <a:rPr lang="en-US" altLang="zh-CN" sz="1400" b="1" i="0" dirty="0">
                <a:effectLst/>
                <a:latin typeface="-apple-system"/>
              </a:rPr>
              <a:t>Student </a:t>
            </a:r>
            <a:r>
              <a:rPr lang="en-US" altLang="zh-CN" sz="1400" b="0" i="0" dirty="0">
                <a:effectLst/>
                <a:latin typeface="-apple-system"/>
              </a:rPr>
              <a:t> I read it involves receiving 32 to 48 more kilometers per gallon than the standard automobile. That’s </a:t>
            </a:r>
            <a:r>
              <a:rPr lang="en-US" altLang="zh-CN" sz="1400" b="1" i="0" dirty="0">
                <a:effectLst/>
                <a:latin typeface="-apple-system"/>
              </a:rPr>
              <a:t>ingenious</a:t>
            </a:r>
            <a:r>
              <a:rPr lang="en-US" altLang="zh-CN" sz="1400" b="0" i="0" dirty="0">
                <a:effectLst/>
                <a:latin typeface="-apple-system"/>
              </a:rPr>
              <a:t>!</a:t>
            </a:r>
          </a:p>
          <a:p>
            <a:pPr algn="just"/>
            <a:r>
              <a:rPr lang="en-US" altLang="zh-CN" sz="1400" b="1" i="0" dirty="0">
                <a:effectLst/>
                <a:latin typeface="-apple-system"/>
              </a:rPr>
              <a:t>Professor </a:t>
            </a:r>
            <a:r>
              <a:rPr lang="en-US" altLang="zh-CN" sz="1400" b="0" i="0" dirty="0">
                <a:effectLst/>
                <a:latin typeface="-apple-system"/>
              </a:rPr>
              <a:t> </a:t>
            </a:r>
            <a:r>
              <a:rPr lang="en-US" altLang="zh-CN" sz="1400" b="1" i="0" dirty="0">
                <a:effectLst/>
                <a:latin typeface="-apple-system"/>
              </a:rPr>
              <a:t>Overall</a:t>
            </a:r>
            <a:r>
              <a:rPr lang="en-US" altLang="zh-CN" sz="1400" b="0" i="0" dirty="0">
                <a:effectLst/>
                <a:latin typeface="-apple-system"/>
              </a:rPr>
              <a:t>, you’re getting the best technology at a reasonable price when you purchase a hybrid car.</a:t>
            </a:r>
          </a:p>
          <a:p>
            <a:pPr algn="just"/>
            <a:r>
              <a:rPr lang="en-US" altLang="zh-CN" sz="1400" b="1" i="0" dirty="0">
                <a:effectLst/>
                <a:latin typeface="-apple-system"/>
              </a:rPr>
              <a:t>Student</a:t>
            </a:r>
            <a:r>
              <a:rPr lang="en-US" altLang="zh-CN" sz="1400" b="0" i="0" dirty="0">
                <a:effectLst/>
                <a:latin typeface="-apple-system"/>
              </a:rPr>
              <a:t>  But how does all the </a:t>
            </a:r>
            <a:r>
              <a:rPr lang="en-US" altLang="zh-CN" sz="1400" b="1" i="0" dirty="0">
                <a:effectLst/>
                <a:latin typeface="-apple-system"/>
              </a:rPr>
              <a:t>engineering</a:t>
            </a:r>
            <a:r>
              <a:rPr lang="en-US" altLang="zh-CN" sz="1400" b="0" i="0" dirty="0">
                <a:effectLst/>
                <a:latin typeface="-apple-system"/>
              </a:rPr>
              <a:t> under the hood work?</a:t>
            </a:r>
          </a:p>
          <a:p>
            <a:pPr algn="just"/>
            <a:r>
              <a:rPr lang="en-US" altLang="zh-CN" sz="1400" b="1" i="0" dirty="0">
                <a:effectLst/>
                <a:latin typeface="-apple-system"/>
              </a:rPr>
              <a:t>Professor </a:t>
            </a:r>
            <a:r>
              <a:rPr lang="en-US" altLang="zh-CN" sz="1400" b="0" i="0" dirty="0">
                <a:effectLst/>
                <a:latin typeface="-apple-system"/>
              </a:rPr>
              <a:t> Well, as we emphasized </a:t>
            </a:r>
            <a:r>
              <a:rPr lang="en-US" altLang="zh-CN" sz="1400" b="1" i="0" dirty="0">
                <a:effectLst/>
                <a:latin typeface="-apple-system"/>
              </a:rPr>
              <a:t>previously</a:t>
            </a:r>
            <a:r>
              <a:rPr lang="en-US" altLang="zh-CN" sz="1400" b="0" i="0" dirty="0">
                <a:effectLst/>
                <a:latin typeface="-apple-system"/>
              </a:rPr>
              <a:t>, a gasoline-electric hybrid car is a cross between a gasoline-powered car and an electric car.</a:t>
            </a:r>
          </a:p>
          <a:p>
            <a:pPr algn="just"/>
            <a:r>
              <a:rPr lang="en-US" altLang="zh-CN" sz="1400" b="1" i="0" dirty="0">
                <a:effectLst/>
                <a:latin typeface="-apple-system"/>
              </a:rPr>
              <a:t>Student </a:t>
            </a:r>
            <a:r>
              <a:rPr lang="en-US" altLang="zh-CN" sz="1400" b="0" i="0" dirty="0">
                <a:effectLst/>
                <a:latin typeface="-apple-system"/>
              </a:rPr>
              <a:t> Now that’s a technology worthy of my </a:t>
            </a:r>
            <a:r>
              <a:rPr lang="en-US" altLang="zh-CN" sz="1400" b="1" i="0" dirty="0">
                <a:effectLst/>
                <a:latin typeface="-apple-system"/>
              </a:rPr>
              <a:t>disposable</a:t>
            </a:r>
            <a:r>
              <a:rPr lang="en-US" altLang="zh-CN" sz="1400" b="0" i="0" dirty="0">
                <a:effectLst/>
                <a:latin typeface="-apple-system"/>
              </a:rPr>
              <a:t> income.</a:t>
            </a:r>
          </a:p>
          <a:p>
            <a:pPr algn="just"/>
            <a:r>
              <a:rPr lang="en-US" altLang="zh-CN" sz="1400" b="1" i="0" dirty="0">
                <a:effectLst/>
                <a:latin typeface="-apple-system"/>
              </a:rPr>
              <a:t>Professor </a:t>
            </a:r>
            <a:r>
              <a:rPr lang="en-US" altLang="zh-CN" sz="1400" b="0" i="0" dirty="0">
                <a:effectLst/>
                <a:latin typeface="-apple-system"/>
              </a:rPr>
              <a:t> These cars have the potential to </a:t>
            </a:r>
            <a:r>
              <a:rPr lang="en-US" altLang="zh-CN" sz="1400" b="1" i="0" dirty="0">
                <a:effectLst/>
                <a:latin typeface="-apple-system"/>
              </a:rPr>
              <a:t>revolutionize</a:t>
            </a:r>
            <a:r>
              <a:rPr lang="en-US" altLang="zh-CN" sz="1400" b="0" i="0" dirty="0">
                <a:effectLst/>
                <a:latin typeface="-apple-system"/>
              </a:rPr>
              <a:t> the industry – just imagine the environmental benefits that will accrue.</a:t>
            </a:r>
          </a:p>
          <a:p>
            <a:pPr algn="just"/>
            <a:r>
              <a:rPr lang="en-US" altLang="zh-CN" sz="1400" b="1" i="0" dirty="0">
                <a:effectLst/>
                <a:latin typeface="-apple-system"/>
              </a:rPr>
              <a:t>Student </a:t>
            </a:r>
            <a:r>
              <a:rPr lang="en-US" altLang="zh-CN" sz="1400" b="0" i="0" dirty="0">
                <a:effectLst/>
                <a:latin typeface="-apple-system"/>
              </a:rPr>
              <a:t> Hey, as long as it can </a:t>
            </a:r>
            <a:r>
              <a:rPr lang="en-US" altLang="zh-CN" sz="1400" b="1" i="0" dirty="0">
                <a:effectLst/>
                <a:latin typeface="-apple-system"/>
              </a:rPr>
              <a:t>accommodate </a:t>
            </a:r>
            <a:r>
              <a:rPr lang="en-US" altLang="zh-CN" sz="1400" b="0" i="0" dirty="0">
                <a:effectLst/>
                <a:latin typeface="-apple-system"/>
              </a:rPr>
              <a:t>my bikes, skis and surfboard, I’m going for it. Now, could you move to the next </a:t>
            </a:r>
            <a:r>
              <a:rPr lang="en-US" altLang="zh-CN" sz="1400" b="1" i="0" dirty="0">
                <a:effectLst/>
                <a:latin typeface="-apple-system"/>
              </a:rPr>
              <a:t>audiovisual </a:t>
            </a:r>
            <a:r>
              <a:rPr lang="en-US" altLang="zh-CN" sz="1400" b="0" i="0" dirty="0">
                <a:effectLst/>
                <a:latin typeface="-apple-system"/>
              </a:rPr>
              <a:t>image in the PowerPoint presentation?</a:t>
            </a:r>
          </a:p>
          <a:p>
            <a:pPr algn="just"/>
            <a:r>
              <a:rPr lang="en-US" altLang="zh-CN" sz="1400" b="1" i="0" dirty="0">
                <a:effectLst/>
                <a:latin typeface="-apple-system"/>
              </a:rPr>
              <a:t>Professor</a:t>
            </a:r>
            <a:r>
              <a:rPr lang="en-US" altLang="zh-CN" sz="1400" b="0" i="0" dirty="0">
                <a:effectLst/>
                <a:latin typeface="-apple-system"/>
              </a:rPr>
              <a:t>  Certainly. You asked about the car’s technical </a:t>
            </a:r>
            <a:r>
              <a:rPr lang="en-US" altLang="zh-CN" sz="1400" b="1" i="0" dirty="0">
                <a:effectLst/>
                <a:latin typeface="-apple-system"/>
              </a:rPr>
              <a:t>apparatus</a:t>
            </a:r>
            <a:r>
              <a:rPr lang="en-US" altLang="zh-CN" sz="1400" b="0" i="0" dirty="0">
                <a:effectLst/>
                <a:latin typeface="-apple-system"/>
              </a:rPr>
              <a:t>, so take a look at the batteries. They provide electricity to the electric motor over here.</a:t>
            </a:r>
          </a:p>
          <a:p>
            <a:pPr algn="just"/>
            <a:r>
              <a:rPr lang="en-US" altLang="zh-CN" sz="1400" b="1" i="0" dirty="0">
                <a:effectLst/>
                <a:latin typeface="-apple-system"/>
              </a:rPr>
              <a:t>Student </a:t>
            </a:r>
            <a:r>
              <a:rPr lang="en-US" altLang="zh-CN" sz="1400" b="0" i="0" dirty="0">
                <a:effectLst/>
                <a:latin typeface="-apple-system"/>
              </a:rPr>
              <a:t> The most obvious change that I can see in the </a:t>
            </a:r>
            <a:r>
              <a:rPr lang="en-US" altLang="zh-CN" sz="1400" b="1" i="0" dirty="0">
                <a:effectLst/>
                <a:latin typeface="-apple-system"/>
              </a:rPr>
              <a:t>machinery</a:t>
            </a:r>
            <a:r>
              <a:rPr lang="en-US" altLang="zh-CN" sz="1400" b="0" i="0" dirty="0">
                <a:effectLst/>
                <a:latin typeface="-apple-system"/>
              </a:rPr>
              <a:t> is that the engine in the hybrid is smaller.</a:t>
            </a:r>
          </a:p>
          <a:p>
            <a:pPr algn="just"/>
            <a:r>
              <a:rPr lang="en-US" altLang="zh-CN" sz="1400" b="1" i="0" dirty="0">
                <a:effectLst/>
                <a:latin typeface="-apple-system"/>
              </a:rPr>
              <a:t>Professor</a:t>
            </a:r>
            <a:r>
              <a:rPr lang="en-US" altLang="zh-CN" sz="1400" b="0" i="0" dirty="0">
                <a:effectLst/>
                <a:latin typeface="-apple-system"/>
              </a:rPr>
              <a:t>  There are other differences too, </a:t>
            </a:r>
            <a:r>
              <a:rPr lang="en-US" altLang="zh-CN" sz="1400" b="1" i="0" dirty="0">
                <a:effectLst/>
                <a:latin typeface="-apple-system"/>
              </a:rPr>
              <a:t>namely</a:t>
            </a:r>
            <a:r>
              <a:rPr lang="en-US" altLang="zh-CN" sz="1400" b="0" i="0" dirty="0">
                <a:effectLst/>
                <a:latin typeface="-apple-system"/>
              </a:rPr>
              <a:t>, the electric motor that acts as a motor as well as a generator.</a:t>
            </a:r>
          </a:p>
          <a:p>
            <a:pPr algn="just"/>
            <a:r>
              <a:rPr lang="en-US" altLang="zh-CN" sz="1400" b="1" i="0" dirty="0">
                <a:effectLst/>
                <a:latin typeface="-apple-system"/>
              </a:rPr>
              <a:t>Student </a:t>
            </a:r>
            <a:r>
              <a:rPr lang="en-US" altLang="zh-CN" sz="1400" b="0" i="0" dirty="0">
                <a:effectLst/>
                <a:latin typeface="-apple-system"/>
              </a:rPr>
              <a:t> I’d like to be able to tell the difference between the </a:t>
            </a:r>
            <a:r>
              <a:rPr lang="en-US" altLang="zh-CN" sz="1400" b="1" i="0" dirty="0">
                <a:effectLst/>
                <a:latin typeface="-apple-system"/>
              </a:rPr>
              <a:t>superficial</a:t>
            </a:r>
            <a:r>
              <a:rPr lang="en-US" altLang="zh-CN" sz="1400" b="0" i="0" dirty="0">
                <a:effectLst/>
                <a:latin typeface="-apple-system"/>
              </a:rPr>
              <a:t> features and the real benefits.</a:t>
            </a:r>
          </a:p>
          <a:p>
            <a:endParaRPr lang="zh-CN" altLang="en-US" sz="14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B289E3A-941A-01E5-C04B-2510F1CB3EAF}"/>
              </a:ext>
            </a:extLst>
          </p:cNvPr>
          <p:cNvSpPr txBox="1"/>
          <p:nvPr/>
        </p:nvSpPr>
        <p:spPr>
          <a:xfrm>
            <a:off x="6915150" y="819150"/>
            <a:ext cx="3879850" cy="3539430"/>
          </a:xfrm>
          <a:prstGeom prst="rect">
            <a:avLst/>
          </a:prstGeom>
          <a:noFill/>
        </p:spPr>
        <p:txBody>
          <a:bodyPr wrap="square" rtlCol="0">
            <a:spAutoFit/>
          </a:bodyPr>
          <a:lstStyle/>
          <a:p>
            <a:r>
              <a:rPr lang="en-US" altLang="zh-CN" sz="1400" b="0" i="0" dirty="0">
                <a:effectLst/>
                <a:latin typeface="-apple-system"/>
              </a:rPr>
              <a:t>Displayed		</a:t>
            </a:r>
            <a:r>
              <a:rPr lang="en-US" altLang="zh-CN" sz="1400" b="0" i="0" dirty="0">
                <a:solidFill>
                  <a:srgbClr val="F35C70"/>
                </a:solidFill>
                <a:effectLst/>
                <a:latin typeface="-apple-system"/>
              </a:rPr>
              <a:t>showed</a:t>
            </a:r>
          </a:p>
          <a:p>
            <a:r>
              <a:rPr lang="en-US" altLang="zh-CN" sz="1400" b="0" i="0" dirty="0">
                <a:effectLst/>
                <a:latin typeface="-apple-system"/>
              </a:rPr>
              <a:t>Hybrid</a:t>
            </a:r>
            <a:r>
              <a:rPr lang="en-US" altLang="zh-CN" sz="1400" dirty="0">
                <a:solidFill>
                  <a:srgbClr val="F35C70"/>
                </a:solidFill>
                <a:latin typeface="-apple-system"/>
              </a:rPr>
              <a:t>		</a:t>
            </a:r>
            <a:r>
              <a:rPr lang="en-US" altLang="zh-CN" sz="1400" b="0" i="0" dirty="0">
                <a:solidFill>
                  <a:srgbClr val="F35C70"/>
                </a:solidFill>
                <a:effectLst/>
                <a:latin typeface="-apple-system"/>
              </a:rPr>
              <a:t>Combined</a:t>
            </a:r>
            <a:endParaRPr lang="en-US" altLang="zh-CN" sz="1400" dirty="0">
              <a:solidFill>
                <a:srgbClr val="F35C70"/>
              </a:solidFill>
              <a:latin typeface="-apple-system"/>
            </a:endParaRPr>
          </a:p>
          <a:p>
            <a:r>
              <a:rPr lang="en-US" altLang="zh-CN" sz="1400" b="0" i="0" dirty="0">
                <a:effectLst/>
                <a:latin typeface="-apple-system"/>
              </a:rPr>
              <a:t>Automotive</a:t>
            </a:r>
            <a:r>
              <a:rPr lang="en-US" altLang="zh-CN" sz="1400" b="0" i="0" dirty="0">
                <a:solidFill>
                  <a:srgbClr val="F35C70"/>
                </a:solidFill>
                <a:effectLst/>
                <a:latin typeface="-apple-system"/>
              </a:rPr>
              <a:t>		automobile</a:t>
            </a:r>
          </a:p>
          <a:p>
            <a:r>
              <a:rPr lang="en-US" altLang="zh-CN" sz="1400" b="0" i="0" dirty="0">
                <a:effectLst/>
                <a:latin typeface="-apple-system"/>
              </a:rPr>
              <a:t>Ingenious</a:t>
            </a:r>
            <a:r>
              <a:rPr lang="en-US" altLang="zh-CN" sz="1400" dirty="0">
                <a:solidFill>
                  <a:srgbClr val="F35C70"/>
                </a:solidFill>
                <a:latin typeface="-apple-system"/>
              </a:rPr>
              <a:t>		</a:t>
            </a:r>
            <a:r>
              <a:rPr lang="en-US" altLang="zh-CN" sz="1400" b="0" i="0" dirty="0">
                <a:solidFill>
                  <a:srgbClr val="F35C70"/>
                </a:solidFill>
                <a:effectLst/>
                <a:latin typeface="-apple-system"/>
              </a:rPr>
              <a:t>inventive</a:t>
            </a:r>
            <a:endParaRPr lang="en-US" altLang="zh-CN" sz="1400" dirty="0">
              <a:solidFill>
                <a:srgbClr val="F35C70"/>
              </a:solidFill>
              <a:latin typeface="-apple-system"/>
            </a:endParaRPr>
          </a:p>
          <a:p>
            <a:r>
              <a:rPr lang="en-US" altLang="zh-CN" sz="1400" b="0" i="0" dirty="0">
                <a:effectLst/>
                <a:latin typeface="-apple-system"/>
              </a:rPr>
              <a:t>Overall</a:t>
            </a:r>
            <a:r>
              <a:rPr lang="en-US" altLang="zh-CN" sz="1400" b="0" i="0" dirty="0">
                <a:solidFill>
                  <a:srgbClr val="F35C70"/>
                </a:solidFill>
                <a:effectLst/>
                <a:latin typeface="-apple-system"/>
              </a:rPr>
              <a:t>		Generally</a:t>
            </a:r>
          </a:p>
          <a:p>
            <a:r>
              <a:rPr lang="en-US" altLang="zh-CN" sz="1400" b="0" i="0" dirty="0">
                <a:effectLst/>
                <a:latin typeface="-apple-system"/>
              </a:rPr>
              <a:t>Engineering</a:t>
            </a:r>
            <a:r>
              <a:rPr lang="en-US" altLang="zh-CN" sz="1400" dirty="0">
                <a:solidFill>
                  <a:srgbClr val="F35C70"/>
                </a:solidFill>
                <a:latin typeface="-apple-system"/>
              </a:rPr>
              <a:t>		</a:t>
            </a:r>
            <a:r>
              <a:rPr lang="en-US" altLang="zh-CN" sz="1400" b="0" i="0" dirty="0">
                <a:solidFill>
                  <a:srgbClr val="F35C70"/>
                </a:solidFill>
                <a:effectLst/>
                <a:latin typeface="-apple-system"/>
              </a:rPr>
              <a:t>skilled manufacturing</a:t>
            </a:r>
            <a:endParaRPr lang="en-US" altLang="zh-CN" sz="1400" dirty="0">
              <a:solidFill>
                <a:srgbClr val="F35C70"/>
              </a:solidFill>
              <a:latin typeface="-apple-system"/>
            </a:endParaRPr>
          </a:p>
          <a:p>
            <a:r>
              <a:rPr lang="en-US" altLang="zh-CN" sz="1400" b="0" i="0" dirty="0">
                <a:effectLst/>
                <a:latin typeface="-apple-system"/>
              </a:rPr>
              <a:t>Previously		</a:t>
            </a:r>
            <a:r>
              <a:rPr lang="en-US" altLang="zh-CN" sz="1400" b="0" i="0" dirty="0">
                <a:solidFill>
                  <a:srgbClr val="F35C70"/>
                </a:solidFill>
                <a:effectLst/>
                <a:latin typeface="-apple-system"/>
              </a:rPr>
              <a:t>before</a:t>
            </a:r>
          </a:p>
          <a:p>
            <a:r>
              <a:rPr lang="en-US" altLang="zh-CN" sz="1400" b="0" i="0" dirty="0">
                <a:effectLst/>
                <a:latin typeface="-apple-system"/>
              </a:rPr>
              <a:t>Disposable</a:t>
            </a:r>
            <a:r>
              <a:rPr lang="en-US" altLang="zh-CN" sz="1400" dirty="0">
                <a:solidFill>
                  <a:srgbClr val="F35C70"/>
                </a:solidFill>
                <a:latin typeface="-apple-system"/>
              </a:rPr>
              <a:t>		</a:t>
            </a:r>
            <a:r>
              <a:rPr lang="en-US" altLang="zh-CN" sz="1400" b="0" i="0" dirty="0">
                <a:solidFill>
                  <a:srgbClr val="F35C70"/>
                </a:solidFill>
                <a:effectLst/>
                <a:latin typeface="-apple-system"/>
              </a:rPr>
              <a:t>usable</a:t>
            </a:r>
            <a:endParaRPr lang="en-US" altLang="zh-CN" sz="1400" dirty="0">
              <a:solidFill>
                <a:srgbClr val="F35C70"/>
              </a:solidFill>
              <a:latin typeface="-apple-system"/>
            </a:endParaRPr>
          </a:p>
          <a:p>
            <a:r>
              <a:rPr lang="en-US" altLang="zh-CN" sz="1400" b="0" i="0" dirty="0">
                <a:effectLst/>
                <a:latin typeface="-apple-system"/>
              </a:rPr>
              <a:t>Revolutionize</a:t>
            </a:r>
            <a:r>
              <a:rPr lang="en-US" altLang="zh-CN" sz="1400" b="0" i="0" dirty="0">
                <a:solidFill>
                  <a:srgbClr val="F35C70"/>
                </a:solidFill>
                <a:effectLst/>
                <a:latin typeface="-apple-system"/>
              </a:rPr>
              <a:t>	overhaul</a:t>
            </a:r>
          </a:p>
          <a:p>
            <a:r>
              <a:rPr lang="en-US" altLang="zh-CN" sz="1400" b="0" i="0" dirty="0">
                <a:effectLst/>
                <a:latin typeface="-apple-system"/>
              </a:rPr>
              <a:t>Accommodate</a:t>
            </a:r>
            <a:r>
              <a:rPr lang="en-US" altLang="zh-CN" sz="1400" dirty="0">
                <a:solidFill>
                  <a:srgbClr val="F35C70"/>
                </a:solidFill>
                <a:latin typeface="-apple-system"/>
              </a:rPr>
              <a:t>	</a:t>
            </a:r>
            <a:r>
              <a:rPr lang="en-US" altLang="zh-CN" sz="1400" b="0" i="0" dirty="0">
                <a:solidFill>
                  <a:srgbClr val="F35C70"/>
                </a:solidFill>
                <a:effectLst/>
                <a:latin typeface="-apple-system"/>
              </a:rPr>
              <a:t>take on</a:t>
            </a:r>
            <a:endParaRPr lang="en-US" altLang="zh-CN" sz="1400" dirty="0">
              <a:solidFill>
                <a:srgbClr val="F35C70"/>
              </a:solidFill>
              <a:latin typeface="-apple-system"/>
            </a:endParaRPr>
          </a:p>
          <a:p>
            <a:r>
              <a:rPr lang="en-US" altLang="zh-CN" sz="1400" b="0" i="0" dirty="0">
                <a:effectLst/>
                <a:latin typeface="-apple-system"/>
              </a:rPr>
              <a:t>Audiovisual</a:t>
            </a:r>
            <a:r>
              <a:rPr lang="en-US" altLang="zh-CN" sz="1400" b="0" i="0" dirty="0">
                <a:solidFill>
                  <a:srgbClr val="F35C70"/>
                </a:solidFill>
                <a:effectLst/>
                <a:latin typeface="-apple-system"/>
              </a:rPr>
              <a:t>		sight-sound</a:t>
            </a:r>
            <a:br>
              <a:rPr lang="en-US" altLang="zh-CN" sz="1400" dirty="0"/>
            </a:br>
            <a:r>
              <a:rPr lang="en-US" altLang="zh-CN" sz="1400" b="0" i="0" dirty="0">
                <a:effectLst/>
                <a:latin typeface="-apple-system"/>
              </a:rPr>
              <a:t>apparatus		</a:t>
            </a:r>
            <a:r>
              <a:rPr lang="en-US" altLang="zh-CN" sz="1400" b="0" i="0" dirty="0">
                <a:solidFill>
                  <a:srgbClr val="F35C70"/>
                </a:solidFill>
                <a:effectLst/>
                <a:latin typeface="-apple-system"/>
              </a:rPr>
              <a:t>equipment</a:t>
            </a:r>
          </a:p>
          <a:p>
            <a:r>
              <a:rPr lang="en-US" altLang="zh-CN" sz="1400" b="0" i="0" dirty="0">
                <a:effectLst/>
                <a:latin typeface="-apple-system"/>
              </a:rPr>
              <a:t>Machinery</a:t>
            </a:r>
            <a:r>
              <a:rPr lang="en-US" altLang="zh-CN" sz="1400" dirty="0">
                <a:solidFill>
                  <a:srgbClr val="F35C70"/>
                </a:solidFill>
                <a:latin typeface="-apple-system"/>
              </a:rPr>
              <a:t>		</a:t>
            </a:r>
            <a:r>
              <a:rPr lang="en-US" altLang="zh-CN" sz="1400" b="0" i="0" dirty="0">
                <a:solidFill>
                  <a:srgbClr val="F35C70"/>
                </a:solidFill>
                <a:effectLst/>
                <a:latin typeface="-apple-system"/>
              </a:rPr>
              <a:t>machine</a:t>
            </a:r>
            <a:endParaRPr lang="en-US" altLang="zh-CN" sz="1400" dirty="0">
              <a:solidFill>
                <a:srgbClr val="F35C70"/>
              </a:solidFill>
              <a:latin typeface="-apple-system"/>
            </a:endParaRPr>
          </a:p>
          <a:p>
            <a:r>
              <a:rPr lang="en-US" altLang="zh-CN" sz="1400" b="0" i="0" dirty="0">
                <a:effectLst/>
                <a:latin typeface="-apple-system"/>
              </a:rPr>
              <a:t>Namely</a:t>
            </a:r>
            <a:r>
              <a:rPr lang="en-US" altLang="zh-CN" sz="1400" b="0" i="0" dirty="0">
                <a:solidFill>
                  <a:srgbClr val="F35C70"/>
                </a:solidFill>
                <a:effectLst/>
                <a:latin typeface="-apple-system"/>
              </a:rPr>
              <a:t>		specifically</a:t>
            </a:r>
            <a:br>
              <a:rPr lang="en-US" altLang="zh-CN" sz="1400" dirty="0"/>
            </a:br>
            <a:r>
              <a:rPr lang="en-US" altLang="zh-CN" sz="1400" b="0" i="0" dirty="0">
                <a:effectLst/>
                <a:latin typeface="-apple-system"/>
              </a:rPr>
              <a:t>superficial		</a:t>
            </a:r>
            <a:r>
              <a:rPr lang="en-US" altLang="zh-CN" sz="1400" b="0" i="0" dirty="0">
                <a:solidFill>
                  <a:srgbClr val="F35C70"/>
                </a:solidFill>
                <a:effectLst/>
                <a:latin typeface="-apple-system"/>
              </a:rPr>
              <a:t>surface</a:t>
            </a:r>
          </a:p>
          <a:p>
            <a:endParaRPr lang="zh-CN" altLang="en-US" sz="14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1A</a:t>
            </a:r>
            <a:endParaRPr lang="zh-CN" altLang="en-US" dirty="0"/>
          </a:p>
        </p:txBody>
      </p:sp>
    </p:spTree>
    <p:extLst>
      <p:ext uri="{BB962C8B-B14F-4D97-AF65-F5344CB8AC3E}">
        <p14:creationId xmlns:p14="http://schemas.microsoft.com/office/powerpoint/2010/main" val="3235234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6124754"/>
          </a:xfrm>
          <a:prstGeom prst="rect">
            <a:avLst/>
          </a:prstGeom>
          <a:noFill/>
        </p:spPr>
        <p:txBody>
          <a:bodyPr wrap="square" rtlCol="0">
            <a:spAutoFit/>
          </a:bodyPr>
          <a:lstStyle/>
          <a:p>
            <a:pPr algn="just"/>
            <a:r>
              <a:rPr lang="en-US" altLang="zh-CN" sz="1400" b="1" i="0" dirty="0">
                <a:effectLst/>
                <a:latin typeface="-apple-system"/>
              </a:rPr>
              <a:t>Professor </a:t>
            </a:r>
            <a:r>
              <a:rPr lang="en-US" altLang="zh-CN" sz="1400" b="0" i="0" dirty="0">
                <a:effectLst/>
                <a:latin typeface="-apple-system"/>
              </a:rPr>
              <a:t> Take a look at the automobiles </a:t>
            </a:r>
            <a:r>
              <a:rPr lang="en-US" altLang="zh-CN" sz="1400" b="1" i="0" dirty="0">
                <a:effectLst/>
                <a:latin typeface="-apple-system"/>
              </a:rPr>
              <a:t>displayed</a:t>
            </a:r>
            <a:r>
              <a:rPr lang="en-US" altLang="zh-CN" sz="1400" b="0" i="0" dirty="0">
                <a:effectLst/>
                <a:latin typeface="-apple-system"/>
              </a:rPr>
              <a:t> in this PowerPoint presentation. Do you notice anything unusual?</a:t>
            </a:r>
          </a:p>
          <a:p>
            <a:pPr algn="just"/>
            <a:r>
              <a:rPr lang="en-US" altLang="zh-CN" sz="1400" b="1" i="0" dirty="0">
                <a:effectLst/>
                <a:latin typeface="-apple-system"/>
              </a:rPr>
              <a:t>Student</a:t>
            </a:r>
            <a:r>
              <a:rPr lang="en-US" altLang="zh-CN" sz="1400" b="0" i="0" dirty="0">
                <a:effectLst/>
                <a:latin typeface="-apple-system"/>
              </a:rPr>
              <a:t>  Yes. There’s a small sign on the back of one of the cars that reads: “</a:t>
            </a:r>
            <a:r>
              <a:rPr lang="en-US" altLang="zh-CN" sz="1400" b="1" i="0" dirty="0">
                <a:effectLst/>
                <a:latin typeface="-apple-system"/>
              </a:rPr>
              <a:t>Hybrid</a:t>
            </a:r>
            <a:r>
              <a:rPr lang="en-US" altLang="zh-CN" sz="1400" b="0" i="0" dirty="0">
                <a:effectLst/>
                <a:latin typeface="-apple-system"/>
              </a:rPr>
              <a:t> cars save energy.”</a:t>
            </a:r>
          </a:p>
          <a:p>
            <a:pPr algn="just"/>
            <a:r>
              <a:rPr lang="en-US" altLang="zh-CN" sz="1400" b="1" i="0" dirty="0">
                <a:effectLst/>
                <a:latin typeface="-apple-system"/>
              </a:rPr>
              <a:t>Professor </a:t>
            </a:r>
            <a:r>
              <a:rPr lang="en-US" altLang="zh-CN" sz="1400" b="0" i="0" dirty="0">
                <a:effectLst/>
                <a:latin typeface="-apple-system"/>
              </a:rPr>
              <a:t> Is anyone familiar with how hybrid technology works in the </a:t>
            </a:r>
            <a:r>
              <a:rPr lang="en-US" altLang="zh-CN" sz="1400" b="1" i="0" dirty="0">
                <a:effectLst/>
                <a:latin typeface="-apple-system"/>
              </a:rPr>
              <a:t>automotive </a:t>
            </a:r>
            <a:r>
              <a:rPr lang="en-US" altLang="zh-CN" sz="1400" b="0" i="0" dirty="0">
                <a:effectLst/>
                <a:latin typeface="-apple-system"/>
              </a:rPr>
              <a:t>industry?</a:t>
            </a:r>
          </a:p>
          <a:p>
            <a:pPr algn="just"/>
            <a:r>
              <a:rPr lang="en-US" altLang="zh-CN" sz="1400" b="1" i="0" dirty="0">
                <a:effectLst/>
                <a:latin typeface="-apple-system"/>
              </a:rPr>
              <a:t>Student </a:t>
            </a:r>
            <a:r>
              <a:rPr lang="en-US" altLang="zh-CN" sz="1400" b="0" i="0" dirty="0">
                <a:effectLst/>
                <a:latin typeface="-apple-system"/>
              </a:rPr>
              <a:t> I read it involves receiving 32 to 48 more kilometers per gallon than the standard automobile. That’s </a:t>
            </a:r>
            <a:r>
              <a:rPr lang="en-US" altLang="zh-CN" sz="1400" b="1" i="0" dirty="0">
                <a:effectLst/>
                <a:latin typeface="-apple-system"/>
              </a:rPr>
              <a:t>ingenious</a:t>
            </a:r>
            <a:r>
              <a:rPr lang="en-US" altLang="zh-CN" sz="1400" b="0" i="0" dirty="0">
                <a:effectLst/>
                <a:latin typeface="-apple-system"/>
              </a:rPr>
              <a:t>!</a:t>
            </a:r>
          </a:p>
          <a:p>
            <a:pPr algn="just"/>
            <a:r>
              <a:rPr lang="en-US" altLang="zh-CN" sz="1400" b="1" i="0" dirty="0">
                <a:effectLst/>
                <a:latin typeface="-apple-system"/>
              </a:rPr>
              <a:t>Professor </a:t>
            </a:r>
            <a:r>
              <a:rPr lang="en-US" altLang="zh-CN" sz="1400" b="0" i="0" dirty="0">
                <a:effectLst/>
                <a:latin typeface="-apple-system"/>
              </a:rPr>
              <a:t> </a:t>
            </a:r>
            <a:r>
              <a:rPr lang="en-US" altLang="zh-CN" sz="1400" b="1" i="0" dirty="0">
                <a:effectLst/>
                <a:latin typeface="-apple-system"/>
              </a:rPr>
              <a:t>Overall</a:t>
            </a:r>
            <a:r>
              <a:rPr lang="en-US" altLang="zh-CN" sz="1400" b="0" i="0" dirty="0">
                <a:effectLst/>
                <a:latin typeface="-apple-system"/>
              </a:rPr>
              <a:t>, you’re getting the best technology at a reasonable price when you purchase a hybrid car.</a:t>
            </a:r>
          </a:p>
          <a:p>
            <a:pPr algn="just"/>
            <a:r>
              <a:rPr lang="en-US" altLang="zh-CN" sz="1400" b="1" i="0" dirty="0">
                <a:effectLst/>
                <a:latin typeface="-apple-system"/>
              </a:rPr>
              <a:t>Student</a:t>
            </a:r>
            <a:r>
              <a:rPr lang="en-US" altLang="zh-CN" sz="1400" b="0" i="0" dirty="0">
                <a:effectLst/>
                <a:latin typeface="-apple-system"/>
              </a:rPr>
              <a:t>  But how does all the </a:t>
            </a:r>
            <a:r>
              <a:rPr lang="en-US" altLang="zh-CN" sz="1400" b="1" i="0" dirty="0">
                <a:effectLst/>
                <a:latin typeface="-apple-system"/>
              </a:rPr>
              <a:t>engineering</a:t>
            </a:r>
            <a:r>
              <a:rPr lang="en-US" altLang="zh-CN" sz="1400" b="0" i="0" dirty="0">
                <a:effectLst/>
                <a:latin typeface="-apple-system"/>
              </a:rPr>
              <a:t> under the hood work?</a:t>
            </a:r>
          </a:p>
          <a:p>
            <a:pPr algn="just"/>
            <a:r>
              <a:rPr lang="en-US" altLang="zh-CN" sz="1400" b="1" i="0" dirty="0">
                <a:effectLst/>
                <a:latin typeface="-apple-system"/>
              </a:rPr>
              <a:t>Professor </a:t>
            </a:r>
            <a:r>
              <a:rPr lang="en-US" altLang="zh-CN" sz="1400" b="0" i="0" dirty="0">
                <a:effectLst/>
                <a:latin typeface="-apple-system"/>
              </a:rPr>
              <a:t> Well, as we emphasized </a:t>
            </a:r>
            <a:r>
              <a:rPr lang="en-US" altLang="zh-CN" sz="1400" b="1" i="0" dirty="0">
                <a:effectLst/>
                <a:latin typeface="-apple-system"/>
              </a:rPr>
              <a:t>previously</a:t>
            </a:r>
            <a:r>
              <a:rPr lang="en-US" altLang="zh-CN" sz="1400" b="0" i="0" dirty="0">
                <a:effectLst/>
                <a:latin typeface="-apple-system"/>
              </a:rPr>
              <a:t>, a gasoline-electric hybrid car is a cross between a gasoline-powered car and an electric car.</a:t>
            </a:r>
          </a:p>
          <a:p>
            <a:pPr algn="just"/>
            <a:r>
              <a:rPr lang="en-US" altLang="zh-CN" sz="1400" b="1" i="0" dirty="0">
                <a:effectLst/>
                <a:latin typeface="-apple-system"/>
              </a:rPr>
              <a:t>Student </a:t>
            </a:r>
            <a:r>
              <a:rPr lang="en-US" altLang="zh-CN" sz="1400" b="0" i="0" dirty="0">
                <a:effectLst/>
                <a:latin typeface="-apple-system"/>
              </a:rPr>
              <a:t> Now that’s a technology worthy of my </a:t>
            </a:r>
            <a:r>
              <a:rPr lang="en-US" altLang="zh-CN" sz="1400" b="1" i="0" dirty="0">
                <a:effectLst/>
                <a:latin typeface="-apple-system"/>
              </a:rPr>
              <a:t>disposable</a:t>
            </a:r>
            <a:r>
              <a:rPr lang="en-US" altLang="zh-CN" sz="1400" b="0" i="0" dirty="0">
                <a:effectLst/>
                <a:latin typeface="-apple-system"/>
              </a:rPr>
              <a:t> income.</a:t>
            </a:r>
          </a:p>
          <a:p>
            <a:pPr algn="just"/>
            <a:r>
              <a:rPr lang="en-US" altLang="zh-CN" sz="1400" b="1" i="0" dirty="0">
                <a:effectLst/>
                <a:latin typeface="-apple-system"/>
              </a:rPr>
              <a:t>Professor </a:t>
            </a:r>
            <a:r>
              <a:rPr lang="en-US" altLang="zh-CN" sz="1400" b="0" i="0" dirty="0">
                <a:effectLst/>
                <a:latin typeface="-apple-system"/>
              </a:rPr>
              <a:t> These cars have the potential to </a:t>
            </a:r>
            <a:r>
              <a:rPr lang="en-US" altLang="zh-CN" sz="1400" b="1" i="0" dirty="0">
                <a:effectLst/>
                <a:latin typeface="-apple-system"/>
              </a:rPr>
              <a:t>revolutionize</a:t>
            </a:r>
            <a:r>
              <a:rPr lang="en-US" altLang="zh-CN" sz="1400" b="0" i="0" dirty="0">
                <a:effectLst/>
                <a:latin typeface="-apple-system"/>
              </a:rPr>
              <a:t> the industry – just imagine the environmental benefits that will accrue.</a:t>
            </a:r>
          </a:p>
          <a:p>
            <a:pPr algn="just"/>
            <a:r>
              <a:rPr lang="en-US" altLang="zh-CN" sz="1400" b="1" i="0" dirty="0">
                <a:effectLst/>
                <a:latin typeface="-apple-system"/>
              </a:rPr>
              <a:t>Student </a:t>
            </a:r>
            <a:r>
              <a:rPr lang="en-US" altLang="zh-CN" sz="1400" b="0" i="0" dirty="0">
                <a:effectLst/>
                <a:latin typeface="-apple-system"/>
              </a:rPr>
              <a:t> Hey, as long as it can </a:t>
            </a:r>
            <a:r>
              <a:rPr lang="en-US" altLang="zh-CN" sz="1400" b="1" i="0" dirty="0">
                <a:effectLst/>
                <a:latin typeface="-apple-system"/>
              </a:rPr>
              <a:t>accommodate </a:t>
            </a:r>
            <a:r>
              <a:rPr lang="en-US" altLang="zh-CN" sz="1400" b="0" i="0" dirty="0">
                <a:effectLst/>
                <a:latin typeface="-apple-system"/>
              </a:rPr>
              <a:t>my bikes, skis and surfboard, I’m going for it. Now, could you move to the next </a:t>
            </a:r>
            <a:r>
              <a:rPr lang="en-US" altLang="zh-CN" sz="1400" b="1" i="0" dirty="0">
                <a:effectLst/>
                <a:latin typeface="-apple-system"/>
              </a:rPr>
              <a:t>audiovisual </a:t>
            </a:r>
            <a:r>
              <a:rPr lang="en-US" altLang="zh-CN" sz="1400" b="0" i="0" dirty="0">
                <a:effectLst/>
                <a:latin typeface="-apple-system"/>
              </a:rPr>
              <a:t>image in the PowerPoint presentation?</a:t>
            </a:r>
          </a:p>
          <a:p>
            <a:pPr algn="just"/>
            <a:r>
              <a:rPr lang="en-US" altLang="zh-CN" sz="1400" b="1" i="0" dirty="0">
                <a:effectLst/>
                <a:latin typeface="-apple-system"/>
              </a:rPr>
              <a:t>Professor</a:t>
            </a:r>
            <a:r>
              <a:rPr lang="en-US" altLang="zh-CN" sz="1400" b="0" i="0" dirty="0">
                <a:effectLst/>
                <a:latin typeface="-apple-system"/>
              </a:rPr>
              <a:t>  Certainly. You asked about the car’s technical </a:t>
            </a:r>
            <a:r>
              <a:rPr lang="en-US" altLang="zh-CN" sz="1400" b="1" i="0" dirty="0">
                <a:effectLst/>
                <a:latin typeface="-apple-system"/>
              </a:rPr>
              <a:t>apparatus</a:t>
            </a:r>
            <a:r>
              <a:rPr lang="en-US" altLang="zh-CN" sz="1400" b="0" i="0" dirty="0">
                <a:effectLst/>
                <a:latin typeface="-apple-system"/>
              </a:rPr>
              <a:t>, so take a look at the batteries. They provide electricity to the electric motor over here.</a:t>
            </a:r>
          </a:p>
          <a:p>
            <a:pPr algn="just"/>
            <a:r>
              <a:rPr lang="en-US" altLang="zh-CN" sz="1400" b="1" i="0" dirty="0">
                <a:effectLst/>
                <a:latin typeface="-apple-system"/>
              </a:rPr>
              <a:t>Student </a:t>
            </a:r>
            <a:r>
              <a:rPr lang="en-US" altLang="zh-CN" sz="1400" b="0" i="0" dirty="0">
                <a:effectLst/>
                <a:latin typeface="-apple-system"/>
              </a:rPr>
              <a:t> The most obvious change that I can see in the </a:t>
            </a:r>
            <a:r>
              <a:rPr lang="en-US" altLang="zh-CN" sz="1400" b="1" i="0" dirty="0">
                <a:effectLst/>
                <a:latin typeface="-apple-system"/>
              </a:rPr>
              <a:t>machinery</a:t>
            </a:r>
            <a:r>
              <a:rPr lang="en-US" altLang="zh-CN" sz="1400" b="0" i="0" dirty="0">
                <a:effectLst/>
                <a:latin typeface="-apple-system"/>
              </a:rPr>
              <a:t> is that the engine in the hybrid is smaller.</a:t>
            </a:r>
          </a:p>
          <a:p>
            <a:pPr algn="just"/>
            <a:r>
              <a:rPr lang="en-US" altLang="zh-CN" sz="1400" b="1" i="0" dirty="0">
                <a:effectLst/>
                <a:latin typeface="-apple-system"/>
              </a:rPr>
              <a:t>Professor</a:t>
            </a:r>
            <a:r>
              <a:rPr lang="en-US" altLang="zh-CN" sz="1400" b="0" i="0" dirty="0">
                <a:effectLst/>
                <a:latin typeface="-apple-system"/>
              </a:rPr>
              <a:t>  There are other differences too, </a:t>
            </a:r>
            <a:r>
              <a:rPr lang="en-US" altLang="zh-CN" sz="1400" b="1" i="0" dirty="0">
                <a:effectLst/>
                <a:latin typeface="-apple-system"/>
              </a:rPr>
              <a:t>namely</a:t>
            </a:r>
            <a:r>
              <a:rPr lang="en-US" altLang="zh-CN" sz="1400" b="0" i="0" dirty="0">
                <a:effectLst/>
                <a:latin typeface="-apple-system"/>
              </a:rPr>
              <a:t>, the electric motor that acts as a motor as well as a generator.</a:t>
            </a:r>
          </a:p>
          <a:p>
            <a:pPr algn="just"/>
            <a:r>
              <a:rPr lang="en-US" altLang="zh-CN" sz="1400" b="1" i="0" dirty="0">
                <a:effectLst/>
                <a:latin typeface="-apple-system"/>
              </a:rPr>
              <a:t>Student </a:t>
            </a:r>
            <a:r>
              <a:rPr lang="en-US" altLang="zh-CN" sz="1400" b="0" i="0" dirty="0">
                <a:effectLst/>
                <a:latin typeface="-apple-system"/>
              </a:rPr>
              <a:t> I’d like to be able to tell the difference between the </a:t>
            </a:r>
            <a:r>
              <a:rPr lang="en-US" altLang="zh-CN" sz="1400" b="1" i="0" dirty="0">
                <a:effectLst/>
                <a:latin typeface="-apple-system"/>
              </a:rPr>
              <a:t>superficial</a:t>
            </a:r>
            <a:r>
              <a:rPr lang="en-US" altLang="zh-CN" sz="1400" b="0" i="0" dirty="0">
                <a:effectLst/>
                <a:latin typeface="-apple-system"/>
              </a:rPr>
              <a:t> features and the real benefits.</a:t>
            </a:r>
          </a:p>
          <a:p>
            <a:endParaRPr lang="zh-CN" altLang="en-US" sz="14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B289E3A-941A-01E5-C04B-2510F1CB3EAF}"/>
              </a:ext>
            </a:extLst>
          </p:cNvPr>
          <p:cNvSpPr txBox="1"/>
          <p:nvPr/>
        </p:nvSpPr>
        <p:spPr>
          <a:xfrm>
            <a:off x="6915150" y="819150"/>
            <a:ext cx="3879850" cy="3323987"/>
          </a:xfrm>
          <a:prstGeom prst="rect">
            <a:avLst/>
          </a:prstGeom>
          <a:noFill/>
        </p:spPr>
        <p:txBody>
          <a:bodyPr wrap="square" rtlCol="0">
            <a:spAutoFit/>
          </a:bodyPr>
          <a:lstStyle/>
          <a:p>
            <a:r>
              <a:rPr lang="en-US" altLang="zh-CN" sz="1400" b="0" i="0" dirty="0">
                <a:effectLst/>
                <a:latin typeface="-apple-system"/>
              </a:rPr>
              <a:t>Displayed	</a:t>
            </a:r>
            <a:r>
              <a:rPr lang="zh-CN" altLang="en-US" sz="1400" dirty="0">
                <a:latin typeface="Times New Roman" panose="02020603050405020304" pitchFamily="18" charset="0"/>
                <a:cs typeface="Times New Roman" panose="02020603050405020304" pitchFamily="18" charset="0"/>
              </a:rPr>
              <a:t>显示</a:t>
            </a:r>
            <a:r>
              <a:rPr lang="en-US" altLang="zh-CN" sz="1400" b="0" i="0" dirty="0">
                <a:effectLst/>
                <a:latin typeface="-apple-system"/>
              </a:rPr>
              <a:t>	</a:t>
            </a:r>
            <a:r>
              <a:rPr lang="en-US" altLang="zh-CN" sz="1400" b="0" i="0" dirty="0">
                <a:solidFill>
                  <a:srgbClr val="F35C70"/>
                </a:solidFill>
                <a:effectLst/>
                <a:latin typeface="-apple-system"/>
              </a:rPr>
              <a:t>showed</a:t>
            </a:r>
          </a:p>
          <a:p>
            <a:r>
              <a:rPr lang="en-US" altLang="zh-CN" sz="1400" b="0" i="0" dirty="0">
                <a:effectLst/>
                <a:latin typeface="-apple-system"/>
              </a:rPr>
              <a:t>Hybrid</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混合</a:t>
            </a:r>
            <a:r>
              <a:rPr lang="en-US" altLang="zh-CN" sz="1400" dirty="0">
                <a:solidFill>
                  <a:srgbClr val="F35C70"/>
                </a:solidFill>
                <a:latin typeface="-apple-system"/>
              </a:rPr>
              <a:t>	</a:t>
            </a:r>
            <a:r>
              <a:rPr lang="en-US" altLang="zh-CN" sz="1400" b="0" i="0" dirty="0">
                <a:solidFill>
                  <a:srgbClr val="F35C70"/>
                </a:solidFill>
                <a:effectLst/>
                <a:latin typeface="-apple-system"/>
              </a:rPr>
              <a:t>Combined</a:t>
            </a:r>
            <a:endParaRPr lang="en-US" altLang="zh-CN" sz="1400" dirty="0">
              <a:solidFill>
                <a:srgbClr val="F35C70"/>
              </a:solidFill>
              <a:latin typeface="-apple-system"/>
            </a:endParaRPr>
          </a:p>
          <a:p>
            <a:r>
              <a:rPr lang="en-US" altLang="zh-CN" sz="1400" b="0" i="0" dirty="0">
                <a:effectLst/>
                <a:latin typeface="-apple-system"/>
              </a:rPr>
              <a:t>Automotive</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汽车</a:t>
            </a:r>
            <a:r>
              <a:rPr lang="en-US" altLang="zh-CN" sz="1400" b="0" i="0" dirty="0">
                <a:solidFill>
                  <a:srgbClr val="F35C70"/>
                </a:solidFill>
                <a:effectLst/>
                <a:latin typeface="-apple-system"/>
              </a:rPr>
              <a:t>	automobile</a:t>
            </a:r>
          </a:p>
          <a:p>
            <a:r>
              <a:rPr lang="en-US" altLang="zh-CN" sz="1400" b="0" i="0" dirty="0">
                <a:effectLst/>
                <a:latin typeface="-apple-system"/>
              </a:rPr>
              <a:t>Ingenious</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匠心独运</a:t>
            </a:r>
            <a:r>
              <a:rPr lang="en-US" altLang="zh-CN" sz="1400" dirty="0">
                <a:solidFill>
                  <a:srgbClr val="F35C70"/>
                </a:solidFill>
                <a:latin typeface="-apple-system"/>
              </a:rPr>
              <a:t>	</a:t>
            </a:r>
            <a:r>
              <a:rPr lang="en-US" altLang="zh-CN" sz="1400" b="0" i="0" dirty="0">
                <a:solidFill>
                  <a:srgbClr val="F35C70"/>
                </a:solidFill>
                <a:effectLst/>
                <a:latin typeface="-apple-system"/>
              </a:rPr>
              <a:t>inventive</a:t>
            </a:r>
            <a:endParaRPr lang="en-US" altLang="zh-CN" sz="1400" dirty="0">
              <a:solidFill>
                <a:srgbClr val="F35C70"/>
              </a:solidFill>
              <a:latin typeface="-apple-system"/>
            </a:endParaRPr>
          </a:p>
          <a:p>
            <a:r>
              <a:rPr lang="en-US" altLang="zh-CN" sz="1400" b="0" i="0" dirty="0">
                <a:effectLst/>
                <a:latin typeface="-apple-system"/>
              </a:rPr>
              <a:t>Overall</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总体上</a:t>
            </a:r>
            <a:r>
              <a:rPr lang="en-US" altLang="zh-CN" sz="1400" b="0" i="0" dirty="0">
                <a:solidFill>
                  <a:srgbClr val="F35C70"/>
                </a:solidFill>
                <a:effectLst/>
                <a:latin typeface="-apple-system"/>
              </a:rPr>
              <a:t>	Generally</a:t>
            </a:r>
          </a:p>
          <a:p>
            <a:r>
              <a:rPr lang="en-US" altLang="zh-CN" sz="1400" b="0" i="0" dirty="0">
                <a:effectLst/>
                <a:latin typeface="-apple-system"/>
              </a:rPr>
              <a:t>Engineering</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工程技术</a:t>
            </a:r>
            <a:r>
              <a:rPr lang="en-US" altLang="zh-CN" sz="1400" dirty="0">
                <a:solidFill>
                  <a:srgbClr val="F35C70"/>
                </a:solidFill>
                <a:latin typeface="-apple-system"/>
              </a:rPr>
              <a:t>	</a:t>
            </a:r>
            <a:r>
              <a:rPr lang="en-US" altLang="zh-CN" sz="1400" b="0" i="0" dirty="0">
                <a:solidFill>
                  <a:srgbClr val="F35C70"/>
                </a:solidFill>
                <a:effectLst/>
                <a:latin typeface="-apple-system"/>
              </a:rPr>
              <a:t>skilled manufacturing</a:t>
            </a:r>
            <a:endParaRPr lang="en-US" altLang="zh-CN" sz="1400" dirty="0">
              <a:solidFill>
                <a:srgbClr val="F35C70"/>
              </a:solidFill>
              <a:latin typeface="-apple-system"/>
            </a:endParaRPr>
          </a:p>
          <a:p>
            <a:r>
              <a:rPr lang="en-US" altLang="zh-CN" sz="1400" b="0" i="0" dirty="0">
                <a:effectLst/>
                <a:latin typeface="-apple-system"/>
              </a:rPr>
              <a:t>Previously	</a:t>
            </a:r>
            <a:r>
              <a:rPr lang="zh-CN" altLang="en-US" sz="1400" dirty="0">
                <a:latin typeface="Times New Roman" panose="02020603050405020304" pitchFamily="18" charset="0"/>
                <a:cs typeface="Times New Roman" panose="02020603050405020304" pitchFamily="18" charset="0"/>
              </a:rPr>
              <a:t>以前</a:t>
            </a:r>
            <a:r>
              <a:rPr lang="en-US" altLang="zh-CN" sz="1400" b="0" i="0" dirty="0">
                <a:effectLst/>
                <a:latin typeface="-apple-system"/>
              </a:rPr>
              <a:t>	</a:t>
            </a:r>
            <a:r>
              <a:rPr lang="en-US" altLang="zh-CN" sz="1400" b="0" i="0" dirty="0">
                <a:solidFill>
                  <a:srgbClr val="F35C70"/>
                </a:solidFill>
                <a:effectLst/>
                <a:latin typeface="-apple-system"/>
              </a:rPr>
              <a:t>before</a:t>
            </a:r>
          </a:p>
          <a:p>
            <a:r>
              <a:rPr lang="en-US" altLang="zh-CN" sz="1400" b="0" i="0" dirty="0">
                <a:effectLst/>
                <a:latin typeface="-apple-system"/>
              </a:rPr>
              <a:t>Disposable</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可用</a:t>
            </a:r>
            <a:r>
              <a:rPr lang="en-US" altLang="zh-CN" sz="1400" dirty="0">
                <a:solidFill>
                  <a:srgbClr val="F35C70"/>
                </a:solidFill>
                <a:latin typeface="-apple-system"/>
              </a:rPr>
              <a:t>	</a:t>
            </a:r>
            <a:r>
              <a:rPr lang="en-US" altLang="zh-CN" sz="1400" b="0" i="0" dirty="0">
                <a:solidFill>
                  <a:srgbClr val="F35C70"/>
                </a:solidFill>
                <a:effectLst/>
                <a:latin typeface="-apple-system"/>
              </a:rPr>
              <a:t>usable</a:t>
            </a:r>
            <a:endParaRPr lang="en-US" altLang="zh-CN" sz="1400" dirty="0">
              <a:solidFill>
                <a:srgbClr val="F35C70"/>
              </a:solidFill>
              <a:latin typeface="-apple-system"/>
            </a:endParaRPr>
          </a:p>
          <a:p>
            <a:r>
              <a:rPr lang="en-US" altLang="zh-CN" sz="1400" b="0" i="0" dirty="0">
                <a:effectLst/>
                <a:latin typeface="-apple-system"/>
              </a:rPr>
              <a:t>Revolutionize</a:t>
            </a:r>
            <a:r>
              <a:rPr lang="zh-CN" altLang="en-US" sz="1400" dirty="0">
                <a:latin typeface="Times New Roman" panose="02020603050405020304" pitchFamily="18" charset="0"/>
                <a:cs typeface="Times New Roman" panose="02020603050405020304" pitchFamily="18" charset="0"/>
              </a:rPr>
              <a:t>彻底改变</a:t>
            </a:r>
            <a:r>
              <a:rPr lang="en-US" altLang="zh-CN" sz="1400" b="0" i="0" dirty="0">
                <a:solidFill>
                  <a:srgbClr val="F35C70"/>
                </a:solidFill>
                <a:effectLst/>
                <a:latin typeface="-apple-system"/>
              </a:rPr>
              <a:t>	overhaul</a:t>
            </a:r>
          </a:p>
          <a:p>
            <a:r>
              <a:rPr lang="en-US" altLang="zh-CN" sz="1400" b="0" i="0" dirty="0">
                <a:effectLst/>
                <a:latin typeface="-apple-system"/>
              </a:rPr>
              <a:t>Accommodate</a:t>
            </a:r>
            <a:r>
              <a:rPr lang="zh-CN" altLang="en-US" sz="1400" dirty="0">
                <a:latin typeface="Times New Roman" panose="02020603050405020304" pitchFamily="18" charset="0"/>
                <a:cs typeface="Times New Roman" panose="02020603050405020304" pitchFamily="18" charset="0"/>
              </a:rPr>
              <a:t>承担</a:t>
            </a:r>
            <a:r>
              <a:rPr lang="en-US" altLang="zh-CN" sz="1400" dirty="0">
                <a:solidFill>
                  <a:srgbClr val="F35C70"/>
                </a:solidFill>
                <a:latin typeface="-apple-system"/>
              </a:rPr>
              <a:t>	</a:t>
            </a:r>
            <a:r>
              <a:rPr lang="en-US" altLang="zh-CN" sz="1400" b="0" i="0" dirty="0">
                <a:solidFill>
                  <a:srgbClr val="F35C70"/>
                </a:solidFill>
                <a:effectLst/>
                <a:latin typeface="-apple-system"/>
              </a:rPr>
              <a:t>take on</a:t>
            </a:r>
            <a:endParaRPr lang="en-US" altLang="zh-CN" sz="1400" dirty="0">
              <a:solidFill>
                <a:srgbClr val="F35C70"/>
              </a:solidFill>
              <a:latin typeface="-apple-system"/>
            </a:endParaRPr>
          </a:p>
          <a:p>
            <a:r>
              <a:rPr lang="en-US" altLang="zh-CN" sz="1400" b="0" i="0" dirty="0">
                <a:effectLst/>
                <a:latin typeface="-apple-system"/>
              </a:rPr>
              <a:t>Audiovisual</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视听</a:t>
            </a:r>
            <a:r>
              <a:rPr lang="en-US" altLang="zh-CN" sz="1400" b="0" i="0" dirty="0">
                <a:solidFill>
                  <a:srgbClr val="F35C70"/>
                </a:solidFill>
                <a:effectLst/>
                <a:latin typeface="-apple-system"/>
              </a:rPr>
              <a:t>	sight-sound</a:t>
            </a:r>
            <a:br>
              <a:rPr lang="en-US" altLang="zh-CN" sz="1400" dirty="0"/>
            </a:br>
            <a:r>
              <a:rPr lang="en-US" altLang="zh-CN" sz="1400" b="0" i="0" dirty="0">
                <a:effectLst/>
                <a:latin typeface="-apple-system"/>
              </a:rPr>
              <a:t>apparatus	</a:t>
            </a:r>
            <a:r>
              <a:rPr lang="zh-CN" altLang="en-US" sz="1400" dirty="0">
                <a:latin typeface="Times New Roman" panose="02020603050405020304" pitchFamily="18" charset="0"/>
                <a:cs typeface="Times New Roman" panose="02020603050405020304" pitchFamily="18" charset="0"/>
              </a:rPr>
              <a:t>仪器</a:t>
            </a:r>
            <a:r>
              <a:rPr lang="en-US" altLang="zh-CN" sz="1400" b="0" i="0" dirty="0">
                <a:effectLst/>
                <a:latin typeface="-apple-system"/>
              </a:rPr>
              <a:t>	</a:t>
            </a:r>
            <a:r>
              <a:rPr lang="en-US" altLang="zh-CN" sz="1400" b="0" i="0" dirty="0">
                <a:solidFill>
                  <a:srgbClr val="F35C70"/>
                </a:solidFill>
                <a:effectLst/>
                <a:latin typeface="-apple-system"/>
              </a:rPr>
              <a:t>equipment</a:t>
            </a:r>
          </a:p>
          <a:p>
            <a:r>
              <a:rPr lang="en-US" altLang="zh-CN" sz="1400" b="0" i="0" dirty="0">
                <a:effectLst/>
                <a:latin typeface="-apple-system"/>
              </a:rPr>
              <a:t>Machinery</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机械</a:t>
            </a:r>
            <a:r>
              <a:rPr lang="en-US" altLang="zh-CN" sz="1400" dirty="0">
                <a:solidFill>
                  <a:srgbClr val="F35C70"/>
                </a:solidFill>
                <a:latin typeface="-apple-system"/>
              </a:rPr>
              <a:t>	</a:t>
            </a:r>
            <a:r>
              <a:rPr lang="en-US" altLang="zh-CN" sz="1400" b="0" i="0" dirty="0">
                <a:solidFill>
                  <a:srgbClr val="F35C70"/>
                </a:solidFill>
                <a:effectLst/>
                <a:latin typeface="-apple-system"/>
              </a:rPr>
              <a:t>machine</a:t>
            </a:r>
            <a:endParaRPr lang="en-US" altLang="zh-CN" sz="1400" dirty="0">
              <a:solidFill>
                <a:srgbClr val="F35C70"/>
              </a:solidFill>
              <a:latin typeface="-apple-system"/>
            </a:endParaRPr>
          </a:p>
          <a:p>
            <a:r>
              <a:rPr lang="en-US" altLang="zh-CN" sz="1400" b="0" i="0" dirty="0">
                <a:effectLst/>
                <a:latin typeface="-apple-system"/>
              </a:rPr>
              <a:t>Namely</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具体</a:t>
            </a:r>
            <a:r>
              <a:rPr lang="en-US" altLang="zh-CN" sz="1400" b="0" i="0" dirty="0">
                <a:solidFill>
                  <a:srgbClr val="F35C70"/>
                </a:solidFill>
                <a:effectLst/>
                <a:latin typeface="-apple-system"/>
              </a:rPr>
              <a:t>	specifically</a:t>
            </a:r>
            <a:br>
              <a:rPr lang="en-US" altLang="zh-CN" sz="1400" dirty="0"/>
            </a:br>
            <a:r>
              <a:rPr lang="en-US" altLang="zh-CN" sz="1400" b="0" i="0" dirty="0">
                <a:effectLst/>
                <a:latin typeface="-apple-system"/>
              </a:rPr>
              <a:t>superficial	</a:t>
            </a:r>
            <a:r>
              <a:rPr lang="zh-CN" altLang="en-US" sz="1400" dirty="0">
                <a:latin typeface="Times New Roman" panose="02020603050405020304" pitchFamily="18" charset="0"/>
                <a:cs typeface="Times New Roman" panose="02020603050405020304" pitchFamily="18" charset="0"/>
              </a:rPr>
              <a:t>表面</a:t>
            </a:r>
            <a:r>
              <a:rPr lang="en-US" altLang="zh-CN" sz="1400" b="0" i="0" dirty="0">
                <a:effectLst/>
                <a:latin typeface="-apple-system"/>
              </a:rPr>
              <a:t>	</a:t>
            </a:r>
            <a:r>
              <a:rPr lang="en-US" altLang="zh-CN" sz="1400" b="0" i="0" dirty="0">
                <a:solidFill>
                  <a:srgbClr val="F35C70"/>
                </a:solidFill>
                <a:effectLst/>
                <a:latin typeface="-apple-system"/>
              </a:rPr>
              <a:t>surface</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1A</a:t>
            </a:r>
            <a:endParaRPr lang="zh-CN" altLang="en-US" dirty="0"/>
          </a:p>
        </p:txBody>
      </p:sp>
    </p:spTree>
    <p:extLst>
      <p:ext uri="{BB962C8B-B14F-4D97-AF65-F5344CB8AC3E}">
        <p14:creationId xmlns:p14="http://schemas.microsoft.com/office/powerpoint/2010/main" val="667907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3108543"/>
          </a:xfrm>
          <a:prstGeom prst="rect">
            <a:avLst/>
          </a:prstGeom>
          <a:noFill/>
        </p:spPr>
        <p:txBody>
          <a:bodyPr wrap="square" rtlCol="0">
            <a:spAutoFit/>
          </a:bodyPr>
          <a:lstStyle/>
          <a:p>
            <a:pPr algn="just"/>
            <a:r>
              <a:rPr lang="en-US" altLang="zh-CN" sz="1400" b="0" i="0" dirty="0">
                <a:effectLst/>
                <a:latin typeface="-apple-system"/>
              </a:rPr>
              <a:t>Cosmology is the scientific study of the universe, while </a:t>
            </a:r>
            <a:r>
              <a:rPr lang="en-US" altLang="zh-CN" sz="1400" b="1" i="0" dirty="0">
                <a:effectLst/>
                <a:latin typeface="-apple-system"/>
              </a:rPr>
              <a:t>astronomy</a:t>
            </a:r>
            <a:r>
              <a:rPr lang="en-US" altLang="zh-CN" sz="1400" b="0" i="0" dirty="0">
                <a:effectLst/>
                <a:latin typeface="-apple-system"/>
              </a:rPr>
              <a:t> is the scientific study of </a:t>
            </a:r>
            <a:r>
              <a:rPr lang="en-US" altLang="zh-CN" sz="1400" b="1" i="0" dirty="0">
                <a:effectLst/>
                <a:latin typeface="-apple-system"/>
              </a:rPr>
              <a:t>celestial</a:t>
            </a:r>
            <a:r>
              <a:rPr lang="en-US" altLang="zh-CN" sz="1400" b="0" i="0" dirty="0">
                <a:effectLst/>
                <a:latin typeface="-apple-system"/>
              </a:rPr>
              <a:t> bodies, including stars, planets and comets. Like any </a:t>
            </a:r>
            <a:r>
              <a:rPr lang="en-US" altLang="zh-CN" sz="1400" b="1" i="0" dirty="0">
                <a:effectLst/>
                <a:latin typeface="-apple-system"/>
              </a:rPr>
              <a:t>realm</a:t>
            </a:r>
            <a:r>
              <a:rPr lang="en-US" altLang="zh-CN" sz="1400" b="0" i="0" dirty="0">
                <a:effectLst/>
                <a:latin typeface="-apple-system"/>
              </a:rPr>
              <a:t> of science, cosmology requires the formation of theories or hypotheses about the </a:t>
            </a:r>
            <a:r>
              <a:rPr lang="en-US" altLang="zh-CN" sz="1400" b="1" i="0" dirty="0">
                <a:effectLst/>
                <a:latin typeface="-apple-system"/>
              </a:rPr>
              <a:t>infinite</a:t>
            </a:r>
            <a:r>
              <a:rPr lang="en-US" altLang="zh-CN" sz="1400" b="0" i="0" dirty="0">
                <a:effectLst/>
                <a:latin typeface="-apple-system"/>
              </a:rPr>
              <a:t> universe that can be tested with observations. </a:t>
            </a:r>
            <a:r>
              <a:rPr lang="en-US" altLang="zh-CN" sz="1400" b="1" i="0" dirty="0">
                <a:effectLst/>
                <a:latin typeface="-apple-system"/>
              </a:rPr>
              <a:t>Satellites</a:t>
            </a:r>
            <a:r>
              <a:rPr lang="en-US" altLang="zh-CN" sz="1400" b="0" i="0" dirty="0">
                <a:effectLst/>
                <a:latin typeface="-apple-system"/>
              </a:rPr>
              <a:t> are sent into space, and </a:t>
            </a:r>
            <a:r>
              <a:rPr lang="en-US" altLang="zh-CN" sz="1400" b="1" i="0" dirty="0">
                <a:effectLst/>
                <a:latin typeface="-apple-system"/>
              </a:rPr>
              <a:t>telescopes</a:t>
            </a:r>
            <a:r>
              <a:rPr lang="en-US" altLang="zh-CN" sz="1400" b="0" i="0" dirty="0">
                <a:effectLst/>
                <a:latin typeface="-apple-system"/>
              </a:rPr>
              <a:t> are used on the ground, enabling people to better understand the </a:t>
            </a:r>
            <a:r>
              <a:rPr lang="en-US" altLang="zh-CN" sz="1400" b="1" i="0" dirty="0">
                <a:effectLst/>
                <a:latin typeface="-apple-system"/>
              </a:rPr>
              <a:t>whole</a:t>
            </a:r>
            <a:r>
              <a:rPr lang="en-US" altLang="zh-CN" sz="1400" b="0" i="0" dirty="0">
                <a:effectLst/>
                <a:latin typeface="-apple-system"/>
              </a:rPr>
              <a:t> solar system. The </a:t>
            </a:r>
            <a:r>
              <a:rPr lang="en-US" altLang="zh-CN" sz="1400" b="1" i="0" dirty="0">
                <a:effectLst/>
                <a:latin typeface="-apple-system"/>
              </a:rPr>
              <a:t>prospect</a:t>
            </a:r>
            <a:r>
              <a:rPr lang="en-US" altLang="zh-CN" sz="1400" b="0" i="0" dirty="0">
                <a:effectLst/>
                <a:latin typeface="-apple-system"/>
              </a:rPr>
              <a:t> of finding life on other planets, while </a:t>
            </a:r>
            <a:r>
              <a:rPr lang="en-US" altLang="zh-CN" sz="1400" b="1" i="0" dirty="0">
                <a:effectLst/>
                <a:latin typeface="-apple-system"/>
              </a:rPr>
              <a:t>plausible</a:t>
            </a:r>
            <a:r>
              <a:rPr lang="en-US" altLang="zh-CN" sz="1400" b="0" i="0" dirty="0">
                <a:effectLst/>
                <a:latin typeface="-apple-system"/>
              </a:rPr>
              <a:t>, encourages us to continue our </a:t>
            </a:r>
            <a:r>
              <a:rPr lang="en-US" altLang="zh-CN" sz="1400" b="1" i="0" dirty="0">
                <a:effectLst/>
                <a:latin typeface="-apple-system"/>
              </a:rPr>
              <a:t>extraterrestrial </a:t>
            </a:r>
            <a:r>
              <a:rPr lang="en-US" altLang="zh-CN" sz="1400" b="0" i="0" dirty="0">
                <a:effectLst/>
                <a:latin typeface="-apple-system"/>
              </a:rPr>
              <a:t>studies. Though astronomy and cosmology are among the most modern of scientific disciplines, </a:t>
            </a:r>
            <a:r>
              <a:rPr lang="en-US" altLang="zh-CN" sz="1400" b="1" i="0" dirty="0">
                <a:effectLst/>
                <a:latin typeface="-apple-system"/>
              </a:rPr>
              <a:t>a great deal </a:t>
            </a:r>
            <a:r>
              <a:rPr lang="en-US" altLang="zh-CN" sz="1400" b="0" i="0" dirty="0">
                <a:effectLst/>
                <a:latin typeface="-apple-system"/>
              </a:rPr>
              <a:t>of today’s knowledge about the universe results from the observations of earlier civilizations, whose observations </a:t>
            </a:r>
            <a:r>
              <a:rPr lang="en-US" altLang="zh-CN" sz="1400" b="1" i="0" dirty="0">
                <a:effectLst/>
                <a:latin typeface="-apple-system"/>
              </a:rPr>
              <a:t>accelerated</a:t>
            </a:r>
            <a:r>
              <a:rPr lang="en-US" altLang="zh-CN" sz="1400" b="0" i="0" dirty="0">
                <a:effectLst/>
                <a:latin typeface="-apple-system"/>
              </a:rPr>
              <a:t> our understanding of lunar eclipses. For example, the Chaldeans are given </a:t>
            </a:r>
            <a:r>
              <a:rPr lang="en-US" altLang="zh-CN" sz="1400" b="1" i="0" dirty="0">
                <a:effectLst/>
                <a:latin typeface="-apple-system"/>
              </a:rPr>
              <a:t>credit</a:t>
            </a:r>
            <a:r>
              <a:rPr lang="en-US" altLang="zh-CN" sz="1400" b="0" i="0" dirty="0">
                <a:effectLst/>
                <a:latin typeface="-apple-system"/>
              </a:rPr>
              <a:t> for the discovery that solar </a:t>
            </a:r>
            <a:r>
              <a:rPr lang="en-US" altLang="zh-CN" sz="1400" b="1" i="0" dirty="0">
                <a:effectLst/>
                <a:latin typeface="-apple-system"/>
              </a:rPr>
              <a:t>eclipses</a:t>
            </a:r>
            <a:r>
              <a:rPr lang="en-US" altLang="zh-CN" sz="1400" b="0" i="0" dirty="0">
                <a:effectLst/>
                <a:latin typeface="-apple-system"/>
              </a:rPr>
              <a:t> recur in a predictable, repeating cycle. Both types of eclipses occur </a:t>
            </a:r>
            <a:r>
              <a:rPr lang="en-US" altLang="zh-CN" sz="1400" b="1" i="0" dirty="0">
                <a:effectLst/>
                <a:latin typeface="-apple-system"/>
              </a:rPr>
              <a:t>in proximity to </a:t>
            </a:r>
            <a:r>
              <a:rPr lang="en-US" altLang="zh-CN" sz="1400" b="0" i="0" dirty="0">
                <a:effectLst/>
                <a:latin typeface="-apple-system"/>
              </a:rPr>
              <a:t>each other, with about a two-week span between them.</a:t>
            </a:r>
            <a:endParaRPr lang="zh-CN" altLang="en-US" sz="14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B289E3A-941A-01E5-C04B-2510F1CB3EAF}"/>
              </a:ext>
            </a:extLst>
          </p:cNvPr>
          <p:cNvSpPr txBox="1"/>
          <p:nvPr/>
        </p:nvSpPr>
        <p:spPr>
          <a:xfrm>
            <a:off x="6838950" y="838200"/>
            <a:ext cx="3879850" cy="3539430"/>
          </a:xfrm>
          <a:prstGeom prst="rect">
            <a:avLst/>
          </a:prstGeom>
          <a:noFill/>
        </p:spPr>
        <p:txBody>
          <a:bodyPr wrap="square" rtlCol="0">
            <a:spAutoFit/>
          </a:bodyPr>
          <a:lstStyle/>
          <a:p>
            <a:r>
              <a:rPr lang="en-US" altLang="zh-CN" sz="1400" b="0" i="0" dirty="0">
                <a:effectLst/>
                <a:latin typeface="-apple-system"/>
              </a:rPr>
              <a:t>astronomy		</a:t>
            </a:r>
            <a:r>
              <a:rPr lang="en-US" altLang="zh-CN" sz="1400" b="0" i="0" dirty="0">
                <a:solidFill>
                  <a:srgbClr val="F35C70"/>
                </a:solidFill>
                <a:effectLst/>
                <a:latin typeface="-apple-system"/>
              </a:rPr>
              <a:t>uranology</a:t>
            </a:r>
          </a:p>
          <a:p>
            <a:r>
              <a:rPr lang="en-US" altLang="zh-CN" sz="1400" b="0" i="0" dirty="0">
                <a:effectLst/>
                <a:latin typeface="-apple-system"/>
              </a:rPr>
              <a:t>Celestial		</a:t>
            </a:r>
            <a:r>
              <a:rPr lang="en-US" altLang="zh-CN" sz="1400" b="0" i="0" dirty="0">
                <a:solidFill>
                  <a:srgbClr val="F35C70"/>
                </a:solidFill>
                <a:effectLst/>
                <a:latin typeface="-apple-system"/>
              </a:rPr>
              <a:t>heavenly</a:t>
            </a:r>
          </a:p>
          <a:p>
            <a:r>
              <a:rPr lang="en-US" altLang="zh-CN" sz="1400" b="0" i="0" dirty="0">
                <a:effectLst/>
                <a:latin typeface="-apple-system"/>
              </a:rPr>
              <a:t>Realm		</a:t>
            </a:r>
            <a:r>
              <a:rPr lang="en-US" altLang="zh-CN" sz="1400" b="0" i="0" dirty="0">
                <a:solidFill>
                  <a:srgbClr val="F35C70"/>
                </a:solidFill>
                <a:effectLst/>
                <a:latin typeface="-apple-system"/>
              </a:rPr>
              <a:t>field</a:t>
            </a:r>
          </a:p>
          <a:p>
            <a:r>
              <a:rPr lang="en-US" altLang="zh-CN" sz="1400" b="0" i="0" dirty="0">
                <a:effectLst/>
                <a:latin typeface="-apple-system"/>
              </a:rPr>
              <a:t>Infinite		</a:t>
            </a:r>
            <a:r>
              <a:rPr lang="en-US" altLang="zh-CN" sz="1400" b="0" i="0" dirty="0">
                <a:solidFill>
                  <a:srgbClr val="F35C70"/>
                </a:solidFill>
                <a:effectLst/>
                <a:latin typeface="-apple-system"/>
              </a:rPr>
              <a:t>unlimited</a:t>
            </a:r>
          </a:p>
          <a:p>
            <a:r>
              <a:rPr lang="en-US" altLang="zh-CN" sz="1400" b="0" i="0" dirty="0">
                <a:effectLst/>
                <a:latin typeface="-apple-system"/>
              </a:rPr>
              <a:t>Satellites		</a:t>
            </a:r>
            <a:r>
              <a:rPr lang="en-US" altLang="zh-CN" sz="1400" b="0" i="0" dirty="0">
                <a:solidFill>
                  <a:srgbClr val="F35C70"/>
                </a:solidFill>
                <a:effectLst/>
                <a:latin typeface="-apple-system"/>
              </a:rPr>
              <a:t>interplanetary explorers</a:t>
            </a:r>
          </a:p>
          <a:p>
            <a:r>
              <a:rPr lang="en-US" altLang="zh-CN" sz="1400" b="0" i="0" dirty="0">
                <a:effectLst/>
                <a:latin typeface="-apple-system"/>
              </a:rPr>
              <a:t>Telescopes</a:t>
            </a:r>
            <a:r>
              <a:rPr lang="en-US" altLang="zh-CN" sz="1400" dirty="0">
                <a:solidFill>
                  <a:srgbClr val="F35C70"/>
                </a:solidFill>
                <a:latin typeface="-apple-system"/>
              </a:rPr>
              <a:t>		</a:t>
            </a:r>
            <a:r>
              <a:rPr lang="en-US" altLang="zh-CN" sz="1400" b="0" i="0" dirty="0">
                <a:solidFill>
                  <a:srgbClr val="F35C70"/>
                </a:solidFill>
                <a:effectLst/>
                <a:latin typeface="-apple-system"/>
              </a:rPr>
              <a:t>optical instruments</a:t>
            </a:r>
            <a:br>
              <a:rPr lang="en-US" altLang="zh-CN" sz="1400" dirty="0"/>
            </a:br>
            <a:r>
              <a:rPr lang="en-US" altLang="zh-CN" sz="1400" b="0" i="0" dirty="0">
                <a:effectLst/>
                <a:latin typeface="-apple-system"/>
              </a:rPr>
              <a:t>whole		</a:t>
            </a:r>
            <a:r>
              <a:rPr lang="en-US" altLang="zh-CN" sz="1400" b="0" i="0" dirty="0">
                <a:solidFill>
                  <a:srgbClr val="F35C70"/>
                </a:solidFill>
                <a:effectLst/>
                <a:latin typeface="-apple-system"/>
              </a:rPr>
              <a:t>entire</a:t>
            </a:r>
          </a:p>
          <a:p>
            <a:r>
              <a:rPr lang="en-US" altLang="zh-CN" sz="1400" b="0" i="0" dirty="0">
                <a:effectLst/>
                <a:latin typeface="-apple-system"/>
              </a:rPr>
              <a:t>Prospect</a:t>
            </a:r>
            <a:r>
              <a:rPr lang="en-US" altLang="zh-CN" sz="1400" dirty="0">
                <a:solidFill>
                  <a:srgbClr val="F35C70"/>
                </a:solidFill>
                <a:latin typeface="-apple-system"/>
              </a:rPr>
              <a:t>		</a:t>
            </a:r>
            <a:r>
              <a:rPr lang="en-US" altLang="zh-CN" sz="1400" b="0" i="0" dirty="0">
                <a:solidFill>
                  <a:srgbClr val="F35C70"/>
                </a:solidFill>
                <a:effectLst/>
                <a:latin typeface="-apple-system"/>
              </a:rPr>
              <a:t>chance</a:t>
            </a:r>
            <a:endParaRPr lang="en-US" altLang="zh-CN" sz="1400" dirty="0">
              <a:solidFill>
                <a:srgbClr val="F35C70"/>
              </a:solidFill>
              <a:latin typeface="-apple-system"/>
            </a:endParaRPr>
          </a:p>
          <a:p>
            <a:r>
              <a:rPr lang="en-US" altLang="zh-CN" sz="1400" b="0" i="0" dirty="0">
                <a:effectLst/>
                <a:latin typeface="-apple-system"/>
              </a:rPr>
              <a:t>Plausible		</a:t>
            </a:r>
            <a:r>
              <a:rPr lang="en-US" altLang="zh-CN" sz="1400" b="0" i="0" dirty="0">
                <a:solidFill>
                  <a:srgbClr val="F35C70"/>
                </a:solidFill>
                <a:effectLst/>
                <a:latin typeface="-apple-system"/>
              </a:rPr>
              <a:t>likely</a:t>
            </a:r>
          </a:p>
          <a:p>
            <a:r>
              <a:rPr lang="en-US" altLang="zh-CN" sz="1400" b="0" i="0" dirty="0">
                <a:effectLst/>
                <a:latin typeface="-apple-system"/>
              </a:rPr>
              <a:t>Extraterrestrial</a:t>
            </a:r>
            <a:r>
              <a:rPr lang="en-US" altLang="zh-CN" sz="1400" dirty="0">
                <a:solidFill>
                  <a:srgbClr val="F35C70"/>
                </a:solidFill>
                <a:latin typeface="-apple-system"/>
              </a:rPr>
              <a:t>	</a:t>
            </a:r>
            <a:r>
              <a:rPr lang="en-US" altLang="zh-CN" sz="1400" b="0" i="0" dirty="0">
                <a:solidFill>
                  <a:srgbClr val="F35C70"/>
                </a:solidFill>
                <a:effectLst/>
                <a:latin typeface="-apple-system"/>
              </a:rPr>
              <a:t>beyond the Earth</a:t>
            </a:r>
          </a:p>
          <a:p>
            <a:r>
              <a:rPr lang="en-US" altLang="zh-CN" sz="1400" b="0" i="0" dirty="0">
                <a:effectLst/>
                <a:latin typeface="-apple-system"/>
              </a:rPr>
              <a:t>a great deal</a:t>
            </a:r>
            <a:r>
              <a:rPr lang="en-US" altLang="zh-CN" sz="1400" dirty="0">
                <a:solidFill>
                  <a:srgbClr val="F35C70"/>
                </a:solidFill>
                <a:latin typeface="-apple-system"/>
              </a:rPr>
              <a:t>		</a:t>
            </a:r>
            <a:r>
              <a:rPr lang="en-US" altLang="zh-CN" sz="1400" b="0" i="0" dirty="0">
                <a:solidFill>
                  <a:srgbClr val="F35C70"/>
                </a:solidFill>
                <a:effectLst/>
                <a:latin typeface="-apple-system"/>
              </a:rPr>
              <a:t>a lot of</a:t>
            </a:r>
            <a:endParaRPr lang="en-US" altLang="zh-CN" sz="1400" dirty="0">
              <a:solidFill>
                <a:srgbClr val="F35C70"/>
              </a:solidFill>
              <a:latin typeface="-apple-system"/>
            </a:endParaRPr>
          </a:p>
          <a:p>
            <a:r>
              <a:rPr lang="en-US" altLang="zh-CN" sz="1400" b="0" i="0" dirty="0">
                <a:effectLst/>
                <a:latin typeface="-apple-system"/>
              </a:rPr>
              <a:t>Accelerated</a:t>
            </a:r>
            <a:r>
              <a:rPr lang="en-US" altLang="zh-CN" sz="1400" b="0" i="0" dirty="0">
                <a:solidFill>
                  <a:srgbClr val="F35C70"/>
                </a:solidFill>
                <a:effectLst/>
                <a:latin typeface="-apple-system"/>
              </a:rPr>
              <a:t>		expedited</a:t>
            </a:r>
          </a:p>
          <a:p>
            <a:r>
              <a:rPr lang="en-US" altLang="zh-CN" sz="1400" b="0" i="0" dirty="0">
                <a:effectLst/>
                <a:latin typeface="-apple-system"/>
              </a:rPr>
              <a:t>Credit</a:t>
            </a:r>
            <a:r>
              <a:rPr lang="en-US" altLang="zh-CN" sz="1400" dirty="0">
                <a:solidFill>
                  <a:srgbClr val="F35C70"/>
                </a:solidFill>
                <a:latin typeface="-apple-system"/>
              </a:rPr>
              <a:t>		</a:t>
            </a:r>
            <a:r>
              <a:rPr lang="en-US" altLang="zh-CN" sz="1400" b="0" i="0" dirty="0">
                <a:solidFill>
                  <a:srgbClr val="F35C70"/>
                </a:solidFill>
                <a:effectLst/>
                <a:latin typeface="-apple-system"/>
              </a:rPr>
              <a:t>honor</a:t>
            </a:r>
            <a:endParaRPr lang="en-US" altLang="zh-CN" sz="1400" dirty="0">
              <a:solidFill>
                <a:srgbClr val="F35C70"/>
              </a:solidFill>
              <a:latin typeface="-apple-system"/>
            </a:endParaRPr>
          </a:p>
          <a:p>
            <a:r>
              <a:rPr lang="en-US" altLang="zh-CN" sz="1400" b="0" i="0" dirty="0">
                <a:effectLst/>
                <a:latin typeface="-apple-system"/>
              </a:rPr>
              <a:t>Eclipses</a:t>
            </a:r>
            <a:r>
              <a:rPr lang="en-US" altLang="zh-CN" sz="1400" b="0" i="0" dirty="0">
                <a:solidFill>
                  <a:srgbClr val="F35C70"/>
                </a:solidFill>
                <a:effectLst/>
                <a:latin typeface="-apple-system"/>
              </a:rPr>
              <a:t>		blotting out</a:t>
            </a:r>
          </a:p>
          <a:p>
            <a:r>
              <a:rPr lang="en-US" altLang="zh-CN" sz="1400" b="0" i="0" dirty="0">
                <a:effectLst/>
                <a:latin typeface="-apple-system"/>
              </a:rPr>
              <a:t>in proximity to	</a:t>
            </a:r>
            <a:r>
              <a:rPr lang="en-US" altLang="zh-CN" sz="1400" b="0" i="0" dirty="0">
                <a:solidFill>
                  <a:srgbClr val="F35C70"/>
                </a:solidFill>
                <a:effectLst/>
                <a:latin typeface="-apple-system"/>
              </a:rPr>
              <a:t>near</a:t>
            </a:r>
          </a:p>
          <a:p>
            <a:endParaRPr lang="zh-CN" altLang="en-US" sz="14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1B</a:t>
            </a:r>
            <a:endParaRPr lang="zh-CN" altLang="en-US" dirty="0"/>
          </a:p>
        </p:txBody>
      </p:sp>
    </p:spTree>
    <p:extLst>
      <p:ext uri="{BB962C8B-B14F-4D97-AF65-F5344CB8AC3E}">
        <p14:creationId xmlns:p14="http://schemas.microsoft.com/office/powerpoint/2010/main" val="953805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3108543"/>
          </a:xfrm>
          <a:prstGeom prst="rect">
            <a:avLst/>
          </a:prstGeom>
          <a:noFill/>
        </p:spPr>
        <p:txBody>
          <a:bodyPr wrap="square" rtlCol="0">
            <a:spAutoFit/>
          </a:bodyPr>
          <a:lstStyle/>
          <a:p>
            <a:pPr algn="just"/>
            <a:r>
              <a:rPr lang="en-US" altLang="zh-CN" sz="1400" b="0" i="0" dirty="0">
                <a:effectLst/>
                <a:latin typeface="-apple-system"/>
              </a:rPr>
              <a:t>Cosmology is the scientific study of the universe, while </a:t>
            </a:r>
            <a:r>
              <a:rPr lang="en-US" altLang="zh-CN" sz="1400" b="1" i="0" dirty="0">
                <a:effectLst/>
                <a:latin typeface="-apple-system"/>
              </a:rPr>
              <a:t>astronomy</a:t>
            </a:r>
            <a:r>
              <a:rPr lang="en-US" altLang="zh-CN" sz="1400" b="0" i="0" dirty="0">
                <a:effectLst/>
                <a:latin typeface="-apple-system"/>
              </a:rPr>
              <a:t> is the scientific study of </a:t>
            </a:r>
            <a:r>
              <a:rPr lang="en-US" altLang="zh-CN" sz="1400" b="1" i="0" dirty="0">
                <a:effectLst/>
                <a:latin typeface="-apple-system"/>
              </a:rPr>
              <a:t>celestial</a:t>
            </a:r>
            <a:r>
              <a:rPr lang="en-US" altLang="zh-CN" sz="1400" b="0" i="0" dirty="0">
                <a:effectLst/>
                <a:latin typeface="-apple-system"/>
              </a:rPr>
              <a:t> bodies, including stars, planets and comets. Like any </a:t>
            </a:r>
            <a:r>
              <a:rPr lang="en-US" altLang="zh-CN" sz="1400" b="1" i="0" dirty="0">
                <a:effectLst/>
                <a:latin typeface="-apple-system"/>
              </a:rPr>
              <a:t>realm</a:t>
            </a:r>
            <a:r>
              <a:rPr lang="en-US" altLang="zh-CN" sz="1400" b="0" i="0" dirty="0">
                <a:effectLst/>
                <a:latin typeface="-apple-system"/>
              </a:rPr>
              <a:t> of science, cosmology requires the formation of theories or hypotheses about the </a:t>
            </a:r>
            <a:r>
              <a:rPr lang="en-US" altLang="zh-CN" sz="1400" b="1" i="0" dirty="0">
                <a:effectLst/>
                <a:latin typeface="-apple-system"/>
              </a:rPr>
              <a:t>infinite</a:t>
            </a:r>
            <a:r>
              <a:rPr lang="en-US" altLang="zh-CN" sz="1400" b="0" i="0" dirty="0">
                <a:effectLst/>
                <a:latin typeface="-apple-system"/>
              </a:rPr>
              <a:t> universe that can be tested with observations. </a:t>
            </a:r>
            <a:r>
              <a:rPr lang="en-US" altLang="zh-CN" sz="1400" b="1" i="0" dirty="0">
                <a:effectLst/>
                <a:latin typeface="-apple-system"/>
              </a:rPr>
              <a:t>Satellites</a:t>
            </a:r>
            <a:r>
              <a:rPr lang="en-US" altLang="zh-CN" sz="1400" b="0" i="0" dirty="0">
                <a:effectLst/>
                <a:latin typeface="-apple-system"/>
              </a:rPr>
              <a:t> are sent into space, and </a:t>
            </a:r>
            <a:r>
              <a:rPr lang="en-US" altLang="zh-CN" sz="1400" b="1" i="0" dirty="0">
                <a:effectLst/>
                <a:latin typeface="-apple-system"/>
              </a:rPr>
              <a:t>telescopes</a:t>
            </a:r>
            <a:r>
              <a:rPr lang="en-US" altLang="zh-CN" sz="1400" b="0" i="0" dirty="0">
                <a:effectLst/>
                <a:latin typeface="-apple-system"/>
              </a:rPr>
              <a:t> are used on the ground, enabling people to better understand the </a:t>
            </a:r>
            <a:r>
              <a:rPr lang="en-US" altLang="zh-CN" sz="1400" b="1" i="0" dirty="0">
                <a:effectLst/>
                <a:latin typeface="-apple-system"/>
              </a:rPr>
              <a:t>whole</a:t>
            </a:r>
            <a:r>
              <a:rPr lang="en-US" altLang="zh-CN" sz="1400" b="0" i="0" dirty="0">
                <a:effectLst/>
                <a:latin typeface="-apple-system"/>
              </a:rPr>
              <a:t> solar system. The </a:t>
            </a:r>
            <a:r>
              <a:rPr lang="en-US" altLang="zh-CN" sz="1400" b="1" i="0" dirty="0">
                <a:effectLst/>
                <a:latin typeface="-apple-system"/>
              </a:rPr>
              <a:t>prospect</a:t>
            </a:r>
            <a:r>
              <a:rPr lang="en-US" altLang="zh-CN" sz="1400" b="0" i="0" dirty="0">
                <a:effectLst/>
                <a:latin typeface="-apple-system"/>
              </a:rPr>
              <a:t> of finding life on other planets, while </a:t>
            </a:r>
            <a:r>
              <a:rPr lang="en-US" altLang="zh-CN" sz="1400" b="1" i="0" dirty="0">
                <a:effectLst/>
                <a:latin typeface="-apple-system"/>
              </a:rPr>
              <a:t>plausible</a:t>
            </a:r>
            <a:r>
              <a:rPr lang="en-US" altLang="zh-CN" sz="1400" b="0" i="0" dirty="0">
                <a:effectLst/>
                <a:latin typeface="-apple-system"/>
              </a:rPr>
              <a:t>, encourages us to continue our </a:t>
            </a:r>
            <a:r>
              <a:rPr lang="en-US" altLang="zh-CN" sz="1400" b="1" i="0" dirty="0">
                <a:effectLst/>
                <a:latin typeface="-apple-system"/>
              </a:rPr>
              <a:t>extraterrestrial </a:t>
            </a:r>
            <a:r>
              <a:rPr lang="en-US" altLang="zh-CN" sz="1400" b="0" i="0" dirty="0">
                <a:effectLst/>
                <a:latin typeface="-apple-system"/>
              </a:rPr>
              <a:t>studies. Though astronomy and cosmology are among the most modern of scientific disciplines, </a:t>
            </a:r>
            <a:r>
              <a:rPr lang="en-US" altLang="zh-CN" sz="1400" b="1" i="0" dirty="0">
                <a:effectLst/>
                <a:latin typeface="-apple-system"/>
              </a:rPr>
              <a:t>a great deal </a:t>
            </a:r>
            <a:r>
              <a:rPr lang="en-US" altLang="zh-CN" sz="1400" b="0" i="0" dirty="0">
                <a:effectLst/>
                <a:latin typeface="-apple-system"/>
              </a:rPr>
              <a:t>of today’s knowledge about the universe results from the observations of earlier civilizations, whose observations </a:t>
            </a:r>
            <a:r>
              <a:rPr lang="en-US" altLang="zh-CN" sz="1400" b="1" i="0" dirty="0">
                <a:effectLst/>
                <a:latin typeface="-apple-system"/>
              </a:rPr>
              <a:t>accelerated</a:t>
            </a:r>
            <a:r>
              <a:rPr lang="en-US" altLang="zh-CN" sz="1400" b="0" i="0" dirty="0">
                <a:effectLst/>
                <a:latin typeface="-apple-system"/>
              </a:rPr>
              <a:t> our understanding of lunar eclipses. For example, the Chaldeans are given </a:t>
            </a:r>
            <a:r>
              <a:rPr lang="en-US" altLang="zh-CN" sz="1400" b="1" i="0" dirty="0">
                <a:effectLst/>
                <a:latin typeface="-apple-system"/>
              </a:rPr>
              <a:t>credit</a:t>
            </a:r>
            <a:r>
              <a:rPr lang="en-US" altLang="zh-CN" sz="1400" b="0" i="0" dirty="0">
                <a:effectLst/>
                <a:latin typeface="-apple-system"/>
              </a:rPr>
              <a:t> for the discovery that solar </a:t>
            </a:r>
            <a:r>
              <a:rPr lang="en-US" altLang="zh-CN" sz="1400" b="1" i="0" dirty="0">
                <a:effectLst/>
                <a:latin typeface="-apple-system"/>
              </a:rPr>
              <a:t>eclipses</a:t>
            </a:r>
            <a:r>
              <a:rPr lang="en-US" altLang="zh-CN" sz="1400" b="0" i="0" dirty="0">
                <a:effectLst/>
                <a:latin typeface="-apple-system"/>
              </a:rPr>
              <a:t> recur in a predictable, repeating cycle. Both types of eclipses occur </a:t>
            </a:r>
            <a:r>
              <a:rPr lang="en-US" altLang="zh-CN" sz="1400" b="1" i="0" dirty="0">
                <a:effectLst/>
                <a:latin typeface="-apple-system"/>
              </a:rPr>
              <a:t>in proximity to </a:t>
            </a:r>
            <a:r>
              <a:rPr lang="en-US" altLang="zh-CN" sz="1400" b="0" i="0" dirty="0">
                <a:effectLst/>
                <a:latin typeface="-apple-system"/>
              </a:rPr>
              <a:t>each other, with about a two-week span between them.</a:t>
            </a:r>
            <a:endParaRPr lang="zh-CN" altLang="en-US" sz="14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B289E3A-941A-01E5-C04B-2510F1CB3EAF}"/>
              </a:ext>
            </a:extLst>
          </p:cNvPr>
          <p:cNvSpPr txBox="1"/>
          <p:nvPr/>
        </p:nvSpPr>
        <p:spPr>
          <a:xfrm>
            <a:off x="7169150" y="733246"/>
            <a:ext cx="3879850" cy="3323987"/>
          </a:xfrm>
          <a:prstGeom prst="rect">
            <a:avLst/>
          </a:prstGeom>
          <a:noFill/>
        </p:spPr>
        <p:txBody>
          <a:bodyPr wrap="square" rtlCol="0">
            <a:spAutoFit/>
          </a:bodyPr>
          <a:lstStyle/>
          <a:p>
            <a:r>
              <a:rPr lang="en-US" altLang="zh-CN" sz="1400" b="0" i="0" dirty="0">
                <a:effectLst/>
                <a:latin typeface="-apple-system"/>
              </a:rPr>
              <a:t>astronomy	</a:t>
            </a:r>
            <a:r>
              <a:rPr lang="zh-CN" altLang="en-US" sz="1400" dirty="0">
                <a:latin typeface="Times New Roman" panose="02020603050405020304" pitchFamily="18" charset="0"/>
                <a:cs typeface="Times New Roman" panose="02020603050405020304" pitchFamily="18" charset="0"/>
              </a:rPr>
              <a:t>天文学</a:t>
            </a:r>
            <a:r>
              <a:rPr lang="en-US" altLang="zh-CN" sz="1400" b="0" i="0" dirty="0">
                <a:effectLst/>
                <a:latin typeface="-apple-system"/>
              </a:rPr>
              <a:t>	</a:t>
            </a:r>
            <a:r>
              <a:rPr lang="en-US" altLang="zh-CN" sz="1400" b="0" i="0" dirty="0">
                <a:solidFill>
                  <a:srgbClr val="F35C70"/>
                </a:solidFill>
                <a:effectLst/>
                <a:latin typeface="-apple-system"/>
              </a:rPr>
              <a:t>uranology</a:t>
            </a:r>
          </a:p>
          <a:p>
            <a:r>
              <a:rPr lang="en-US" altLang="zh-CN" sz="1400" b="0" i="0" dirty="0">
                <a:effectLst/>
                <a:latin typeface="-apple-system"/>
              </a:rPr>
              <a:t>Celestial	</a:t>
            </a:r>
            <a:r>
              <a:rPr lang="zh-CN" altLang="en-US" sz="1400" dirty="0">
                <a:latin typeface="Times New Roman" panose="02020603050405020304" pitchFamily="18" charset="0"/>
                <a:cs typeface="Times New Roman" panose="02020603050405020304" pitchFamily="18" charset="0"/>
              </a:rPr>
              <a:t>天堂</a:t>
            </a:r>
            <a:r>
              <a:rPr lang="en-US" altLang="zh-CN" sz="1400" b="0" i="0" dirty="0">
                <a:effectLst/>
                <a:latin typeface="-apple-system"/>
              </a:rPr>
              <a:t>	</a:t>
            </a:r>
            <a:r>
              <a:rPr lang="en-US" altLang="zh-CN" sz="1400" b="0" i="0" dirty="0">
                <a:solidFill>
                  <a:srgbClr val="F35C70"/>
                </a:solidFill>
                <a:effectLst/>
                <a:latin typeface="-apple-system"/>
              </a:rPr>
              <a:t>heavenly</a:t>
            </a:r>
          </a:p>
          <a:p>
            <a:r>
              <a:rPr lang="en-US" altLang="zh-CN" sz="1400" b="0" i="0" dirty="0">
                <a:effectLst/>
                <a:latin typeface="-apple-system"/>
              </a:rPr>
              <a:t>Realm	</a:t>
            </a:r>
            <a:r>
              <a:rPr lang="zh-CN" altLang="en-US" sz="1400" dirty="0">
                <a:latin typeface="Times New Roman" panose="02020603050405020304" pitchFamily="18" charset="0"/>
                <a:cs typeface="Times New Roman" panose="02020603050405020304" pitchFamily="18" charset="0"/>
              </a:rPr>
              <a:t>领域</a:t>
            </a:r>
            <a:r>
              <a:rPr lang="en-US" altLang="zh-CN" sz="1400" b="0" i="0" dirty="0">
                <a:effectLst/>
                <a:latin typeface="-apple-system"/>
              </a:rPr>
              <a:t>	</a:t>
            </a:r>
            <a:r>
              <a:rPr lang="en-US" altLang="zh-CN" sz="1400" b="0" i="0" dirty="0">
                <a:solidFill>
                  <a:srgbClr val="F35C70"/>
                </a:solidFill>
                <a:effectLst/>
                <a:latin typeface="-apple-system"/>
              </a:rPr>
              <a:t>field</a:t>
            </a:r>
          </a:p>
          <a:p>
            <a:r>
              <a:rPr lang="en-US" altLang="zh-CN" sz="1400" b="0" i="0" dirty="0">
                <a:effectLst/>
                <a:latin typeface="-apple-system"/>
              </a:rPr>
              <a:t>Infinite	</a:t>
            </a:r>
            <a:r>
              <a:rPr lang="zh-CN" altLang="en-US" sz="1400" dirty="0">
                <a:latin typeface="Times New Roman" panose="02020603050405020304" pitchFamily="18" charset="0"/>
                <a:cs typeface="Times New Roman" panose="02020603050405020304" pitchFamily="18" charset="0"/>
              </a:rPr>
              <a:t>无限</a:t>
            </a:r>
            <a:r>
              <a:rPr lang="en-US" altLang="zh-CN" sz="1400" b="0" i="0" dirty="0">
                <a:effectLst/>
                <a:latin typeface="-apple-system"/>
              </a:rPr>
              <a:t>	</a:t>
            </a:r>
            <a:r>
              <a:rPr lang="en-US" altLang="zh-CN" sz="1400" b="0" i="0" dirty="0">
                <a:solidFill>
                  <a:srgbClr val="F35C70"/>
                </a:solidFill>
                <a:effectLst/>
                <a:latin typeface="-apple-system"/>
              </a:rPr>
              <a:t>unlimited</a:t>
            </a:r>
          </a:p>
          <a:p>
            <a:r>
              <a:rPr lang="en-US" altLang="zh-CN" sz="1400" b="0" i="0" dirty="0">
                <a:effectLst/>
                <a:latin typeface="-apple-system"/>
              </a:rPr>
              <a:t>Satellites	</a:t>
            </a:r>
            <a:r>
              <a:rPr lang="zh-CN" altLang="en-US" sz="1400" dirty="0">
                <a:latin typeface="Times New Roman" panose="02020603050405020304" pitchFamily="18" charset="0"/>
                <a:cs typeface="Times New Roman" panose="02020603050405020304" pitchFamily="18" charset="0"/>
              </a:rPr>
              <a:t>卫星</a:t>
            </a:r>
            <a:r>
              <a:rPr lang="en-US" altLang="zh-CN" sz="1400" b="0" i="0" dirty="0">
                <a:effectLst/>
                <a:latin typeface="-apple-system"/>
              </a:rPr>
              <a:t>	</a:t>
            </a:r>
            <a:r>
              <a:rPr lang="en-US" altLang="zh-CN" sz="1400" b="0" i="0" dirty="0">
                <a:solidFill>
                  <a:srgbClr val="F35C70"/>
                </a:solidFill>
                <a:effectLst/>
                <a:latin typeface="-apple-system"/>
              </a:rPr>
              <a:t>interplanetary explorers</a:t>
            </a:r>
          </a:p>
          <a:p>
            <a:r>
              <a:rPr lang="en-US" altLang="zh-CN" sz="1400" b="0" i="0" dirty="0">
                <a:effectLst/>
                <a:latin typeface="-apple-system"/>
              </a:rPr>
              <a:t>Telescopes</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望远镜</a:t>
            </a:r>
            <a:r>
              <a:rPr lang="en-US" altLang="zh-CN" sz="1400" dirty="0">
                <a:solidFill>
                  <a:srgbClr val="F35C70"/>
                </a:solidFill>
                <a:latin typeface="-apple-system"/>
              </a:rPr>
              <a:t>	</a:t>
            </a:r>
            <a:r>
              <a:rPr lang="en-US" altLang="zh-CN" sz="1400" b="0" i="0" dirty="0">
                <a:solidFill>
                  <a:srgbClr val="F35C70"/>
                </a:solidFill>
                <a:effectLst/>
                <a:latin typeface="-apple-system"/>
              </a:rPr>
              <a:t>optical instruments</a:t>
            </a:r>
            <a:br>
              <a:rPr lang="en-US" altLang="zh-CN" sz="1400" dirty="0"/>
            </a:br>
            <a:r>
              <a:rPr lang="en-US" altLang="zh-CN" sz="1400" b="0" i="0" dirty="0">
                <a:effectLst/>
                <a:latin typeface="-apple-system"/>
              </a:rPr>
              <a:t>whole	</a:t>
            </a:r>
            <a:r>
              <a:rPr lang="zh-CN" altLang="en-US" sz="1400" dirty="0">
                <a:latin typeface="Times New Roman" panose="02020603050405020304" pitchFamily="18" charset="0"/>
                <a:cs typeface="Times New Roman" panose="02020603050405020304" pitchFamily="18" charset="0"/>
              </a:rPr>
              <a:t>整个</a:t>
            </a:r>
            <a:r>
              <a:rPr lang="en-US" altLang="zh-CN" sz="1400" b="0" i="0" dirty="0">
                <a:effectLst/>
                <a:latin typeface="-apple-system"/>
              </a:rPr>
              <a:t>	</a:t>
            </a:r>
            <a:r>
              <a:rPr lang="en-US" altLang="zh-CN" sz="1400" b="0" i="0" dirty="0">
                <a:solidFill>
                  <a:srgbClr val="F35C70"/>
                </a:solidFill>
                <a:effectLst/>
                <a:latin typeface="-apple-system"/>
              </a:rPr>
              <a:t>entire</a:t>
            </a:r>
          </a:p>
          <a:p>
            <a:r>
              <a:rPr lang="en-US" altLang="zh-CN" sz="1400" b="0" i="0" dirty="0">
                <a:effectLst/>
                <a:latin typeface="-apple-system"/>
              </a:rPr>
              <a:t>Prospect</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机会</a:t>
            </a:r>
            <a:r>
              <a:rPr lang="en-US" altLang="zh-CN" sz="1400" dirty="0">
                <a:solidFill>
                  <a:srgbClr val="F35C70"/>
                </a:solidFill>
                <a:latin typeface="-apple-system"/>
              </a:rPr>
              <a:t>	</a:t>
            </a:r>
            <a:r>
              <a:rPr lang="en-US" altLang="zh-CN" sz="1400" b="0" i="0" dirty="0">
                <a:solidFill>
                  <a:srgbClr val="F35C70"/>
                </a:solidFill>
                <a:effectLst/>
                <a:latin typeface="-apple-system"/>
              </a:rPr>
              <a:t>chance</a:t>
            </a:r>
            <a:endParaRPr lang="en-US" altLang="zh-CN" sz="1400" dirty="0">
              <a:solidFill>
                <a:srgbClr val="F35C70"/>
              </a:solidFill>
              <a:latin typeface="-apple-system"/>
            </a:endParaRPr>
          </a:p>
          <a:p>
            <a:r>
              <a:rPr lang="en-US" altLang="zh-CN" sz="1400" b="0" i="0" dirty="0">
                <a:effectLst/>
                <a:latin typeface="-apple-system"/>
              </a:rPr>
              <a:t>Plausible	</a:t>
            </a:r>
            <a:r>
              <a:rPr lang="zh-CN" altLang="en-US" sz="1400" dirty="0">
                <a:latin typeface="Times New Roman" panose="02020603050405020304" pitchFamily="18" charset="0"/>
                <a:cs typeface="Times New Roman" panose="02020603050405020304" pitchFamily="18" charset="0"/>
              </a:rPr>
              <a:t>似是而非</a:t>
            </a:r>
            <a:r>
              <a:rPr lang="en-US" altLang="zh-CN" sz="1400" b="0" i="0" dirty="0">
                <a:effectLst/>
                <a:latin typeface="-apple-system"/>
              </a:rPr>
              <a:t>	</a:t>
            </a:r>
            <a:r>
              <a:rPr lang="en-US" altLang="zh-CN" sz="1400" b="0" i="0" dirty="0">
                <a:solidFill>
                  <a:srgbClr val="F35C70"/>
                </a:solidFill>
                <a:effectLst/>
                <a:latin typeface="-apple-system"/>
              </a:rPr>
              <a:t>likely</a:t>
            </a:r>
          </a:p>
          <a:p>
            <a:r>
              <a:rPr lang="en-US" altLang="zh-CN" sz="1400" b="0" i="0" dirty="0">
                <a:effectLst/>
                <a:latin typeface="-apple-system"/>
              </a:rPr>
              <a:t>Extraterrestrial</a:t>
            </a:r>
            <a:r>
              <a:rPr lang="zh-CN" altLang="en-US" sz="1400" dirty="0">
                <a:latin typeface="Times New Roman" panose="02020603050405020304" pitchFamily="18" charset="0"/>
                <a:cs typeface="Times New Roman" panose="02020603050405020304" pitchFamily="18" charset="0"/>
              </a:rPr>
              <a:t>地球之外</a:t>
            </a:r>
            <a:r>
              <a:rPr lang="en-US" altLang="zh-CN" sz="1400" dirty="0">
                <a:solidFill>
                  <a:srgbClr val="F35C70"/>
                </a:solidFill>
                <a:latin typeface="-apple-system"/>
              </a:rPr>
              <a:t>	</a:t>
            </a:r>
            <a:r>
              <a:rPr lang="en-US" altLang="zh-CN" sz="1400" b="0" i="0" dirty="0">
                <a:solidFill>
                  <a:srgbClr val="F35C70"/>
                </a:solidFill>
                <a:effectLst/>
                <a:latin typeface="-apple-system"/>
              </a:rPr>
              <a:t>beyond the Earth</a:t>
            </a:r>
          </a:p>
          <a:p>
            <a:r>
              <a:rPr lang="en-US" altLang="zh-CN" sz="1400" b="0" i="0" dirty="0">
                <a:effectLst/>
                <a:latin typeface="-apple-system"/>
              </a:rPr>
              <a:t>a great deal</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很多</a:t>
            </a:r>
            <a:r>
              <a:rPr lang="en-US" altLang="zh-CN" sz="1400" dirty="0">
                <a:solidFill>
                  <a:srgbClr val="F35C70"/>
                </a:solidFill>
                <a:latin typeface="-apple-system"/>
              </a:rPr>
              <a:t>	</a:t>
            </a:r>
            <a:r>
              <a:rPr lang="en-US" altLang="zh-CN" sz="1400" b="0" i="0" dirty="0">
                <a:solidFill>
                  <a:srgbClr val="F35C70"/>
                </a:solidFill>
                <a:effectLst/>
                <a:latin typeface="-apple-system"/>
              </a:rPr>
              <a:t>a lot of</a:t>
            </a:r>
            <a:endParaRPr lang="en-US" altLang="zh-CN" sz="1400" dirty="0">
              <a:solidFill>
                <a:srgbClr val="F35C70"/>
              </a:solidFill>
              <a:latin typeface="-apple-system"/>
            </a:endParaRPr>
          </a:p>
          <a:p>
            <a:r>
              <a:rPr lang="en-US" altLang="zh-CN" sz="1400" b="0" i="0" dirty="0">
                <a:effectLst/>
                <a:latin typeface="-apple-system"/>
              </a:rPr>
              <a:t>Accelerated</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加速</a:t>
            </a:r>
            <a:r>
              <a:rPr lang="en-US" altLang="zh-CN" sz="1400" b="0" i="0" dirty="0">
                <a:solidFill>
                  <a:srgbClr val="F35C70"/>
                </a:solidFill>
                <a:effectLst/>
                <a:latin typeface="-apple-system"/>
              </a:rPr>
              <a:t>	expedited</a:t>
            </a:r>
          </a:p>
          <a:p>
            <a:r>
              <a:rPr lang="en-US" altLang="zh-CN" sz="1400" b="0" i="0" dirty="0">
                <a:effectLst/>
                <a:latin typeface="-apple-system"/>
              </a:rPr>
              <a:t>Credit</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信用</a:t>
            </a:r>
            <a:r>
              <a:rPr lang="en-US" altLang="zh-CN" sz="1400" dirty="0">
                <a:solidFill>
                  <a:srgbClr val="F35C70"/>
                </a:solidFill>
                <a:latin typeface="-apple-system"/>
              </a:rPr>
              <a:t>	</a:t>
            </a:r>
            <a:r>
              <a:rPr lang="en-US" altLang="zh-CN" sz="1400" b="0" i="0" dirty="0">
                <a:solidFill>
                  <a:srgbClr val="F35C70"/>
                </a:solidFill>
                <a:effectLst/>
                <a:latin typeface="-apple-system"/>
              </a:rPr>
              <a:t>honor</a:t>
            </a:r>
            <a:endParaRPr lang="en-US" altLang="zh-CN" sz="1400" dirty="0">
              <a:solidFill>
                <a:srgbClr val="F35C70"/>
              </a:solidFill>
              <a:latin typeface="-apple-system"/>
            </a:endParaRPr>
          </a:p>
          <a:p>
            <a:r>
              <a:rPr lang="en-US" altLang="zh-CN" sz="1400" b="0" i="0" dirty="0">
                <a:effectLst/>
                <a:latin typeface="-apple-system"/>
              </a:rPr>
              <a:t>Eclipses</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日食 遮蔽</a:t>
            </a:r>
            <a:r>
              <a:rPr lang="en-US" altLang="zh-CN" sz="1400" dirty="0">
                <a:latin typeface="Times New Roman" panose="02020603050405020304" pitchFamily="18" charset="0"/>
                <a:cs typeface="Times New Roman" panose="02020603050405020304" pitchFamily="18" charset="0"/>
              </a:rPr>
              <a:t>	</a:t>
            </a:r>
            <a:r>
              <a:rPr lang="en-US" altLang="zh-CN" sz="1400" b="0" i="0" dirty="0">
                <a:solidFill>
                  <a:srgbClr val="F35C70"/>
                </a:solidFill>
                <a:effectLst/>
                <a:latin typeface="-apple-system"/>
              </a:rPr>
              <a:t>blotting out</a:t>
            </a:r>
          </a:p>
          <a:p>
            <a:r>
              <a:rPr lang="en-US" altLang="zh-CN" sz="1400" b="0" i="0" dirty="0">
                <a:effectLst/>
                <a:latin typeface="-apple-system"/>
              </a:rPr>
              <a:t>in proximity to</a:t>
            </a:r>
            <a:r>
              <a:rPr lang="zh-CN" altLang="en-US" sz="1400" dirty="0">
                <a:latin typeface="Times New Roman" panose="02020603050405020304" pitchFamily="18" charset="0"/>
                <a:cs typeface="Times New Roman" panose="02020603050405020304" pitchFamily="18" charset="0"/>
              </a:rPr>
              <a:t>在附近</a:t>
            </a:r>
            <a:r>
              <a:rPr lang="en-US" altLang="zh-CN" sz="1400" b="0" i="0" dirty="0">
                <a:effectLst/>
                <a:latin typeface="-apple-system"/>
              </a:rPr>
              <a:t>	</a:t>
            </a:r>
            <a:r>
              <a:rPr lang="en-US" altLang="zh-CN" sz="1400" b="0" i="0" dirty="0">
                <a:solidFill>
                  <a:srgbClr val="F35C70"/>
                </a:solidFill>
                <a:effectLst/>
                <a:latin typeface="-apple-system"/>
              </a:rPr>
              <a:t>near</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1B</a:t>
            </a:r>
            <a:endParaRPr lang="zh-CN" altLang="en-US" dirty="0"/>
          </a:p>
        </p:txBody>
      </p:sp>
    </p:spTree>
    <p:extLst>
      <p:ext uri="{BB962C8B-B14F-4D97-AF65-F5344CB8AC3E}">
        <p14:creationId xmlns:p14="http://schemas.microsoft.com/office/powerpoint/2010/main" val="375482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5909310"/>
          </a:xfrm>
          <a:prstGeom prst="rect">
            <a:avLst/>
          </a:prstGeom>
          <a:noFill/>
        </p:spPr>
        <p:txBody>
          <a:bodyPr wrap="square" rtlCol="0">
            <a:spAutoFit/>
          </a:bodyPr>
          <a:lstStyle/>
          <a:p>
            <a:pPr algn="just"/>
            <a:r>
              <a:rPr lang="en-US" altLang="zh-CN" b="0" i="0" dirty="0">
                <a:effectLst/>
                <a:latin typeface="-apple-system"/>
              </a:rPr>
              <a:t>A glacier is a large, slow-moving body of ice that is formed from compacted layers of frozen water. It gradually </a:t>
            </a:r>
            <a:r>
              <a:rPr lang="en-US" altLang="zh-CN" b="1" i="0" dirty="0">
                <a:effectLst/>
                <a:latin typeface="-apple-system"/>
              </a:rPr>
              <a:t>melts</a:t>
            </a:r>
            <a:r>
              <a:rPr lang="en-US" altLang="zh-CN" b="0" i="0" dirty="0">
                <a:effectLst/>
                <a:latin typeface="-apple-system"/>
              </a:rPr>
              <a:t> and flows in response to gravity like a </a:t>
            </a:r>
            <a:r>
              <a:rPr lang="en-US" altLang="zh-CN" b="1" i="0" dirty="0">
                <a:effectLst/>
                <a:latin typeface="-apple-system"/>
              </a:rPr>
              <a:t>landslide</a:t>
            </a:r>
            <a:r>
              <a:rPr lang="en-US" altLang="zh-CN" b="0" i="0" dirty="0">
                <a:effectLst/>
                <a:latin typeface="-apple-system"/>
              </a:rPr>
              <a:t> or </a:t>
            </a:r>
            <a:r>
              <a:rPr lang="en-US" altLang="zh-CN" b="1" i="0" dirty="0" err="1">
                <a:effectLst/>
                <a:latin typeface="-apple-system"/>
              </a:rPr>
              <a:t>valanche</a:t>
            </a:r>
            <a:r>
              <a:rPr lang="en-US" altLang="zh-CN" b="1" i="0" dirty="0">
                <a:effectLst/>
                <a:latin typeface="-apple-system"/>
              </a:rPr>
              <a:t>.</a:t>
            </a:r>
            <a:r>
              <a:rPr lang="en-US" altLang="zh-CN" b="0" i="0" dirty="0">
                <a:effectLst/>
                <a:latin typeface="-apple-system"/>
              </a:rPr>
              <a:t> Most glaciers are found near the North and South Poles, and some even flow </a:t>
            </a:r>
            <a:r>
              <a:rPr lang="en-US" altLang="zh-CN" b="1" i="0" dirty="0">
                <a:effectLst/>
                <a:latin typeface="-apple-system"/>
              </a:rPr>
              <a:t>underground.</a:t>
            </a:r>
            <a:r>
              <a:rPr lang="en-US" altLang="zh-CN" b="0" i="0" dirty="0">
                <a:effectLst/>
                <a:latin typeface="-apple-system"/>
              </a:rPr>
              <a:t> Glacier ice is </a:t>
            </a:r>
            <a:r>
              <a:rPr lang="en-US" altLang="zh-CN" b="1" i="0" dirty="0">
                <a:effectLst/>
                <a:latin typeface="-apple-system"/>
              </a:rPr>
              <a:t>obviously</a:t>
            </a:r>
            <a:r>
              <a:rPr lang="en-US" altLang="zh-CN" b="0" i="0" dirty="0">
                <a:effectLst/>
                <a:latin typeface="-apple-system"/>
              </a:rPr>
              <a:t> the largest </a:t>
            </a:r>
            <a:r>
              <a:rPr lang="en-US" altLang="zh-CN" b="1" i="0" dirty="0">
                <a:effectLst/>
                <a:latin typeface="-apple-system"/>
              </a:rPr>
              <a:t>sink </a:t>
            </a:r>
            <a:r>
              <a:rPr lang="en-US" altLang="zh-CN" b="0" i="0" dirty="0">
                <a:effectLst/>
                <a:latin typeface="-apple-system"/>
              </a:rPr>
              <a:t>of fresh water on Earth; a </a:t>
            </a:r>
            <a:r>
              <a:rPr lang="en-US" altLang="zh-CN" b="1" i="0" dirty="0">
                <a:effectLst/>
                <a:latin typeface="-apple-system"/>
              </a:rPr>
              <a:t>secondary </a:t>
            </a:r>
            <a:r>
              <a:rPr lang="en-US" altLang="zh-CN" b="0" i="0" dirty="0">
                <a:effectLst/>
                <a:latin typeface="-apple-system"/>
              </a:rPr>
              <a:t>distinction is that it is surpassed only by the oceans as the largest reservoir of total water </a:t>
            </a:r>
            <a:r>
              <a:rPr lang="en-US" altLang="zh-CN" b="1" i="0" dirty="0">
                <a:effectLst/>
                <a:latin typeface="-apple-system"/>
              </a:rPr>
              <a:t>at hand.</a:t>
            </a:r>
            <a:r>
              <a:rPr lang="en-US" altLang="zh-CN" b="0" i="0" dirty="0">
                <a:effectLst/>
                <a:latin typeface="-apple-system"/>
              </a:rPr>
              <a:t> In the tropics, glaciers are found </a:t>
            </a:r>
            <a:r>
              <a:rPr lang="en-US" altLang="zh-CN" b="1" i="0" dirty="0">
                <a:effectLst/>
                <a:latin typeface="-apple-system"/>
              </a:rPr>
              <a:t>strictly</a:t>
            </a:r>
            <a:r>
              <a:rPr lang="en-US" altLang="zh-CN" b="0" i="0" dirty="0">
                <a:effectLst/>
                <a:latin typeface="-apple-system"/>
              </a:rPr>
              <a:t> in the highest mountain areas. Elsewhere in </a:t>
            </a:r>
            <a:r>
              <a:rPr lang="en-US" altLang="zh-CN" b="1" i="0" dirty="0">
                <a:effectLst/>
                <a:latin typeface="-apple-system"/>
              </a:rPr>
              <a:t>outer</a:t>
            </a:r>
            <a:r>
              <a:rPr lang="en-US" altLang="zh-CN" b="0" i="0" dirty="0">
                <a:effectLst/>
                <a:latin typeface="-apple-system"/>
              </a:rPr>
              <a:t> space, vast polar ice caps on other planets rival those on Earth.</a:t>
            </a:r>
          </a:p>
          <a:p>
            <a:pPr algn="just"/>
            <a:r>
              <a:rPr lang="en-US" altLang="zh-CN" b="0" i="0" dirty="0">
                <a:effectLst/>
                <a:latin typeface="-apple-system"/>
              </a:rPr>
              <a:t>The amount of ice on the Earth’s </a:t>
            </a:r>
            <a:r>
              <a:rPr lang="en-US" altLang="zh-CN" b="1" i="0" dirty="0">
                <a:effectLst/>
                <a:latin typeface="-apple-system"/>
              </a:rPr>
              <a:t>landscape</a:t>
            </a:r>
            <a:r>
              <a:rPr lang="en-US" altLang="zh-CN" b="0" i="0" dirty="0">
                <a:effectLst/>
                <a:latin typeface="-apple-system"/>
              </a:rPr>
              <a:t> has varied greatly through time. For example, the continual </a:t>
            </a:r>
            <a:r>
              <a:rPr lang="en-US" altLang="zh-CN" b="1" i="0" dirty="0">
                <a:effectLst/>
                <a:latin typeface="-apple-system"/>
              </a:rPr>
              <a:t>thaw</a:t>
            </a:r>
            <a:r>
              <a:rPr lang="en-US" altLang="zh-CN" b="0" i="0" dirty="0">
                <a:effectLst/>
                <a:latin typeface="-apple-system"/>
              </a:rPr>
              <a:t> of glaciers which are no longer </a:t>
            </a:r>
            <a:r>
              <a:rPr lang="en-US" altLang="zh-CN" b="1" i="0" dirty="0">
                <a:effectLst/>
                <a:latin typeface="-apple-system"/>
              </a:rPr>
              <a:t>freezing</a:t>
            </a:r>
            <a:r>
              <a:rPr lang="en-US" altLang="zh-CN" b="0" i="0" dirty="0">
                <a:effectLst/>
                <a:latin typeface="-apple-system"/>
              </a:rPr>
              <a:t> has changed dramatically since the height of the last glacial advance 20,000 years ago. During most of the last one billion years, the Earth had no permanent ice. However, </a:t>
            </a:r>
            <a:r>
              <a:rPr lang="en-US" altLang="zh-CN" b="1" i="0" dirty="0">
                <a:effectLst/>
                <a:latin typeface="-apple-system"/>
              </a:rPr>
              <a:t>gigantic</a:t>
            </a:r>
            <a:r>
              <a:rPr lang="en-US" altLang="zh-CN" b="0" i="0" dirty="0">
                <a:effectLst/>
                <a:latin typeface="-apple-system"/>
              </a:rPr>
              <a:t> areas of the globe were covered with vast ice sheets. These times are known as Ice Ages, and even now, with much of the Earth decidedly glacial, we are </a:t>
            </a:r>
            <a:r>
              <a:rPr lang="en-US" altLang="zh-CN" b="1" i="0" dirty="0">
                <a:effectLst/>
                <a:latin typeface="-apple-system"/>
              </a:rPr>
              <a:t>utterly</a:t>
            </a:r>
            <a:r>
              <a:rPr lang="en-US" altLang="zh-CN" b="0" i="0" dirty="0">
                <a:effectLst/>
                <a:latin typeface="-apple-system"/>
              </a:rPr>
              <a:t> in the grips of an Ice Age according to the technical definition of the term.</a:t>
            </a:r>
          </a:p>
        </p:txBody>
      </p:sp>
      <p:sp>
        <p:nvSpPr>
          <p:cNvPr id="5" name="文本框 4">
            <a:extLst>
              <a:ext uri="{FF2B5EF4-FFF2-40B4-BE49-F238E27FC236}">
                <a16:creationId xmlns:a16="http://schemas.microsoft.com/office/drawing/2014/main" id="{CB289E3A-941A-01E5-C04B-2510F1CB3EAF}"/>
              </a:ext>
            </a:extLst>
          </p:cNvPr>
          <p:cNvSpPr txBox="1"/>
          <p:nvPr/>
        </p:nvSpPr>
        <p:spPr>
          <a:xfrm>
            <a:off x="6838949" y="838200"/>
            <a:ext cx="4988777" cy="5016758"/>
          </a:xfrm>
          <a:prstGeom prst="rect">
            <a:avLst/>
          </a:prstGeom>
          <a:noFill/>
        </p:spPr>
        <p:txBody>
          <a:bodyPr wrap="square" rtlCol="0">
            <a:spAutoFit/>
          </a:bodyPr>
          <a:lstStyle/>
          <a:p>
            <a:r>
              <a:rPr lang="en-US" altLang="zh-CN" sz="2000" b="0" i="0" dirty="0">
                <a:effectLst/>
                <a:latin typeface="-apple-system"/>
              </a:rPr>
              <a:t>melts		</a:t>
            </a:r>
            <a:r>
              <a:rPr lang="en-US" altLang="zh-CN" sz="2000" b="0" i="0" dirty="0">
                <a:solidFill>
                  <a:srgbClr val="F35C70"/>
                </a:solidFill>
                <a:effectLst/>
                <a:latin typeface="-apple-system"/>
              </a:rPr>
              <a:t>defrosts</a:t>
            </a:r>
            <a:br>
              <a:rPr lang="en-US" altLang="zh-CN" sz="2000" dirty="0"/>
            </a:br>
            <a:r>
              <a:rPr lang="en-US" altLang="zh-CN" sz="2000" b="0" i="0" dirty="0">
                <a:effectLst/>
                <a:latin typeface="-apple-system"/>
              </a:rPr>
              <a:t>landslide	</a:t>
            </a:r>
            <a:r>
              <a:rPr lang="en-US" altLang="zh-CN" sz="2000" b="0" i="0" dirty="0">
                <a:solidFill>
                  <a:srgbClr val="F35C70"/>
                </a:solidFill>
                <a:effectLst/>
                <a:latin typeface="-apple-system"/>
              </a:rPr>
              <a:t>landslip</a:t>
            </a:r>
          </a:p>
          <a:p>
            <a:r>
              <a:rPr lang="en-US" altLang="zh-CN" sz="2000" b="0" i="0" dirty="0" err="1">
                <a:effectLst/>
                <a:latin typeface="-apple-system"/>
              </a:rPr>
              <a:t>Valanche</a:t>
            </a:r>
            <a:r>
              <a:rPr lang="en-US" altLang="zh-CN" sz="2000" dirty="0">
                <a:solidFill>
                  <a:srgbClr val="F35C70"/>
                </a:solidFill>
                <a:latin typeface="-apple-system"/>
              </a:rPr>
              <a:t>	</a:t>
            </a:r>
            <a:r>
              <a:rPr lang="en-US" altLang="zh-CN" sz="2000" b="0" i="0" dirty="0">
                <a:solidFill>
                  <a:srgbClr val="F35C70"/>
                </a:solidFill>
                <a:effectLst/>
                <a:latin typeface="-apple-system"/>
              </a:rPr>
              <a:t>snowslide</a:t>
            </a:r>
            <a:endParaRPr lang="en-US" altLang="zh-CN" sz="2000" dirty="0">
              <a:solidFill>
                <a:srgbClr val="F35C70"/>
              </a:solidFill>
              <a:latin typeface="-apple-system"/>
            </a:endParaRPr>
          </a:p>
          <a:p>
            <a:r>
              <a:rPr lang="en-US" altLang="zh-CN" sz="2000" b="0" i="0" dirty="0">
                <a:effectLst/>
                <a:latin typeface="-apple-system"/>
              </a:rPr>
              <a:t>Underground</a:t>
            </a:r>
            <a:r>
              <a:rPr lang="en-US" altLang="zh-CN" sz="2000" b="0" i="0" dirty="0">
                <a:solidFill>
                  <a:srgbClr val="F35C70"/>
                </a:solidFill>
                <a:effectLst/>
                <a:latin typeface="-apple-system"/>
              </a:rPr>
              <a:t>	</a:t>
            </a:r>
            <a:r>
              <a:rPr lang="en-US" altLang="zh-CN" sz="2000" b="0" i="0" dirty="0" err="1">
                <a:solidFill>
                  <a:srgbClr val="F35C70"/>
                </a:solidFill>
                <a:effectLst/>
                <a:latin typeface="-apple-system"/>
              </a:rPr>
              <a:t>subterraneanly</a:t>
            </a:r>
            <a:endParaRPr lang="en-US" altLang="zh-CN" sz="2000" b="0" i="0" dirty="0">
              <a:solidFill>
                <a:srgbClr val="F35C70"/>
              </a:solidFill>
              <a:effectLst/>
              <a:latin typeface="-apple-system"/>
            </a:endParaRPr>
          </a:p>
          <a:p>
            <a:r>
              <a:rPr lang="en-US" altLang="zh-CN" sz="2000" b="0" i="0" dirty="0">
                <a:effectLst/>
                <a:latin typeface="-apple-system"/>
              </a:rPr>
              <a:t>Obviously</a:t>
            </a:r>
            <a:r>
              <a:rPr lang="en-US" altLang="zh-CN" sz="2000" dirty="0">
                <a:solidFill>
                  <a:srgbClr val="F35C70"/>
                </a:solidFill>
                <a:latin typeface="-apple-system"/>
              </a:rPr>
              <a:t>	</a:t>
            </a:r>
            <a:r>
              <a:rPr lang="en-US" altLang="zh-CN" sz="2000" b="0" i="0" dirty="0">
                <a:solidFill>
                  <a:srgbClr val="F35C70"/>
                </a:solidFill>
                <a:effectLst/>
                <a:latin typeface="-apple-system"/>
              </a:rPr>
              <a:t>evidently</a:t>
            </a:r>
            <a:br>
              <a:rPr lang="en-US" altLang="zh-CN" sz="2000" dirty="0"/>
            </a:br>
            <a:r>
              <a:rPr lang="en-US" altLang="zh-CN" sz="2000" b="0" i="0" dirty="0">
                <a:effectLst/>
                <a:latin typeface="-apple-system"/>
              </a:rPr>
              <a:t>sink		</a:t>
            </a:r>
            <a:r>
              <a:rPr lang="en-US" altLang="zh-CN" sz="2000" b="0" i="0" dirty="0">
                <a:solidFill>
                  <a:srgbClr val="F35C70"/>
                </a:solidFill>
                <a:effectLst/>
                <a:latin typeface="-apple-system"/>
              </a:rPr>
              <a:t>basin</a:t>
            </a:r>
            <a:br>
              <a:rPr lang="en-US" altLang="zh-CN" sz="2000" dirty="0"/>
            </a:br>
            <a:r>
              <a:rPr lang="en-US" altLang="zh-CN" sz="2000" b="0" i="0" dirty="0">
                <a:effectLst/>
                <a:latin typeface="-apple-system"/>
              </a:rPr>
              <a:t>secondary	</a:t>
            </a:r>
            <a:r>
              <a:rPr lang="en-US" altLang="zh-CN" sz="2000" b="0" i="0" dirty="0">
                <a:solidFill>
                  <a:srgbClr val="F35C70"/>
                </a:solidFill>
                <a:effectLst/>
                <a:latin typeface="-apple-system"/>
              </a:rPr>
              <a:t>subordinate</a:t>
            </a:r>
            <a:br>
              <a:rPr lang="en-US" altLang="zh-CN" sz="2000" dirty="0"/>
            </a:br>
            <a:r>
              <a:rPr lang="en-US" altLang="zh-CN" sz="2000" b="0" i="0" dirty="0">
                <a:effectLst/>
                <a:latin typeface="-apple-system"/>
              </a:rPr>
              <a:t>at hand		</a:t>
            </a:r>
            <a:r>
              <a:rPr lang="en-US" altLang="zh-CN" sz="2000" b="0" i="0" dirty="0">
                <a:solidFill>
                  <a:srgbClr val="F35C70"/>
                </a:solidFill>
                <a:effectLst/>
                <a:latin typeface="-apple-system"/>
              </a:rPr>
              <a:t>available</a:t>
            </a:r>
          </a:p>
          <a:p>
            <a:r>
              <a:rPr lang="en-US" altLang="zh-CN" sz="2000" b="0" i="0" dirty="0">
                <a:effectLst/>
                <a:latin typeface="-apple-system"/>
              </a:rPr>
              <a:t>Strictly		</a:t>
            </a:r>
            <a:r>
              <a:rPr lang="en-US" altLang="zh-CN" sz="2000" b="0" i="0" dirty="0">
                <a:solidFill>
                  <a:srgbClr val="F35C70"/>
                </a:solidFill>
                <a:effectLst/>
                <a:latin typeface="-apple-system"/>
              </a:rPr>
              <a:t>only</a:t>
            </a:r>
          </a:p>
          <a:p>
            <a:r>
              <a:rPr lang="en-US" altLang="zh-CN" sz="2000" b="0" i="0" dirty="0">
                <a:effectLst/>
                <a:latin typeface="-apple-system"/>
              </a:rPr>
              <a:t>Outer		</a:t>
            </a:r>
            <a:r>
              <a:rPr lang="en-US" altLang="zh-CN" sz="2000" b="0" i="0" dirty="0">
                <a:solidFill>
                  <a:srgbClr val="F35C70"/>
                </a:solidFill>
                <a:effectLst/>
                <a:latin typeface="-apple-system"/>
              </a:rPr>
              <a:t>external</a:t>
            </a:r>
          </a:p>
          <a:p>
            <a:r>
              <a:rPr lang="en-US" altLang="zh-CN" sz="2000" b="0" i="0" dirty="0">
                <a:effectLst/>
                <a:latin typeface="-apple-system"/>
              </a:rPr>
              <a:t>Landscape</a:t>
            </a:r>
            <a:r>
              <a:rPr lang="en-US" altLang="zh-CN" sz="2000" dirty="0">
                <a:solidFill>
                  <a:srgbClr val="F35C70"/>
                </a:solidFill>
                <a:latin typeface="-apple-system"/>
              </a:rPr>
              <a:t>	</a:t>
            </a:r>
            <a:r>
              <a:rPr lang="en-US" altLang="zh-CN" sz="2000" b="0" i="0" dirty="0">
                <a:solidFill>
                  <a:srgbClr val="F35C70"/>
                </a:solidFill>
                <a:effectLst/>
                <a:latin typeface="-apple-system"/>
              </a:rPr>
              <a:t>land</a:t>
            </a:r>
            <a:endParaRPr lang="en-US" altLang="zh-CN" sz="2000" dirty="0">
              <a:solidFill>
                <a:srgbClr val="F35C70"/>
              </a:solidFill>
              <a:latin typeface="-apple-system"/>
            </a:endParaRPr>
          </a:p>
          <a:p>
            <a:r>
              <a:rPr lang="en-US" altLang="zh-CN" sz="2000" b="0" i="0" dirty="0">
                <a:effectLst/>
                <a:latin typeface="-apple-system"/>
              </a:rPr>
              <a:t>Thaw		</a:t>
            </a:r>
            <a:r>
              <a:rPr lang="en-US" altLang="zh-CN" sz="2000" b="0" i="0" dirty="0">
                <a:solidFill>
                  <a:srgbClr val="F35C70"/>
                </a:solidFill>
                <a:effectLst/>
                <a:latin typeface="-apple-system"/>
              </a:rPr>
              <a:t>melting</a:t>
            </a:r>
          </a:p>
          <a:p>
            <a:r>
              <a:rPr lang="en-US" altLang="zh-CN" sz="2000" b="0" i="0" dirty="0">
                <a:effectLst/>
                <a:latin typeface="-apple-system"/>
              </a:rPr>
              <a:t>Freezing</a:t>
            </a:r>
            <a:r>
              <a:rPr lang="en-US" altLang="zh-CN" sz="2000" dirty="0">
                <a:solidFill>
                  <a:srgbClr val="F35C70"/>
                </a:solidFill>
                <a:latin typeface="-apple-system"/>
              </a:rPr>
              <a:t>		</a:t>
            </a:r>
            <a:r>
              <a:rPr lang="en-US" altLang="zh-CN" sz="2000" b="0" i="0" dirty="0">
                <a:solidFill>
                  <a:srgbClr val="F35C70"/>
                </a:solidFill>
                <a:effectLst/>
                <a:latin typeface="-apple-system"/>
              </a:rPr>
              <a:t>icy</a:t>
            </a:r>
            <a:endParaRPr lang="en-US" altLang="zh-CN" sz="2000" dirty="0">
              <a:solidFill>
                <a:srgbClr val="F35C70"/>
              </a:solidFill>
              <a:latin typeface="-apple-system"/>
            </a:endParaRPr>
          </a:p>
          <a:p>
            <a:r>
              <a:rPr lang="en-US" altLang="zh-CN" sz="2000" b="0" i="0" dirty="0">
                <a:effectLst/>
                <a:latin typeface="-apple-system"/>
              </a:rPr>
              <a:t>Gigantic</a:t>
            </a:r>
            <a:r>
              <a:rPr lang="en-US" altLang="zh-CN" sz="2000" b="0" i="0" dirty="0">
                <a:solidFill>
                  <a:srgbClr val="F35C70"/>
                </a:solidFill>
                <a:effectLst/>
                <a:latin typeface="-apple-system"/>
              </a:rPr>
              <a:t>		immense</a:t>
            </a:r>
          </a:p>
          <a:p>
            <a:r>
              <a:rPr lang="en-US" altLang="zh-CN" sz="2000" b="0" i="0" dirty="0">
                <a:effectLst/>
                <a:latin typeface="-apple-system"/>
              </a:rPr>
              <a:t>Utterly		</a:t>
            </a:r>
            <a:r>
              <a:rPr lang="en-US" altLang="zh-CN" sz="2000" b="0" i="0" dirty="0">
                <a:solidFill>
                  <a:srgbClr val="F35C70"/>
                </a:solidFill>
                <a:effectLst/>
                <a:latin typeface="-apple-system"/>
              </a:rPr>
              <a:t>completely</a:t>
            </a:r>
          </a:p>
          <a:p>
            <a:endParaRPr lang="zh-CN" altLang="en-US" sz="20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2A</a:t>
            </a:r>
            <a:endParaRPr lang="zh-CN" altLang="en-US" dirty="0"/>
          </a:p>
        </p:txBody>
      </p:sp>
    </p:spTree>
    <p:extLst>
      <p:ext uri="{BB962C8B-B14F-4D97-AF65-F5344CB8AC3E}">
        <p14:creationId xmlns:p14="http://schemas.microsoft.com/office/powerpoint/2010/main" val="1701428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3539430"/>
          </a:xfrm>
          <a:prstGeom prst="rect">
            <a:avLst/>
          </a:prstGeom>
          <a:noFill/>
        </p:spPr>
        <p:txBody>
          <a:bodyPr wrap="square" rtlCol="0">
            <a:spAutoFit/>
          </a:bodyPr>
          <a:lstStyle/>
          <a:p>
            <a:pPr algn="just"/>
            <a:r>
              <a:rPr lang="en-US" altLang="zh-CN" sz="1400" b="0" i="0" dirty="0">
                <a:effectLst/>
                <a:latin typeface="-apple-system"/>
              </a:rPr>
              <a:t>A glacier is a large, slow-moving body of ice that is formed from compacted layers of frozen water. It gradually </a:t>
            </a:r>
            <a:r>
              <a:rPr lang="en-US" altLang="zh-CN" sz="1400" b="1" i="0" dirty="0">
                <a:effectLst/>
                <a:latin typeface="-apple-system"/>
              </a:rPr>
              <a:t>melts</a:t>
            </a:r>
            <a:r>
              <a:rPr lang="en-US" altLang="zh-CN" sz="1400" b="0" i="0" dirty="0">
                <a:effectLst/>
                <a:latin typeface="-apple-system"/>
              </a:rPr>
              <a:t> and flows in response to gravity like a </a:t>
            </a:r>
            <a:r>
              <a:rPr lang="en-US" altLang="zh-CN" sz="1400" b="1" i="0" dirty="0">
                <a:effectLst/>
                <a:latin typeface="-apple-system"/>
              </a:rPr>
              <a:t>landslide</a:t>
            </a:r>
            <a:r>
              <a:rPr lang="en-US" altLang="zh-CN" sz="1400" b="0" i="0" dirty="0">
                <a:effectLst/>
                <a:latin typeface="-apple-system"/>
              </a:rPr>
              <a:t> or </a:t>
            </a:r>
            <a:r>
              <a:rPr lang="en-US" altLang="zh-CN" sz="1400" b="1" i="0" dirty="0" err="1">
                <a:effectLst/>
                <a:latin typeface="-apple-system"/>
              </a:rPr>
              <a:t>valanche</a:t>
            </a:r>
            <a:r>
              <a:rPr lang="en-US" altLang="zh-CN" sz="1400" b="1" i="0" dirty="0">
                <a:effectLst/>
                <a:latin typeface="-apple-system"/>
              </a:rPr>
              <a:t>.</a:t>
            </a:r>
            <a:r>
              <a:rPr lang="en-US" altLang="zh-CN" sz="1400" b="0" i="0" dirty="0">
                <a:effectLst/>
                <a:latin typeface="-apple-system"/>
              </a:rPr>
              <a:t> Most glaciers are found near the North and South Poles, and some even flow </a:t>
            </a:r>
            <a:r>
              <a:rPr lang="en-US" altLang="zh-CN" sz="1400" b="1" i="0" dirty="0">
                <a:effectLst/>
                <a:latin typeface="-apple-system"/>
              </a:rPr>
              <a:t>underground.</a:t>
            </a:r>
            <a:r>
              <a:rPr lang="en-US" altLang="zh-CN" sz="1400" b="0" i="0" dirty="0">
                <a:effectLst/>
                <a:latin typeface="-apple-system"/>
              </a:rPr>
              <a:t> Glacier ice is </a:t>
            </a:r>
            <a:r>
              <a:rPr lang="en-US" altLang="zh-CN" sz="1400" b="1" i="0" dirty="0">
                <a:effectLst/>
                <a:latin typeface="-apple-system"/>
              </a:rPr>
              <a:t>obviously</a:t>
            </a:r>
            <a:r>
              <a:rPr lang="en-US" altLang="zh-CN" sz="1400" b="0" i="0" dirty="0">
                <a:effectLst/>
                <a:latin typeface="-apple-system"/>
              </a:rPr>
              <a:t> the largest </a:t>
            </a:r>
            <a:r>
              <a:rPr lang="en-US" altLang="zh-CN" sz="1400" b="1" i="0" dirty="0">
                <a:effectLst/>
                <a:latin typeface="-apple-system"/>
              </a:rPr>
              <a:t>sink </a:t>
            </a:r>
            <a:r>
              <a:rPr lang="en-US" altLang="zh-CN" sz="1400" b="0" i="0" dirty="0">
                <a:effectLst/>
                <a:latin typeface="-apple-system"/>
              </a:rPr>
              <a:t>of fresh water on Earth; a </a:t>
            </a:r>
            <a:r>
              <a:rPr lang="en-US" altLang="zh-CN" sz="1400" b="1" i="0" dirty="0">
                <a:effectLst/>
                <a:latin typeface="-apple-system"/>
              </a:rPr>
              <a:t>secondary </a:t>
            </a:r>
            <a:r>
              <a:rPr lang="en-US" altLang="zh-CN" sz="1400" b="0" i="0" dirty="0">
                <a:effectLst/>
                <a:latin typeface="-apple-system"/>
              </a:rPr>
              <a:t>distinction is that it is surpassed only by the oceans as the largest reservoir of total water </a:t>
            </a:r>
            <a:r>
              <a:rPr lang="en-US" altLang="zh-CN" sz="1400" b="1" i="0" dirty="0">
                <a:effectLst/>
                <a:latin typeface="-apple-system"/>
              </a:rPr>
              <a:t>at hand.</a:t>
            </a:r>
            <a:r>
              <a:rPr lang="en-US" altLang="zh-CN" sz="1400" b="0" i="0" dirty="0">
                <a:effectLst/>
                <a:latin typeface="-apple-system"/>
              </a:rPr>
              <a:t> In the tropics, glaciers are found </a:t>
            </a:r>
            <a:r>
              <a:rPr lang="en-US" altLang="zh-CN" sz="1400" b="1" i="0" dirty="0">
                <a:effectLst/>
                <a:latin typeface="-apple-system"/>
              </a:rPr>
              <a:t>strictly</a:t>
            </a:r>
            <a:r>
              <a:rPr lang="en-US" altLang="zh-CN" sz="1400" b="0" i="0" dirty="0">
                <a:effectLst/>
                <a:latin typeface="-apple-system"/>
              </a:rPr>
              <a:t> in the highest mountain areas. Elsewhere in </a:t>
            </a:r>
            <a:r>
              <a:rPr lang="en-US" altLang="zh-CN" sz="1400" b="1" i="0" dirty="0">
                <a:effectLst/>
                <a:latin typeface="-apple-system"/>
              </a:rPr>
              <a:t>outer</a:t>
            </a:r>
            <a:r>
              <a:rPr lang="en-US" altLang="zh-CN" sz="1400" b="0" i="0" dirty="0">
                <a:effectLst/>
                <a:latin typeface="-apple-system"/>
              </a:rPr>
              <a:t> space, vast polar ice caps on other planets rival those on Earth.</a:t>
            </a:r>
          </a:p>
          <a:p>
            <a:pPr algn="just"/>
            <a:r>
              <a:rPr lang="en-US" altLang="zh-CN" sz="1400" b="0" i="0" dirty="0">
                <a:effectLst/>
                <a:latin typeface="-apple-system"/>
              </a:rPr>
              <a:t>The amount of ice on the Earth’s </a:t>
            </a:r>
            <a:r>
              <a:rPr lang="en-US" altLang="zh-CN" sz="1400" b="1" i="0" dirty="0">
                <a:effectLst/>
                <a:latin typeface="-apple-system"/>
              </a:rPr>
              <a:t>landscape</a:t>
            </a:r>
            <a:r>
              <a:rPr lang="en-US" altLang="zh-CN" sz="1400" b="0" i="0" dirty="0">
                <a:effectLst/>
                <a:latin typeface="-apple-system"/>
              </a:rPr>
              <a:t> has varied greatly through time. For example, the continual </a:t>
            </a:r>
            <a:r>
              <a:rPr lang="en-US" altLang="zh-CN" sz="1400" b="1" i="0" dirty="0">
                <a:effectLst/>
                <a:latin typeface="-apple-system"/>
              </a:rPr>
              <a:t>thaw</a:t>
            </a:r>
            <a:r>
              <a:rPr lang="en-US" altLang="zh-CN" sz="1400" b="0" i="0" dirty="0">
                <a:effectLst/>
                <a:latin typeface="-apple-system"/>
              </a:rPr>
              <a:t> of glaciers which are no longer </a:t>
            </a:r>
            <a:r>
              <a:rPr lang="en-US" altLang="zh-CN" sz="1400" b="1" i="0" dirty="0">
                <a:effectLst/>
                <a:latin typeface="-apple-system"/>
              </a:rPr>
              <a:t>freezing</a:t>
            </a:r>
            <a:r>
              <a:rPr lang="en-US" altLang="zh-CN" sz="1400" b="0" i="0" dirty="0">
                <a:effectLst/>
                <a:latin typeface="-apple-system"/>
              </a:rPr>
              <a:t> has changed dramatically since the height of the last glacial advance 20,000 years ago. During most of the last one billion years, the Earth had no permanent ice. However, </a:t>
            </a:r>
            <a:r>
              <a:rPr lang="en-US" altLang="zh-CN" sz="1400" b="1" i="0" dirty="0">
                <a:effectLst/>
                <a:latin typeface="-apple-system"/>
              </a:rPr>
              <a:t>gigantic</a:t>
            </a:r>
            <a:r>
              <a:rPr lang="en-US" altLang="zh-CN" sz="1400" b="0" i="0" dirty="0">
                <a:effectLst/>
                <a:latin typeface="-apple-system"/>
              </a:rPr>
              <a:t> areas of the globe were covered with vast ice sheets. These times are known as Ice Ages, and even now, with much of the Earth decidedly glacial, we are </a:t>
            </a:r>
            <a:r>
              <a:rPr lang="en-US" altLang="zh-CN" sz="1400" b="1" i="0" dirty="0">
                <a:effectLst/>
                <a:latin typeface="-apple-system"/>
              </a:rPr>
              <a:t>utterly</a:t>
            </a:r>
            <a:r>
              <a:rPr lang="en-US" altLang="zh-CN" sz="1400" b="0" i="0" dirty="0">
                <a:effectLst/>
                <a:latin typeface="-apple-system"/>
              </a:rPr>
              <a:t> in the grips of an Ice Age according to the technical definition of the term.</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54850" y="793750"/>
            <a:ext cx="3879850" cy="3323987"/>
          </a:xfrm>
          <a:prstGeom prst="rect">
            <a:avLst/>
          </a:prstGeom>
          <a:noFill/>
        </p:spPr>
        <p:txBody>
          <a:bodyPr wrap="square" rtlCol="0">
            <a:spAutoFit/>
          </a:bodyPr>
          <a:lstStyle/>
          <a:p>
            <a:r>
              <a:rPr lang="en-US" altLang="zh-CN" sz="1400" b="0" i="0" dirty="0">
                <a:effectLst/>
                <a:latin typeface="-apple-system"/>
              </a:rPr>
              <a:t>melts	</a:t>
            </a:r>
            <a:r>
              <a:rPr lang="zh-CN" altLang="en-US" sz="1400" dirty="0">
                <a:latin typeface="Times New Roman" panose="02020603050405020304" pitchFamily="18" charset="0"/>
                <a:cs typeface="Times New Roman" panose="02020603050405020304" pitchFamily="18" charset="0"/>
              </a:rPr>
              <a:t>融化</a:t>
            </a:r>
            <a:r>
              <a:rPr lang="en-US" altLang="zh-CN" sz="1400" b="0" i="0" dirty="0">
                <a:effectLst/>
                <a:latin typeface="-apple-system"/>
              </a:rPr>
              <a:t>	</a:t>
            </a:r>
            <a:r>
              <a:rPr lang="en-US" altLang="zh-CN" sz="1400" b="0" i="0" dirty="0">
                <a:solidFill>
                  <a:srgbClr val="F35C70"/>
                </a:solidFill>
                <a:effectLst/>
                <a:latin typeface="-apple-system"/>
              </a:rPr>
              <a:t>defrosts</a:t>
            </a:r>
            <a:br>
              <a:rPr lang="en-US" altLang="zh-CN" sz="1400" dirty="0"/>
            </a:br>
            <a:r>
              <a:rPr lang="en-US" altLang="zh-CN" sz="1400" b="0" i="0" dirty="0">
                <a:effectLst/>
                <a:latin typeface="-apple-system"/>
              </a:rPr>
              <a:t>landslide	</a:t>
            </a:r>
            <a:r>
              <a:rPr lang="zh-CN" altLang="en-US" sz="1400" dirty="0">
                <a:latin typeface="Times New Roman" panose="02020603050405020304" pitchFamily="18" charset="0"/>
                <a:cs typeface="Times New Roman" panose="02020603050405020304" pitchFamily="18" charset="0"/>
              </a:rPr>
              <a:t>滑坡</a:t>
            </a:r>
            <a:r>
              <a:rPr lang="en-US" altLang="zh-CN" sz="1400" b="0" i="0" dirty="0">
                <a:effectLst/>
                <a:latin typeface="-apple-system"/>
              </a:rPr>
              <a:t>	</a:t>
            </a:r>
            <a:r>
              <a:rPr lang="en-US" altLang="zh-CN" sz="1400" b="0" i="0" dirty="0">
                <a:solidFill>
                  <a:srgbClr val="F35C70"/>
                </a:solidFill>
                <a:effectLst/>
                <a:latin typeface="-apple-system"/>
              </a:rPr>
              <a:t>landslip</a:t>
            </a:r>
          </a:p>
          <a:p>
            <a:r>
              <a:rPr lang="en-US" altLang="zh-CN" sz="1400" b="0" i="0" dirty="0" err="1">
                <a:effectLst/>
                <a:latin typeface="-apple-system"/>
              </a:rPr>
              <a:t>Valanche</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雪崩</a:t>
            </a:r>
            <a:r>
              <a:rPr lang="en-US" altLang="zh-CN" sz="1400" dirty="0">
                <a:solidFill>
                  <a:srgbClr val="F35C70"/>
                </a:solidFill>
                <a:latin typeface="-apple-system"/>
              </a:rPr>
              <a:t>	</a:t>
            </a:r>
            <a:r>
              <a:rPr lang="en-US" altLang="zh-CN" sz="1400" b="0" i="0" dirty="0">
                <a:solidFill>
                  <a:srgbClr val="F35C70"/>
                </a:solidFill>
                <a:effectLst/>
                <a:latin typeface="-apple-system"/>
              </a:rPr>
              <a:t>snowslide</a:t>
            </a:r>
            <a:endParaRPr lang="en-US" altLang="zh-CN" sz="1400" dirty="0">
              <a:solidFill>
                <a:srgbClr val="F35C70"/>
              </a:solidFill>
              <a:latin typeface="-apple-system"/>
            </a:endParaRPr>
          </a:p>
          <a:p>
            <a:r>
              <a:rPr lang="en-US" altLang="zh-CN" sz="1400" b="0" i="0" dirty="0">
                <a:effectLst/>
                <a:latin typeface="-apple-system"/>
              </a:rPr>
              <a:t>Underground</a:t>
            </a:r>
            <a:r>
              <a:rPr lang="zh-CN" altLang="en-US" sz="1400" dirty="0">
                <a:latin typeface="Times New Roman" panose="02020603050405020304" pitchFamily="18" charset="0"/>
                <a:cs typeface="Times New Roman" panose="02020603050405020304" pitchFamily="18" charset="0"/>
              </a:rPr>
              <a:t>地下</a:t>
            </a:r>
            <a:r>
              <a:rPr lang="en-US" altLang="zh-CN" sz="1400" b="0" i="0" dirty="0">
                <a:solidFill>
                  <a:srgbClr val="F35C70"/>
                </a:solidFill>
                <a:effectLst/>
                <a:latin typeface="-apple-system"/>
              </a:rPr>
              <a:t>	</a:t>
            </a:r>
            <a:r>
              <a:rPr lang="en-US" altLang="zh-CN" sz="1400" b="0" i="0" dirty="0" err="1">
                <a:solidFill>
                  <a:srgbClr val="F35C70"/>
                </a:solidFill>
                <a:effectLst/>
                <a:latin typeface="-apple-system"/>
              </a:rPr>
              <a:t>subterraneanly</a:t>
            </a:r>
            <a:endParaRPr lang="en-US" altLang="zh-CN" sz="1400" b="0" i="0" dirty="0">
              <a:solidFill>
                <a:srgbClr val="F35C70"/>
              </a:solidFill>
              <a:effectLst/>
              <a:latin typeface="-apple-system"/>
            </a:endParaRPr>
          </a:p>
          <a:p>
            <a:r>
              <a:rPr lang="en-US" altLang="zh-CN" sz="1400" b="0" i="0" dirty="0">
                <a:effectLst/>
                <a:latin typeface="-apple-system"/>
              </a:rPr>
              <a:t>Obviously</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显然</a:t>
            </a:r>
            <a:r>
              <a:rPr lang="en-US" altLang="zh-CN" sz="1400" dirty="0">
                <a:solidFill>
                  <a:srgbClr val="F35C70"/>
                </a:solidFill>
                <a:latin typeface="-apple-system"/>
              </a:rPr>
              <a:t>	</a:t>
            </a:r>
            <a:r>
              <a:rPr lang="en-US" altLang="zh-CN" sz="1400" b="0" i="0" dirty="0">
                <a:solidFill>
                  <a:srgbClr val="F35C70"/>
                </a:solidFill>
                <a:effectLst/>
                <a:latin typeface="-apple-system"/>
              </a:rPr>
              <a:t>evidently</a:t>
            </a:r>
            <a:br>
              <a:rPr lang="en-US" altLang="zh-CN" sz="1400" dirty="0"/>
            </a:br>
            <a:r>
              <a:rPr lang="en-US" altLang="zh-CN" sz="1400" b="0" i="0" dirty="0">
                <a:effectLst/>
                <a:latin typeface="-apple-system"/>
              </a:rPr>
              <a:t>sink	</a:t>
            </a:r>
            <a:r>
              <a:rPr lang="zh-CN" altLang="en-US" sz="1400" dirty="0">
                <a:latin typeface="Times New Roman" panose="02020603050405020304" pitchFamily="18" charset="0"/>
                <a:cs typeface="Times New Roman" panose="02020603050405020304" pitchFamily="18" charset="0"/>
              </a:rPr>
              <a:t>水槽盆</a:t>
            </a:r>
            <a:r>
              <a:rPr lang="en-US" altLang="zh-CN" sz="1400" b="0" i="0" dirty="0">
                <a:effectLst/>
                <a:latin typeface="-apple-system"/>
              </a:rPr>
              <a:t>	</a:t>
            </a:r>
            <a:r>
              <a:rPr lang="en-US" altLang="zh-CN" sz="1400" b="0" i="0" dirty="0">
                <a:solidFill>
                  <a:srgbClr val="F35C70"/>
                </a:solidFill>
                <a:effectLst/>
                <a:latin typeface="-apple-system"/>
              </a:rPr>
              <a:t>basin</a:t>
            </a:r>
            <a:br>
              <a:rPr lang="en-US" altLang="zh-CN" sz="1400" dirty="0"/>
            </a:br>
            <a:r>
              <a:rPr lang="en-US" altLang="zh-CN" sz="1400" b="0" i="0" dirty="0">
                <a:effectLst/>
                <a:latin typeface="-apple-system"/>
              </a:rPr>
              <a:t>secondary	</a:t>
            </a:r>
            <a:r>
              <a:rPr lang="zh-CN" altLang="en-US" sz="1400" dirty="0">
                <a:latin typeface="Times New Roman" panose="02020603050405020304" pitchFamily="18" charset="0"/>
                <a:cs typeface="Times New Roman" panose="02020603050405020304" pitchFamily="18" charset="0"/>
              </a:rPr>
              <a:t>次要</a:t>
            </a:r>
            <a:r>
              <a:rPr lang="en-US" altLang="zh-CN" sz="1400" b="0" i="0" dirty="0">
                <a:effectLst/>
                <a:latin typeface="-apple-system"/>
              </a:rPr>
              <a:t>	</a:t>
            </a:r>
            <a:r>
              <a:rPr lang="en-US" altLang="zh-CN" sz="1400" b="0" i="0" dirty="0">
                <a:solidFill>
                  <a:srgbClr val="F35C70"/>
                </a:solidFill>
                <a:effectLst/>
                <a:latin typeface="-apple-system"/>
              </a:rPr>
              <a:t>subordinate</a:t>
            </a:r>
            <a:br>
              <a:rPr lang="en-US" altLang="zh-CN" sz="1400" dirty="0"/>
            </a:br>
            <a:r>
              <a:rPr lang="en-US" altLang="zh-CN" sz="1400" b="0" i="0" dirty="0">
                <a:effectLst/>
                <a:latin typeface="-apple-system"/>
              </a:rPr>
              <a:t>at hand	</a:t>
            </a:r>
            <a:r>
              <a:rPr lang="zh-CN" altLang="en-US" sz="1400" dirty="0">
                <a:latin typeface="Times New Roman" panose="02020603050405020304" pitchFamily="18" charset="0"/>
                <a:cs typeface="Times New Roman" panose="02020603050405020304" pitchFamily="18" charset="0"/>
              </a:rPr>
              <a:t>随时可用</a:t>
            </a:r>
            <a:r>
              <a:rPr lang="en-US" altLang="zh-CN" sz="1400" b="0" i="0" dirty="0">
                <a:effectLst/>
                <a:latin typeface="-apple-system"/>
              </a:rPr>
              <a:t>	</a:t>
            </a:r>
            <a:r>
              <a:rPr lang="en-US" altLang="zh-CN" sz="1400" b="0" i="0" dirty="0">
                <a:solidFill>
                  <a:srgbClr val="F35C70"/>
                </a:solidFill>
                <a:effectLst/>
                <a:latin typeface="-apple-system"/>
              </a:rPr>
              <a:t>available</a:t>
            </a:r>
          </a:p>
          <a:p>
            <a:r>
              <a:rPr lang="en-US" altLang="zh-CN" sz="1400" b="0" i="0" dirty="0">
                <a:effectLst/>
                <a:latin typeface="-apple-system"/>
              </a:rPr>
              <a:t>Strictly	</a:t>
            </a:r>
            <a:r>
              <a:rPr lang="zh-CN" altLang="en-US" sz="1400" dirty="0">
                <a:latin typeface="Times New Roman" panose="02020603050405020304" pitchFamily="18" charset="0"/>
                <a:cs typeface="Times New Roman" panose="02020603050405020304" pitchFamily="18" charset="0"/>
              </a:rPr>
              <a:t>只</a:t>
            </a:r>
            <a:r>
              <a:rPr lang="en-US" altLang="zh-CN" sz="1400" b="0" i="0" dirty="0">
                <a:effectLst/>
                <a:latin typeface="-apple-system"/>
              </a:rPr>
              <a:t>	</a:t>
            </a:r>
            <a:r>
              <a:rPr lang="en-US" altLang="zh-CN" sz="1400" b="0" i="0" dirty="0">
                <a:solidFill>
                  <a:srgbClr val="F35C70"/>
                </a:solidFill>
                <a:effectLst/>
                <a:latin typeface="-apple-system"/>
              </a:rPr>
              <a:t>only</a:t>
            </a:r>
          </a:p>
          <a:p>
            <a:r>
              <a:rPr lang="en-US" altLang="zh-CN" sz="1400" b="0" i="0" dirty="0">
                <a:effectLst/>
                <a:latin typeface="-apple-system"/>
              </a:rPr>
              <a:t>Outer	</a:t>
            </a:r>
            <a:r>
              <a:rPr lang="zh-CN" altLang="en-US" sz="1400" dirty="0">
                <a:latin typeface="Times New Roman" panose="02020603050405020304" pitchFamily="18" charset="0"/>
                <a:cs typeface="Times New Roman" panose="02020603050405020304" pitchFamily="18" charset="0"/>
              </a:rPr>
              <a:t>外</a:t>
            </a:r>
            <a:r>
              <a:rPr lang="en-US" altLang="zh-CN" sz="1400" b="0" i="0" dirty="0">
                <a:effectLst/>
                <a:latin typeface="-apple-system"/>
              </a:rPr>
              <a:t>	</a:t>
            </a:r>
            <a:r>
              <a:rPr lang="en-US" altLang="zh-CN" sz="1400" b="0" i="0" dirty="0">
                <a:solidFill>
                  <a:srgbClr val="F35C70"/>
                </a:solidFill>
                <a:effectLst/>
                <a:latin typeface="-apple-system"/>
              </a:rPr>
              <a:t>external</a:t>
            </a:r>
          </a:p>
          <a:p>
            <a:r>
              <a:rPr lang="en-US" altLang="zh-CN" sz="1400" b="0" i="0" dirty="0">
                <a:effectLst/>
                <a:latin typeface="-apple-system"/>
              </a:rPr>
              <a:t>Landscape</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景观</a:t>
            </a:r>
            <a:r>
              <a:rPr lang="en-US" altLang="zh-CN" sz="1400" dirty="0">
                <a:solidFill>
                  <a:srgbClr val="F35C70"/>
                </a:solidFill>
                <a:latin typeface="-apple-system"/>
              </a:rPr>
              <a:t>	</a:t>
            </a:r>
            <a:r>
              <a:rPr lang="en-US" altLang="zh-CN" sz="1400" b="0" i="0" dirty="0">
                <a:solidFill>
                  <a:srgbClr val="F35C70"/>
                </a:solidFill>
                <a:effectLst/>
                <a:latin typeface="-apple-system"/>
              </a:rPr>
              <a:t>land</a:t>
            </a:r>
            <a:endParaRPr lang="en-US" altLang="zh-CN" sz="1400" dirty="0">
              <a:solidFill>
                <a:srgbClr val="F35C70"/>
              </a:solidFill>
              <a:latin typeface="-apple-system"/>
            </a:endParaRPr>
          </a:p>
          <a:p>
            <a:r>
              <a:rPr lang="en-US" altLang="zh-CN" sz="1400" b="0" i="0" dirty="0">
                <a:effectLst/>
                <a:latin typeface="-apple-system"/>
              </a:rPr>
              <a:t>Thaw	</a:t>
            </a:r>
            <a:r>
              <a:rPr lang="zh-CN" altLang="en-US" sz="1400" dirty="0">
                <a:latin typeface="Times New Roman" panose="02020603050405020304" pitchFamily="18" charset="0"/>
                <a:cs typeface="Times New Roman" panose="02020603050405020304" pitchFamily="18" charset="0"/>
              </a:rPr>
              <a:t>解冻</a:t>
            </a:r>
            <a:r>
              <a:rPr lang="en-US" altLang="zh-CN" sz="1400" b="0" i="0" dirty="0">
                <a:effectLst/>
                <a:latin typeface="-apple-system"/>
              </a:rPr>
              <a:t>	</a:t>
            </a:r>
            <a:r>
              <a:rPr lang="en-US" altLang="zh-CN" sz="1400" b="0" i="0" dirty="0">
                <a:solidFill>
                  <a:srgbClr val="F35C70"/>
                </a:solidFill>
                <a:effectLst/>
                <a:latin typeface="-apple-system"/>
              </a:rPr>
              <a:t>melting</a:t>
            </a:r>
          </a:p>
          <a:p>
            <a:r>
              <a:rPr lang="en-US" altLang="zh-CN" sz="1400" b="0" i="0" dirty="0">
                <a:effectLst/>
                <a:latin typeface="-apple-system"/>
              </a:rPr>
              <a:t>Freezing</a:t>
            </a:r>
            <a:r>
              <a:rPr lang="en-US" altLang="zh-CN" sz="1400" dirty="0">
                <a:solidFill>
                  <a:srgbClr val="F35C70"/>
                </a:solidFill>
                <a:latin typeface="-apple-system"/>
              </a:rPr>
              <a:t>	</a:t>
            </a:r>
            <a:r>
              <a:rPr lang="zh-CN" altLang="en-US" sz="1400" dirty="0">
                <a:latin typeface="Times New Roman" panose="02020603050405020304" pitchFamily="18" charset="0"/>
                <a:cs typeface="Times New Roman" panose="02020603050405020304" pitchFamily="18" charset="0"/>
              </a:rPr>
              <a:t>冰冷</a:t>
            </a:r>
            <a:r>
              <a:rPr lang="en-US" altLang="zh-CN" sz="1400" dirty="0">
                <a:solidFill>
                  <a:srgbClr val="F35C70"/>
                </a:solidFill>
                <a:latin typeface="-apple-system"/>
              </a:rPr>
              <a:t>	</a:t>
            </a:r>
            <a:r>
              <a:rPr lang="en-US" altLang="zh-CN" sz="1400" b="0" i="0" dirty="0">
                <a:solidFill>
                  <a:srgbClr val="F35C70"/>
                </a:solidFill>
                <a:effectLst/>
                <a:latin typeface="-apple-system"/>
              </a:rPr>
              <a:t>icy</a:t>
            </a:r>
            <a:endParaRPr lang="en-US" altLang="zh-CN" sz="1400" dirty="0">
              <a:solidFill>
                <a:srgbClr val="F35C70"/>
              </a:solidFill>
              <a:latin typeface="-apple-system"/>
            </a:endParaRPr>
          </a:p>
          <a:p>
            <a:r>
              <a:rPr lang="en-US" altLang="zh-CN" sz="1400" b="0" i="0" dirty="0">
                <a:effectLst/>
                <a:latin typeface="-apple-system"/>
              </a:rPr>
              <a:t>Gigantic</a:t>
            </a:r>
            <a:r>
              <a:rPr lang="en-US" altLang="zh-CN" sz="1400" b="0" i="0" dirty="0">
                <a:solidFill>
                  <a:srgbClr val="F35C70"/>
                </a:solidFill>
                <a:effectLst/>
                <a:latin typeface="-apple-system"/>
              </a:rPr>
              <a:t>	</a:t>
            </a:r>
            <a:r>
              <a:rPr lang="zh-CN" altLang="en-US" sz="1400" dirty="0">
                <a:latin typeface="Times New Roman" panose="02020603050405020304" pitchFamily="18" charset="0"/>
                <a:cs typeface="Times New Roman" panose="02020603050405020304" pitchFamily="18" charset="0"/>
              </a:rPr>
              <a:t>巨大</a:t>
            </a:r>
            <a:r>
              <a:rPr lang="en-US" altLang="zh-CN" sz="1400" b="0" i="0" dirty="0">
                <a:solidFill>
                  <a:srgbClr val="F35C70"/>
                </a:solidFill>
                <a:effectLst/>
                <a:latin typeface="-apple-system"/>
              </a:rPr>
              <a:t>	immense</a:t>
            </a:r>
          </a:p>
          <a:p>
            <a:r>
              <a:rPr lang="en-US" altLang="zh-CN" sz="1400" b="0" i="0" dirty="0">
                <a:effectLst/>
                <a:latin typeface="-apple-system"/>
              </a:rPr>
              <a:t>Utterly	</a:t>
            </a:r>
            <a:r>
              <a:rPr lang="zh-CN" altLang="en-US" sz="1400" dirty="0">
                <a:latin typeface="Times New Roman" panose="02020603050405020304" pitchFamily="18" charset="0"/>
                <a:cs typeface="Times New Roman" panose="02020603050405020304" pitchFamily="18" charset="0"/>
              </a:rPr>
              <a:t>完全</a:t>
            </a:r>
            <a:r>
              <a:rPr lang="en-US" altLang="zh-CN" sz="1400" b="0" i="0" dirty="0">
                <a:effectLst/>
                <a:latin typeface="-apple-system"/>
              </a:rPr>
              <a:t>	</a:t>
            </a:r>
            <a:r>
              <a:rPr lang="en-US" altLang="zh-CN" sz="1400" b="0" i="0" dirty="0">
                <a:solidFill>
                  <a:srgbClr val="F35C70"/>
                </a:solidFill>
                <a:effectLst/>
                <a:latin typeface="-apple-system"/>
              </a:rPr>
              <a:t>completely</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2A</a:t>
            </a:r>
            <a:endParaRPr lang="zh-CN" altLang="en-US" dirty="0"/>
          </a:p>
        </p:txBody>
      </p:sp>
    </p:spTree>
    <p:extLst>
      <p:ext uri="{BB962C8B-B14F-4D97-AF65-F5344CB8AC3E}">
        <p14:creationId xmlns:p14="http://schemas.microsoft.com/office/powerpoint/2010/main" val="1008015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5355312"/>
          </a:xfrm>
          <a:prstGeom prst="rect">
            <a:avLst/>
          </a:prstGeom>
          <a:noFill/>
        </p:spPr>
        <p:txBody>
          <a:bodyPr wrap="square" rtlCol="0">
            <a:spAutoFit/>
          </a:bodyPr>
          <a:lstStyle/>
          <a:p>
            <a:pPr algn="just"/>
            <a:r>
              <a:rPr lang="en-US" altLang="zh-CN" b="0" i="0" dirty="0">
                <a:effectLst/>
                <a:latin typeface="-apple-system"/>
              </a:rPr>
              <a:t>In the medical community, it is </a:t>
            </a:r>
            <a:r>
              <a:rPr lang="en-US" altLang="zh-CN" b="1" i="0" dirty="0">
                <a:effectLst/>
                <a:latin typeface="-apple-system"/>
              </a:rPr>
              <a:t>agreed</a:t>
            </a:r>
            <a:r>
              <a:rPr lang="en-US" altLang="zh-CN" b="0" i="0" dirty="0">
                <a:effectLst/>
                <a:latin typeface="-apple-system"/>
              </a:rPr>
              <a:t> that the nervous system must </a:t>
            </a:r>
            <a:r>
              <a:rPr lang="en-US" altLang="zh-CN" b="1" i="0" dirty="0">
                <a:effectLst/>
                <a:latin typeface="-apple-system"/>
              </a:rPr>
              <a:t>oversee</a:t>
            </a:r>
            <a:r>
              <a:rPr lang="en-US" altLang="zh-CN" b="0" i="0" dirty="0">
                <a:effectLst/>
                <a:latin typeface="-apple-system"/>
              </a:rPr>
              <a:t> all </a:t>
            </a:r>
            <a:r>
              <a:rPr lang="en-US" altLang="zh-CN" b="1" i="0" dirty="0">
                <a:effectLst/>
                <a:latin typeface="-apple-system"/>
              </a:rPr>
              <a:t>biological</a:t>
            </a:r>
            <a:r>
              <a:rPr lang="en-US" altLang="zh-CN" b="0" i="0" dirty="0">
                <a:effectLst/>
                <a:latin typeface="-apple-system"/>
              </a:rPr>
              <a:t> functions, as it is the body’s major controlling, regulatory and communicating system. It is the center of all mental activity including thought, learning and memory. The </a:t>
            </a:r>
            <a:r>
              <a:rPr lang="en-US" altLang="zh-CN" b="1" i="0" dirty="0">
                <a:effectLst/>
                <a:latin typeface="-apple-system"/>
              </a:rPr>
              <a:t>anatomy</a:t>
            </a:r>
            <a:r>
              <a:rPr lang="en-US" altLang="zh-CN" b="0" i="0" dirty="0">
                <a:effectLst/>
                <a:latin typeface="-apple-system"/>
              </a:rPr>
              <a:t> of the nervous system includes the </a:t>
            </a:r>
            <a:r>
              <a:rPr lang="en-US" altLang="zh-CN" b="1" i="0" dirty="0">
                <a:effectLst/>
                <a:latin typeface="-apple-system"/>
              </a:rPr>
              <a:t>brain,</a:t>
            </a:r>
            <a:r>
              <a:rPr lang="en-US" altLang="zh-CN" b="0" i="0" dirty="0">
                <a:effectLst/>
                <a:latin typeface="-apple-system"/>
              </a:rPr>
              <a:t> spinal cord, nerves, and ganglia. While the </a:t>
            </a:r>
            <a:r>
              <a:rPr lang="en-US" altLang="zh-CN" b="1" i="0" dirty="0">
                <a:effectLst/>
                <a:latin typeface="-apple-system"/>
              </a:rPr>
              <a:t>location</a:t>
            </a:r>
            <a:r>
              <a:rPr lang="en-US" altLang="zh-CN" b="0" i="0" dirty="0">
                <a:effectLst/>
                <a:latin typeface="-apple-system"/>
              </a:rPr>
              <a:t> of the brain and ganglia is within the </a:t>
            </a:r>
            <a:r>
              <a:rPr lang="en-US" altLang="zh-CN" b="1" i="0" dirty="0">
                <a:effectLst/>
                <a:latin typeface="-apple-system"/>
              </a:rPr>
              <a:t>skull,</a:t>
            </a:r>
            <a:r>
              <a:rPr lang="en-US" altLang="zh-CN" b="0" i="0" dirty="0">
                <a:effectLst/>
                <a:latin typeface="-apple-system"/>
              </a:rPr>
              <a:t> the various tissues, including nerve, blood and connective tissues, are spread over a </a:t>
            </a:r>
            <a:r>
              <a:rPr lang="en-US" altLang="zh-CN" b="1" i="0" dirty="0" err="1">
                <a:effectLst/>
                <a:latin typeface="-apple-system"/>
              </a:rPr>
              <a:t>remendous</a:t>
            </a:r>
            <a:r>
              <a:rPr lang="en-US" altLang="zh-CN" b="0" i="0" dirty="0">
                <a:effectLst/>
                <a:latin typeface="-apple-system"/>
              </a:rPr>
              <a:t> amount of the body. Together, these tissues and organs </a:t>
            </a:r>
            <a:r>
              <a:rPr lang="en-US" altLang="zh-CN" b="1" i="0" dirty="0">
                <a:effectLst/>
                <a:latin typeface="-apple-system"/>
              </a:rPr>
              <a:t>initiate</a:t>
            </a:r>
            <a:r>
              <a:rPr lang="en-US" altLang="zh-CN" b="0" i="0" dirty="0">
                <a:effectLst/>
                <a:latin typeface="-apple-system"/>
              </a:rPr>
              <a:t> and carry out the complex, </a:t>
            </a:r>
            <a:r>
              <a:rPr lang="en-US" altLang="zh-CN" b="1" i="0" dirty="0">
                <a:effectLst/>
                <a:latin typeface="-apple-system"/>
              </a:rPr>
              <a:t>specialized</a:t>
            </a:r>
            <a:r>
              <a:rPr lang="en-US" altLang="zh-CN" b="0" i="0" dirty="0">
                <a:effectLst/>
                <a:latin typeface="-apple-system"/>
              </a:rPr>
              <a:t> processes of the nervous system, including breathing, the heartbeat and </a:t>
            </a:r>
            <a:r>
              <a:rPr lang="en-US" altLang="zh-CN" b="1" i="0" dirty="0">
                <a:effectLst/>
                <a:latin typeface="-apple-system"/>
              </a:rPr>
              <a:t>vision.</a:t>
            </a:r>
            <a:r>
              <a:rPr lang="en-US" altLang="zh-CN" b="0" i="0" dirty="0">
                <a:effectLst/>
                <a:latin typeface="-apple-system"/>
              </a:rPr>
              <a:t> The nervous system is divided into two categories: the somatic nervous system, which helps the body </a:t>
            </a:r>
            <a:r>
              <a:rPr lang="en-US" altLang="zh-CN" b="1" i="0" dirty="0">
                <a:effectLst/>
                <a:latin typeface="-apple-system"/>
              </a:rPr>
              <a:t>move,</a:t>
            </a:r>
            <a:r>
              <a:rPr lang="en-US" altLang="zh-CN" b="0" i="0" dirty="0">
                <a:effectLst/>
                <a:latin typeface="-apple-system"/>
              </a:rPr>
              <a:t> and the autonomic nervous system, which manages other functions. If you have ever felt a </a:t>
            </a:r>
            <a:r>
              <a:rPr lang="en-US" altLang="zh-CN" b="1" i="0" dirty="0">
                <a:effectLst/>
                <a:latin typeface="-apple-system"/>
              </a:rPr>
              <a:t>jolt</a:t>
            </a:r>
            <a:r>
              <a:rPr lang="en-US" altLang="zh-CN" b="0" i="0" dirty="0">
                <a:effectLst/>
                <a:latin typeface="-apple-system"/>
              </a:rPr>
              <a:t> of energy or </a:t>
            </a:r>
            <a:r>
              <a:rPr lang="en-US" altLang="zh-CN" b="1" i="0" dirty="0">
                <a:effectLst/>
                <a:latin typeface="-apple-system"/>
              </a:rPr>
              <a:t>received</a:t>
            </a:r>
            <a:r>
              <a:rPr lang="en-US" altLang="zh-CN" b="0" i="0" dirty="0">
                <a:effectLst/>
                <a:latin typeface="-apple-system"/>
              </a:rPr>
              <a:t> a burst of adrenalin while frantically trying to complete a late-night assignment; that was your somatic nervous system working to </a:t>
            </a:r>
            <a:r>
              <a:rPr lang="en-US" altLang="zh-CN" b="1" i="0" dirty="0">
                <a:effectLst/>
                <a:latin typeface="-apple-system"/>
              </a:rPr>
              <a:t>obliterate</a:t>
            </a:r>
            <a:r>
              <a:rPr lang="en-US" altLang="zh-CN" b="0" i="0" dirty="0">
                <a:effectLst/>
                <a:latin typeface="-apple-system"/>
              </a:rPr>
              <a:t> your fear.</a:t>
            </a:r>
          </a:p>
        </p:txBody>
      </p:sp>
      <p:sp>
        <p:nvSpPr>
          <p:cNvPr id="5" name="文本框 4">
            <a:extLst>
              <a:ext uri="{FF2B5EF4-FFF2-40B4-BE49-F238E27FC236}">
                <a16:creationId xmlns:a16="http://schemas.microsoft.com/office/drawing/2014/main" id="{CB289E3A-941A-01E5-C04B-2510F1CB3EAF}"/>
              </a:ext>
            </a:extLst>
          </p:cNvPr>
          <p:cNvSpPr txBox="1"/>
          <p:nvPr/>
        </p:nvSpPr>
        <p:spPr>
          <a:xfrm>
            <a:off x="6838949" y="838200"/>
            <a:ext cx="4394045" cy="4708981"/>
          </a:xfrm>
          <a:prstGeom prst="rect">
            <a:avLst/>
          </a:prstGeom>
          <a:noFill/>
        </p:spPr>
        <p:txBody>
          <a:bodyPr wrap="square" rtlCol="0">
            <a:spAutoFit/>
          </a:bodyPr>
          <a:lstStyle/>
          <a:p>
            <a:r>
              <a:rPr lang="en-US" altLang="zh-CN" sz="2000" b="0" i="0" dirty="0">
                <a:effectLst/>
                <a:latin typeface="-apple-system"/>
              </a:rPr>
              <a:t>agreed		</a:t>
            </a:r>
            <a:r>
              <a:rPr lang="en-US" altLang="zh-CN" sz="2000" b="0" i="0" dirty="0">
                <a:solidFill>
                  <a:srgbClr val="F35C70"/>
                </a:solidFill>
                <a:effectLst/>
                <a:latin typeface="-apple-system"/>
              </a:rPr>
              <a:t>approved</a:t>
            </a:r>
          </a:p>
          <a:p>
            <a:r>
              <a:rPr lang="en-US" altLang="zh-CN" sz="2000" b="0" i="0" dirty="0">
                <a:effectLst/>
                <a:latin typeface="-apple-system"/>
              </a:rPr>
              <a:t>Oversee</a:t>
            </a:r>
            <a:r>
              <a:rPr lang="en-US" altLang="zh-CN" sz="2000" dirty="0">
                <a:solidFill>
                  <a:srgbClr val="F35C70"/>
                </a:solidFill>
                <a:latin typeface="-apple-system"/>
              </a:rPr>
              <a:t>		</a:t>
            </a:r>
            <a:r>
              <a:rPr lang="en-US" altLang="zh-CN" sz="2000" b="0" i="0" dirty="0">
                <a:solidFill>
                  <a:srgbClr val="F35C70"/>
                </a:solidFill>
                <a:effectLst/>
                <a:latin typeface="-apple-system"/>
              </a:rPr>
              <a:t>manage</a:t>
            </a:r>
            <a:endParaRPr lang="en-US" altLang="zh-CN" sz="2000" dirty="0">
              <a:solidFill>
                <a:srgbClr val="F35C70"/>
              </a:solidFill>
              <a:latin typeface="-apple-system"/>
            </a:endParaRPr>
          </a:p>
          <a:p>
            <a:r>
              <a:rPr lang="en-US" altLang="zh-CN" sz="2000" b="0" i="0" dirty="0">
                <a:effectLst/>
                <a:latin typeface="-apple-system"/>
              </a:rPr>
              <a:t>Biological</a:t>
            </a:r>
            <a:r>
              <a:rPr lang="en-US" altLang="zh-CN" sz="2000" b="0" i="0" dirty="0">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vital</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a:effectLst/>
                <a:latin typeface="-apple-system"/>
              </a:rPr>
              <a:t>Anatomy</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structure</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Brain</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head</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a:effectLst/>
                <a:latin typeface="-apple-system"/>
              </a:rPr>
              <a:t>Location</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placement</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Skull</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cranium</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err="1">
                <a:effectLst/>
                <a:latin typeface="-apple-system"/>
              </a:rPr>
              <a:t>Remendous</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great</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Initiate</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start</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a:effectLst/>
                <a:latin typeface="-apple-system"/>
              </a:rPr>
              <a:t>Specialized</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particular</a:t>
            </a:r>
            <a:endParaRPr lang="en-US" altLang="zh-CN" sz="2000" dirty="0">
              <a:solidFill>
                <a:srgbClr val="F35C70"/>
              </a:solidFill>
              <a:latin typeface="Times New Roman" panose="02020603050405020304" pitchFamily="18" charset="0"/>
              <a:cs typeface="Times New Roman" panose="02020603050405020304" pitchFamily="18" charset="0"/>
            </a:endParaRPr>
          </a:p>
          <a:p>
            <a:pPr algn="l"/>
            <a:r>
              <a:rPr lang="en-US" altLang="zh-CN" sz="2000" b="0" i="0" dirty="0">
                <a:effectLst/>
                <a:latin typeface="-apple-system"/>
              </a:rPr>
              <a:t>Vision</a:t>
            </a:r>
            <a:r>
              <a:rPr lang="en-US" altLang="zh-CN" sz="2000" b="0" i="0" dirty="0">
                <a:solidFill>
                  <a:srgbClr val="F35C70"/>
                </a:solidFill>
                <a:effectLst/>
                <a:latin typeface="-apple-system"/>
                <a:cs typeface="Times New Roman" panose="02020603050405020304" pitchFamily="18" charset="0"/>
              </a:rPr>
              <a:t>		</a:t>
            </a:r>
            <a:r>
              <a:rPr lang="en-US" altLang="zh-CN" sz="2000" b="0" i="0" dirty="0">
                <a:solidFill>
                  <a:srgbClr val="F35C70"/>
                </a:solidFill>
                <a:effectLst/>
                <a:latin typeface="-apple-system"/>
              </a:rPr>
              <a:t>seeing</a:t>
            </a:r>
          </a:p>
          <a:p>
            <a:pPr algn="l"/>
            <a:r>
              <a:rPr lang="en-US" altLang="zh-CN" sz="2000" b="0" i="0" dirty="0">
                <a:effectLst/>
                <a:latin typeface="-apple-system"/>
              </a:rPr>
              <a:t>Move		</a:t>
            </a:r>
            <a:r>
              <a:rPr lang="en-US" altLang="zh-CN" sz="2000" b="0" i="0" dirty="0">
                <a:solidFill>
                  <a:srgbClr val="F35C70"/>
                </a:solidFill>
                <a:effectLst/>
                <a:latin typeface="-apple-system"/>
              </a:rPr>
              <a:t>walk and run</a:t>
            </a:r>
          </a:p>
          <a:p>
            <a:pPr algn="l"/>
            <a:r>
              <a:rPr lang="en-US" altLang="zh-CN" sz="2000" b="0" i="0" dirty="0">
                <a:effectLst/>
                <a:latin typeface="-apple-system"/>
              </a:rPr>
              <a:t>Jolt		</a:t>
            </a:r>
            <a:r>
              <a:rPr lang="en-US" altLang="zh-CN" sz="2000" b="0" i="0" dirty="0">
                <a:solidFill>
                  <a:srgbClr val="F35C70"/>
                </a:solidFill>
                <a:effectLst/>
                <a:latin typeface="-apple-system"/>
              </a:rPr>
              <a:t>rush</a:t>
            </a:r>
          </a:p>
          <a:p>
            <a:pPr algn="l"/>
            <a:r>
              <a:rPr lang="en-US" altLang="zh-CN" sz="2000" b="0" i="0" dirty="0">
                <a:effectLst/>
                <a:latin typeface="-apple-system"/>
              </a:rPr>
              <a:t>Received	</a:t>
            </a:r>
            <a:r>
              <a:rPr lang="en-US" altLang="zh-CN" sz="2000" b="0" i="0" dirty="0">
                <a:solidFill>
                  <a:srgbClr val="F35C70"/>
                </a:solidFill>
                <a:effectLst/>
                <a:latin typeface="-apple-system"/>
              </a:rPr>
              <a:t>got</a:t>
            </a:r>
          </a:p>
          <a:p>
            <a:pPr algn="l"/>
            <a:r>
              <a:rPr lang="en-US" altLang="zh-CN" sz="2000" b="0" i="0" dirty="0">
                <a:effectLst/>
                <a:latin typeface="-apple-system"/>
              </a:rPr>
              <a:t>Obliterate</a:t>
            </a:r>
            <a:r>
              <a:rPr lang="en-US" altLang="zh-CN" sz="2000" dirty="0">
                <a:solidFill>
                  <a:srgbClr val="F35C70"/>
                </a:solidFill>
                <a:latin typeface="-apple-system"/>
              </a:rPr>
              <a:t>	</a:t>
            </a:r>
            <a:r>
              <a:rPr lang="en-US" altLang="zh-CN" sz="2000" b="0" i="0" dirty="0">
                <a:solidFill>
                  <a:srgbClr val="F35C70"/>
                </a:solidFill>
                <a:effectLst/>
                <a:latin typeface="-apple-system"/>
              </a:rPr>
              <a:t>remove</a:t>
            </a:r>
            <a:endParaRPr lang="en-US" altLang="zh-CN" sz="2000" b="0" i="0" dirty="0">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2B</a:t>
            </a:r>
            <a:endParaRPr lang="zh-CN" altLang="en-US" dirty="0"/>
          </a:p>
        </p:txBody>
      </p:sp>
    </p:spTree>
    <p:extLst>
      <p:ext uri="{BB962C8B-B14F-4D97-AF65-F5344CB8AC3E}">
        <p14:creationId xmlns:p14="http://schemas.microsoft.com/office/powerpoint/2010/main" val="309382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5958739" cy="5355312"/>
          </a:xfrm>
          <a:prstGeom prst="rect">
            <a:avLst/>
          </a:prstGeom>
          <a:noFill/>
        </p:spPr>
        <p:txBody>
          <a:bodyPr wrap="square" rtlCol="0">
            <a:spAutoFit/>
          </a:bodyPr>
          <a:lstStyle/>
          <a:p>
            <a:pPr algn="just"/>
            <a:r>
              <a:rPr lang="en-US" altLang="zh-CN" b="0" i="0" dirty="0">
                <a:effectLst/>
                <a:latin typeface="-apple-system"/>
              </a:rPr>
              <a:t>In the medical community, it is </a:t>
            </a:r>
            <a:r>
              <a:rPr lang="en-US" altLang="zh-CN" b="1" i="0" dirty="0">
                <a:effectLst/>
                <a:latin typeface="-apple-system"/>
              </a:rPr>
              <a:t>agreed</a:t>
            </a:r>
            <a:r>
              <a:rPr lang="en-US" altLang="zh-CN" b="0" i="0" dirty="0">
                <a:effectLst/>
                <a:latin typeface="-apple-system"/>
              </a:rPr>
              <a:t> that the nervous system must </a:t>
            </a:r>
            <a:r>
              <a:rPr lang="en-US" altLang="zh-CN" b="1" i="0" dirty="0">
                <a:effectLst/>
                <a:latin typeface="-apple-system"/>
              </a:rPr>
              <a:t>oversee</a:t>
            </a:r>
            <a:r>
              <a:rPr lang="en-US" altLang="zh-CN" b="0" i="0" dirty="0">
                <a:effectLst/>
                <a:latin typeface="-apple-system"/>
              </a:rPr>
              <a:t> all </a:t>
            </a:r>
            <a:r>
              <a:rPr lang="en-US" altLang="zh-CN" b="1" i="0" dirty="0">
                <a:effectLst/>
                <a:latin typeface="-apple-system"/>
              </a:rPr>
              <a:t>biological</a:t>
            </a:r>
            <a:r>
              <a:rPr lang="en-US" altLang="zh-CN" b="0" i="0" dirty="0">
                <a:effectLst/>
                <a:latin typeface="-apple-system"/>
              </a:rPr>
              <a:t> functions, as it is the body’s major controlling, regulatory and communicating system. It is the center of all mental activity including thought, learning and memory. The </a:t>
            </a:r>
            <a:r>
              <a:rPr lang="en-US" altLang="zh-CN" b="1" i="0" dirty="0">
                <a:effectLst/>
                <a:latin typeface="-apple-system"/>
              </a:rPr>
              <a:t>anatomy</a:t>
            </a:r>
            <a:r>
              <a:rPr lang="en-US" altLang="zh-CN" b="0" i="0" dirty="0">
                <a:effectLst/>
                <a:latin typeface="-apple-system"/>
              </a:rPr>
              <a:t> of the nervous system includes the </a:t>
            </a:r>
            <a:r>
              <a:rPr lang="en-US" altLang="zh-CN" b="1" i="0" dirty="0">
                <a:effectLst/>
                <a:latin typeface="-apple-system"/>
              </a:rPr>
              <a:t>brain,</a:t>
            </a:r>
            <a:r>
              <a:rPr lang="en-US" altLang="zh-CN" b="0" i="0" dirty="0">
                <a:effectLst/>
                <a:latin typeface="-apple-system"/>
              </a:rPr>
              <a:t> spinal cord, nerves, and ganglia. While the </a:t>
            </a:r>
            <a:r>
              <a:rPr lang="en-US" altLang="zh-CN" b="1" i="0" dirty="0">
                <a:effectLst/>
                <a:latin typeface="-apple-system"/>
              </a:rPr>
              <a:t>location</a:t>
            </a:r>
            <a:r>
              <a:rPr lang="en-US" altLang="zh-CN" b="0" i="0" dirty="0">
                <a:effectLst/>
                <a:latin typeface="-apple-system"/>
              </a:rPr>
              <a:t> of the brain and ganglia is within the </a:t>
            </a:r>
            <a:r>
              <a:rPr lang="en-US" altLang="zh-CN" b="1" i="0" dirty="0">
                <a:effectLst/>
                <a:latin typeface="-apple-system"/>
              </a:rPr>
              <a:t>skull,</a:t>
            </a:r>
            <a:r>
              <a:rPr lang="en-US" altLang="zh-CN" b="0" i="0" dirty="0">
                <a:effectLst/>
                <a:latin typeface="-apple-system"/>
              </a:rPr>
              <a:t> the various tissues, including nerve, blood and connective tissues, are spread over a </a:t>
            </a:r>
            <a:r>
              <a:rPr lang="en-US" altLang="zh-CN" b="1" i="0" dirty="0" err="1">
                <a:effectLst/>
                <a:latin typeface="-apple-system"/>
              </a:rPr>
              <a:t>remendous</a:t>
            </a:r>
            <a:r>
              <a:rPr lang="en-US" altLang="zh-CN" b="0" i="0" dirty="0">
                <a:effectLst/>
                <a:latin typeface="-apple-system"/>
              </a:rPr>
              <a:t> amount of the body. Together, these tissues and organs </a:t>
            </a:r>
            <a:r>
              <a:rPr lang="en-US" altLang="zh-CN" b="1" i="0" dirty="0">
                <a:effectLst/>
                <a:latin typeface="-apple-system"/>
              </a:rPr>
              <a:t>initiate</a:t>
            </a:r>
            <a:r>
              <a:rPr lang="en-US" altLang="zh-CN" b="0" i="0" dirty="0">
                <a:effectLst/>
                <a:latin typeface="-apple-system"/>
              </a:rPr>
              <a:t> and carry out the complex, </a:t>
            </a:r>
            <a:r>
              <a:rPr lang="en-US" altLang="zh-CN" b="1" i="0" dirty="0">
                <a:effectLst/>
                <a:latin typeface="-apple-system"/>
              </a:rPr>
              <a:t>specialized</a:t>
            </a:r>
            <a:r>
              <a:rPr lang="en-US" altLang="zh-CN" b="0" i="0" dirty="0">
                <a:effectLst/>
                <a:latin typeface="-apple-system"/>
              </a:rPr>
              <a:t> processes of the nervous system, including breathing, the heartbeat and </a:t>
            </a:r>
            <a:r>
              <a:rPr lang="en-US" altLang="zh-CN" b="1" i="0" dirty="0">
                <a:effectLst/>
                <a:latin typeface="-apple-system"/>
              </a:rPr>
              <a:t>vision.</a:t>
            </a:r>
            <a:r>
              <a:rPr lang="en-US" altLang="zh-CN" b="0" i="0" dirty="0">
                <a:effectLst/>
                <a:latin typeface="-apple-system"/>
              </a:rPr>
              <a:t> The nervous system is divided into two categories: the somatic nervous system, which helps the body </a:t>
            </a:r>
            <a:r>
              <a:rPr lang="en-US" altLang="zh-CN" b="1" i="0" dirty="0">
                <a:effectLst/>
                <a:latin typeface="-apple-system"/>
              </a:rPr>
              <a:t>move,</a:t>
            </a:r>
            <a:r>
              <a:rPr lang="en-US" altLang="zh-CN" b="0" i="0" dirty="0">
                <a:effectLst/>
                <a:latin typeface="-apple-system"/>
              </a:rPr>
              <a:t> and the autonomic nervous system, which manages other functions. If you have ever felt a </a:t>
            </a:r>
            <a:r>
              <a:rPr lang="en-US" altLang="zh-CN" b="1" i="0" dirty="0">
                <a:effectLst/>
                <a:latin typeface="-apple-system"/>
              </a:rPr>
              <a:t>jolt</a:t>
            </a:r>
            <a:r>
              <a:rPr lang="en-US" altLang="zh-CN" b="0" i="0" dirty="0">
                <a:effectLst/>
                <a:latin typeface="-apple-system"/>
              </a:rPr>
              <a:t> of energy or </a:t>
            </a:r>
            <a:r>
              <a:rPr lang="en-US" altLang="zh-CN" b="1" i="0" dirty="0">
                <a:effectLst/>
                <a:latin typeface="-apple-system"/>
              </a:rPr>
              <a:t>received</a:t>
            </a:r>
            <a:r>
              <a:rPr lang="en-US" altLang="zh-CN" b="0" i="0" dirty="0">
                <a:effectLst/>
                <a:latin typeface="-apple-system"/>
              </a:rPr>
              <a:t> a burst of adrenalin while frantically trying to complete a late-night assignment; that was your somatic nervous system working to </a:t>
            </a:r>
            <a:r>
              <a:rPr lang="en-US" altLang="zh-CN" b="1" i="0" dirty="0">
                <a:effectLst/>
                <a:latin typeface="-apple-system"/>
              </a:rPr>
              <a:t>obliterate</a:t>
            </a:r>
            <a:r>
              <a:rPr lang="en-US" altLang="zh-CN" b="0" i="0" dirty="0">
                <a:effectLst/>
                <a:latin typeface="-apple-system"/>
              </a:rPr>
              <a:t> your fear.</a:t>
            </a:r>
          </a:p>
        </p:txBody>
      </p:sp>
      <p:sp>
        <p:nvSpPr>
          <p:cNvPr id="5" name="文本框 4">
            <a:extLst>
              <a:ext uri="{FF2B5EF4-FFF2-40B4-BE49-F238E27FC236}">
                <a16:creationId xmlns:a16="http://schemas.microsoft.com/office/drawing/2014/main" id="{CB289E3A-941A-01E5-C04B-2510F1CB3EAF}"/>
              </a:ext>
            </a:extLst>
          </p:cNvPr>
          <p:cNvSpPr txBox="1"/>
          <p:nvPr/>
        </p:nvSpPr>
        <p:spPr>
          <a:xfrm>
            <a:off x="6452839" y="779412"/>
            <a:ext cx="4513611" cy="4708981"/>
          </a:xfrm>
          <a:prstGeom prst="rect">
            <a:avLst/>
          </a:prstGeom>
          <a:noFill/>
        </p:spPr>
        <p:txBody>
          <a:bodyPr wrap="square" rtlCol="0">
            <a:spAutoFit/>
          </a:bodyPr>
          <a:lstStyle/>
          <a:p>
            <a:r>
              <a:rPr lang="en-US" altLang="zh-CN" sz="2000" b="0" i="0" dirty="0">
                <a:effectLst/>
                <a:latin typeface="-apple-system"/>
              </a:rPr>
              <a:t>agreed		</a:t>
            </a:r>
            <a:r>
              <a:rPr lang="zh-CN" altLang="en-US" sz="2000" b="0" i="0" dirty="0">
                <a:effectLst/>
                <a:latin typeface="-apple-system"/>
              </a:rPr>
              <a:t>同意</a:t>
            </a:r>
            <a:r>
              <a:rPr lang="en-US" altLang="zh-CN" sz="2000" b="0" i="0" dirty="0">
                <a:effectLst/>
                <a:latin typeface="-apple-system"/>
              </a:rPr>
              <a:t>	</a:t>
            </a:r>
            <a:r>
              <a:rPr lang="en-US" altLang="zh-CN" sz="2000" b="0" i="0" dirty="0">
                <a:solidFill>
                  <a:srgbClr val="F35C70"/>
                </a:solidFill>
                <a:effectLst/>
                <a:latin typeface="-apple-system"/>
              </a:rPr>
              <a:t>approved</a:t>
            </a:r>
          </a:p>
          <a:p>
            <a:r>
              <a:rPr lang="en-US" altLang="zh-CN" sz="2000" b="0" i="0" dirty="0">
                <a:effectLst/>
                <a:latin typeface="-apple-system"/>
              </a:rPr>
              <a:t>Oversee</a:t>
            </a:r>
            <a:r>
              <a:rPr lang="en-US" altLang="zh-CN" sz="2000" dirty="0">
                <a:solidFill>
                  <a:srgbClr val="F35C70"/>
                </a:solidFill>
                <a:latin typeface="-apple-system"/>
              </a:rPr>
              <a:t>		</a:t>
            </a:r>
            <a:r>
              <a:rPr lang="zh-CN" altLang="en-US" sz="2000" b="0" i="0" dirty="0">
                <a:effectLst/>
                <a:latin typeface="-apple-system"/>
              </a:rPr>
              <a:t>管理</a:t>
            </a:r>
            <a:r>
              <a:rPr lang="en-US" altLang="zh-CN" sz="2000" dirty="0">
                <a:solidFill>
                  <a:srgbClr val="F35C70"/>
                </a:solidFill>
                <a:latin typeface="-apple-system"/>
              </a:rPr>
              <a:t>	</a:t>
            </a:r>
            <a:r>
              <a:rPr lang="en-US" altLang="zh-CN" sz="2000" b="0" i="0" dirty="0">
                <a:solidFill>
                  <a:srgbClr val="F35C70"/>
                </a:solidFill>
                <a:effectLst/>
                <a:latin typeface="-apple-system"/>
              </a:rPr>
              <a:t>manage</a:t>
            </a:r>
            <a:endParaRPr lang="en-US" altLang="zh-CN" sz="2000" dirty="0">
              <a:solidFill>
                <a:srgbClr val="F35C70"/>
              </a:solidFill>
              <a:latin typeface="-apple-system"/>
            </a:endParaRPr>
          </a:p>
          <a:p>
            <a:r>
              <a:rPr lang="en-US" altLang="zh-CN" sz="2000" b="0" i="0" dirty="0">
                <a:effectLst/>
                <a:latin typeface="-apple-system"/>
              </a:rPr>
              <a:t>Biological	</a:t>
            </a:r>
            <a:r>
              <a:rPr lang="zh-CN" altLang="en-US" sz="2000" b="0" i="0" dirty="0">
                <a:effectLst/>
                <a:latin typeface="-apple-system"/>
              </a:rPr>
              <a:t>生物</a:t>
            </a:r>
            <a:r>
              <a:rPr lang="en-US" altLang="zh-CN" sz="2000" b="0" i="0" dirty="0">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vital</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a:effectLst/>
                <a:latin typeface="-apple-system"/>
              </a:rPr>
              <a:t>Anatomy	</a:t>
            </a:r>
            <a:r>
              <a:rPr lang="zh-CN" altLang="en-US" sz="2000" b="0" i="0" dirty="0">
                <a:effectLst/>
                <a:latin typeface="-apple-system"/>
              </a:rPr>
              <a:t>结构</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structure</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Brain</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zh-CN" altLang="en-US" sz="2000" b="0" i="0" dirty="0">
                <a:effectLst/>
                <a:latin typeface="-apple-system"/>
              </a:rPr>
              <a:t>脑</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head</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a:effectLst/>
                <a:latin typeface="-apple-system"/>
              </a:rPr>
              <a:t>Location</a:t>
            </a:r>
            <a:r>
              <a:rPr lang="en-US" altLang="zh-CN" sz="2000" dirty="0">
                <a:solidFill>
                  <a:srgbClr val="F35C70"/>
                </a:solidFill>
                <a:latin typeface="Times New Roman" panose="02020603050405020304" pitchFamily="18" charset="0"/>
                <a:cs typeface="Times New Roman" panose="02020603050405020304" pitchFamily="18" charset="0"/>
              </a:rPr>
              <a:t>	       	</a:t>
            </a:r>
            <a:r>
              <a:rPr lang="zh-CN" altLang="en-US" sz="2000" b="0" i="0" dirty="0">
                <a:effectLst/>
                <a:latin typeface="-apple-system"/>
              </a:rPr>
              <a:t>位置</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placement</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Skull</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zh-CN" altLang="en-US" sz="2000" b="0" i="0" dirty="0">
                <a:effectLst/>
                <a:latin typeface="-apple-system"/>
              </a:rPr>
              <a:t>颅骨</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cranium</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err="1">
                <a:effectLst/>
                <a:latin typeface="-apple-system"/>
              </a:rPr>
              <a:t>Remendous</a:t>
            </a:r>
            <a:r>
              <a:rPr lang="en-US" altLang="zh-CN" sz="2000" b="0" i="0" dirty="0">
                <a:effectLst/>
                <a:latin typeface="-apple-system"/>
              </a:rPr>
              <a:t>  	</a:t>
            </a:r>
            <a:r>
              <a:rPr lang="zh-CN" altLang="en-US" sz="2000" b="0" i="0" dirty="0">
                <a:effectLst/>
                <a:latin typeface="-apple-system"/>
              </a:rPr>
              <a:t>伟大</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great</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Initiate</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zh-CN" altLang="en-US" sz="2000" b="0" i="0" dirty="0">
                <a:effectLst/>
                <a:latin typeface="-apple-system"/>
              </a:rPr>
              <a:t>启动</a:t>
            </a:r>
            <a:r>
              <a:rPr lang="en-US" altLang="zh-CN" sz="2000" b="0" i="0" dirty="0">
                <a:solidFill>
                  <a:srgbClr val="F35C70"/>
                </a:solidFill>
                <a:effectLst/>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start</a:t>
            </a:r>
            <a:endParaRPr lang="en-US" altLang="zh-CN" sz="2000" b="0" i="0" dirty="0">
              <a:solidFill>
                <a:srgbClr val="F35C70"/>
              </a:solidFill>
              <a:effectLst/>
              <a:latin typeface="Times New Roman" panose="02020603050405020304" pitchFamily="18" charset="0"/>
              <a:cs typeface="Times New Roman" panose="02020603050405020304" pitchFamily="18" charset="0"/>
            </a:endParaRPr>
          </a:p>
          <a:p>
            <a:r>
              <a:rPr lang="en-US" altLang="zh-CN" sz="2000" b="0" i="0" dirty="0">
                <a:effectLst/>
                <a:latin typeface="-apple-system"/>
              </a:rPr>
              <a:t>Specialized	</a:t>
            </a:r>
            <a:r>
              <a:rPr lang="zh-CN" altLang="en-US" sz="2000" b="0" i="0" dirty="0">
                <a:effectLst/>
                <a:latin typeface="-apple-system"/>
              </a:rPr>
              <a:t>专业</a:t>
            </a:r>
            <a:r>
              <a:rPr lang="en-US" altLang="zh-CN" sz="2000" dirty="0">
                <a:solidFill>
                  <a:srgbClr val="F35C70"/>
                </a:solidFill>
                <a:latin typeface="Times New Roman" panose="02020603050405020304" pitchFamily="18" charset="0"/>
                <a:cs typeface="Times New Roman" panose="02020603050405020304" pitchFamily="18" charset="0"/>
              </a:rPr>
              <a:t>	</a:t>
            </a:r>
            <a:r>
              <a:rPr lang="en-US" altLang="zh-CN" sz="2000" b="0" i="0" dirty="0">
                <a:solidFill>
                  <a:srgbClr val="F35C70"/>
                </a:solidFill>
                <a:effectLst/>
                <a:latin typeface="-apple-system"/>
              </a:rPr>
              <a:t>particular</a:t>
            </a:r>
            <a:endParaRPr lang="en-US" altLang="zh-CN" sz="2000" dirty="0">
              <a:solidFill>
                <a:srgbClr val="F35C70"/>
              </a:solidFill>
              <a:latin typeface="Times New Roman" panose="02020603050405020304" pitchFamily="18" charset="0"/>
              <a:cs typeface="Times New Roman" panose="02020603050405020304" pitchFamily="18" charset="0"/>
            </a:endParaRPr>
          </a:p>
          <a:p>
            <a:r>
              <a:rPr lang="en-US" altLang="zh-CN" sz="2000" b="0" i="0" dirty="0">
                <a:effectLst/>
                <a:latin typeface="-apple-system"/>
              </a:rPr>
              <a:t>Vision</a:t>
            </a:r>
            <a:r>
              <a:rPr lang="en-US" altLang="zh-CN" sz="2000" b="0" i="0" dirty="0">
                <a:solidFill>
                  <a:srgbClr val="F35C70"/>
                </a:solidFill>
                <a:effectLst/>
                <a:latin typeface="-apple-system"/>
                <a:cs typeface="Times New Roman" panose="02020603050405020304" pitchFamily="18" charset="0"/>
              </a:rPr>
              <a:t>		</a:t>
            </a:r>
            <a:r>
              <a:rPr lang="zh-CN" altLang="en-US" sz="2000" b="0" i="0" dirty="0">
                <a:effectLst/>
                <a:latin typeface="-apple-system"/>
              </a:rPr>
              <a:t>视觉</a:t>
            </a:r>
            <a:r>
              <a:rPr lang="en-US" altLang="zh-CN" sz="2000" b="0" i="0" dirty="0">
                <a:solidFill>
                  <a:srgbClr val="F35C70"/>
                </a:solidFill>
                <a:effectLst/>
                <a:latin typeface="-apple-system"/>
                <a:cs typeface="Times New Roman" panose="02020603050405020304" pitchFamily="18" charset="0"/>
              </a:rPr>
              <a:t>	</a:t>
            </a:r>
            <a:r>
              <a:rPr lang="en-US" altLang="zh-CN" sz="2000" b="0" i="0" dirty="0">
                <a:solidFill>
                  <a:srgbClr val="F35C70"/>
                </a:solidFill>
                <a:effectLst/>
                <a:latin typeface="-apple-system"/>
              </a:rPr>
              <a:t>seeing</a:t>
            </a:r>
          </a:p>
          <a:p>
            <a:r>
              <a:rPr lang="en-US" altLang="zh-CN" sz="2000" b="0" i="0" dirty="0">
                <a:effectLst/>
                <a:latin typeface="-apple-system"/>
              </a:rPr>
              <a:t>Move		</a:t>
            </a:r>
            <a:r>
              <a:rPr lang="zh-CN" altLang="en-US" sz="2000" b="0" i="0" dirty="0">
                <a:effectLst/>
                <a:latin typeface="-apple-system"/>
              </a:rPr>
              <a:t>移动</a:t>
            </a:r>
            <a:r>
              <a:rPr lang="en-US" altLang="zh-CN" sz="2000" b="0" i="0" dirty="0">
                <a:effectLst/>
                <a:latin typeface="-apple-system"/>
              </a:rPr>
              <a:t>	</a:t>
            </a:r>
            <a:r>
              <a:rPr lang="en-US" altLang="zh-CN" sz="2000" b="0" i="0" dirty="0">
                <a:solidFill>
                  <a:srgbClr val="F35C70"/>
                </a:solidFill>
                <a:effectLst/>
                <a:latin typeface="-apple-system"/>
              </a:rPr>
              <a:t>walk and run</a:t>
            </a:r>
          </a:p>
          <a:p>
            <a:r>
              <a:rPr lang="en-US" altLang="zh-CN" sz="2000" b="0" i="0" dirty="0">
                <a:effectLst/>
                <a:latin typeface="-apple-system"/>
              </a:rPr>
              <a:t>Jolt		</a:t>
            </a:r>
            <a:r>
              <a:rPr lang="zh-CN" altLang="en-US" sz="2000" b="0" i="0" dirty="0">
                <a:effectLst/>
                <a:latin typeface="-apple-system"/>
              </a:rPr>
              <a:t>颠簸</a:t>
            </a:r>
            <a:r>
              <a:rPr lang="en-US" altLang="zh-CN" sz="2000" b="0" i="0" dirty="0">
                <a:effectLst/>
                <a:latin typeface="-apple-system"/>
              </a:rPr>
              <a:t>	</a:t>
            </a:r>
            <a:r>
              <a:rPr lang="en-US" altLang="zh-CN" sz="2000" b="0" i="0" dirty="0">
                <a:solidFill>
                  <a:srgbClr val="F35C70"/>
                </a:solidFill>
                <a:effectLst/>
                <a:latin typeface="-apple-system"/>
              </a:rPr>
              <a:t>rush</a:t>
            </a:r>
          </a:p>
          <a:p>
            <a:r>
              <a:rPr lang="en-US" altLang="zh-CN" sz="2000" b="0" i="0" dirty="0">
                <a:effectLst/>
                <a:latin typeface="-apple-system"/>
              </a:rPr>
              <a:t>Received	</a:t>
            </a:r>
            <a:r>
              <a:rPr lang="zh-CN" altLang="en-US" sz="2000" b="0" i="0" dirty="0">
                <a:effectLst/>
                <a:latin typeface="-apple-system"/>
              </a:rPr>
              <a:t>收到</a:t>
            </a:r>
            <a:r>
              <a:rPr lang="en-US" altLang="zh-CN" sz="2000" b="0" i="0" dirty="0">
                <a:effectLst/>
                <a:latin typeface="-apple-system"/>
              </a:rPr>
              <a:t>	</a:t>
            </a:r>
            <a:r>
              <a:rPr lang="en-US" altLang="zh-CN" sz="2000" b="0" i="0" dirty="0">
                <a:solidFill>
                  <a:srgbClr val="F35C70"/>
                </a:solidFill>
                <a:effectLst/>
                <a:latin typeface="-apple-system"/>
              </a:rPr>
              <a:t>got</a:t>
            </a:r>
          </a:p>
          <a:p>
            <a:pPr algn="l"/>
            <a:r>
              <a:rPr lang="en-US" altLang="zh-CN" sz="2000" b="0" i="0" dirty="0">
                <a:effectLst/>
                <a:latin typeface="-apple-system"/>
              </a:rPr>
              <a:t>Obliterate	</a:t>
            </a:r>
            <a:r>
              <a:rPr lang="zh-CN" altLang="en-US" sz="2000" dirty="0">
                <a:latin typeface="-apple-system"/>
              </a:rPr>
              <a:t>移除</a:t>
            </a:r>
            <a:r>
              <a:rPr lang="en-US" altLang="zh-CN" sz="2000" dirty="0">
                <a:solidFill>
                  <a:srgbClr val="F35C70"/>
                </a:solidFill>
                <a:latin typeface="-apple-system"/>
              </a:rPr>
              <a:t>	</a:t>
            </a:r>
            <a:r>
              <a:rPr lang="en-US" altLang="zh-CN" sz="2000" b="0" i="0" dirty="0">
                <a:solidFill>
                  <a:srgbClr val="F35C70"/>
                </a:solidFill>
                <a:effectLst/>
                <a:latin typeface="-apple-system"/>
              </a:rPr>
              <a:t>remove</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2B</a:t>
            </a:r>
            <a:endParaRPr lang="zh-CN" altLang="en-US" dirty="0"/>
          </a:p>
        </p:txBody>
      </p:sp>
    </p:spTree>
    <p:extLst>
      <p:ext uri="{BB962C8B-B14F-4D97-AF65-F5344CB8AC3E}">
        <p14:creationId xmlns:p14="http://schemas.microsoft.com/office/powerpoint/2010/main" val="2905427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250341" y="733246"/>
            <a:ext cx="6626244" cy="3477875"/>
          </a:xfrm>
          <a:prstGeom prst="rect">
            <a:avLst/>
          </a:prstGeom>
          <a:noFill/>
        </p:spPr>
        <p:txBody>
          <a:bodyPr wrap="square" rtlCol="0">
            <a:spAutoFit/>
          </a:bodyPr>
          <a:lstStyle/>
          <a:p>
            <a:pPr algn="just"/>
            <a:r>
              <a:rPr lang="en-US" altLang="zh-CN" sz="2000" b="0" i="0" dirty="0">
                <a:effectLst/>
                <a:latin typeface="-apple-system"/>
              </a:rPr>
              <a:t>To be </a:t>
            </a:r>
            <a:r>
              <a:rPr lang="en-US" altLang="zh-CN" sz="2000" b="1" i="0" dirty="0">
                <a:effectLst/>
                <a:latin typeface="-apple-system"/>
              </a:rPr>
              <a:t>successful,</a:t>
            </a:r>
            <a:r>
              <a:rPr lang="en-US" altLang="zh-CN" sz="2000" b="0" i="0" dirty="0">
                <a:effectLst/>
                <a:latin typeface="-apple-system"/>
              </a:rPr>
              <a:t> public health programs for the elderly must focus on both the prevention and treatment of </a:t>
            </a:r>
            <a:r>
              <a:rPr lang="en-US" altLang="zh-CN" sz="2000" b="1" i="0" dirty="0">
                <a:effectLst/>
                <a:latin typeface="-apple-system"/>
              </a:rPr>
              <a:t>infectious</a:t>
            </a:r>
            <a:r>
              <a:rPr lang="en-US" altLang="zh-CN" sz="2000" b="0" i="0" dirty="0">
                <a:effectLst/>
                <a:latin typeface="-apple-system"/>
              </a:rPr>
              <a:t> </a:t>
            </a:r>
            <a:r>
              <a:rPr lang="en-US" altLang="zh-CN" sz="2000" b="1" i="0" dirty="0">
                <a:effectLst/>
                <a:latin typeface="-apple-system"/>
              </a:rPr>
              <a:t>epidemic</a:t>
            </a:r>
            <a:r>
              <a:rPr lang="en-US" altLang="zh-CN" sz="2000" b="0" i="0" dirty="0">
                <a:effectLst/>
                <a:latin typeface="-apple-system"/>
              </a:rPr>
              <a:t> diseases. In order to </a:t>
            </a:r>
            <a:r>
              <a:rPr lang="en-US" altLang="zh-CN" sz="2000" b="1" i="0" dirty="0">
                <a:effectLst/>
                <a:latin typeface="-apple-system"/>
              </a:rPr>
              <a:t>sustain </a:t>
            </a:r>
            <a:r>
              <a:rPr lang="en-US" altLang="zh-CN" sz="2000" b="0" i="0" dirty="0">
                <a:effectLst/>
                <a:latin typeface="-apple-system"/>
              </a:rPr>
              <a:t>the health of a community, agencies must ensure that the </a:t>
            </a:r>
            <a:r>
              <a:rPr lang="en-US" altLang="zh-CN" sz="2000" b="1" i="0" dirty="0">
                <a:effectLst/>
                <a:latin typeface="-apple-system"/>
              </a:rPr>
              <a:t>hygiene </a:t>
            </a:r>
            <a:r>
              <a:rPr lang="en-US" altLang="zh-CN" sz="2000" b="0" i="0" dirty="0">
                <a:effectLst/>
                <a:latin typeface="-apple-system"/>
              </a:rPr>
              <a:t>of public facilities is maintained, </a:t>
            </a:r>
            <a:r>
              <a:rPr lang="en-US" altLang="zh-CN" sz="2000" b="1" i="0" dirty="0">
                <a:effectLst/>
                <a:latin typeface="-apple-system"/>
              </a:rPr>
              <a:t>dangerous</a:t>
            </a:r>
            <a:r>
              <a:rPr lang="en-US" altLang="zh-CN" sz="2000" b="0" i="0" dirty="0">
                <a:effectLst/>
                <a:latin typeface="-apple-system"/>
              </a:rPr>
              <a:t> housing conditions are prevented, and </a:t>
            </a:r>
            <a:r>
              <a:rPr lang="en-US" altLang="zh-CN" sz="2000" b="1" i="0" dirty="0">
                <a:effectLst/>
                <a:latin typeface="-apple-system"/>
              </a:rPr>
              <a:t>acute</a:t>
            </a:r>
            <a:r>
              <a:rPr lang="en-US" altLang="zh-CN" sz="2000" b="0" i="0" dirty="0">
                <a:effectLst/>
                <a:latin typeface="-apple-system"/>
              </a:rPr>
              <a:t> diseases are not spread. </a:t>
            </a:r>
            <a:r>
              <a:rPr lang="en-US" altLang="zh-CN" sz="2000" b="1" i="0" dirty="0">
                <a:effectLst/>
                <a:latin typeface="-apple-system"/>
              </a:rPr>
              <a:t>Still,</a:t>
            </a:r>
            <a:r>
              <a:rPr lang="en-US" altLang="zh-CN" sz="2000" b="0" i="0" dirty="0">
                <a:effectLst/>
                <a:latin typeface="-apple-system"/>
              </a:rPr>
              <a:t> if </a:t>
            </a:r>
            <a:r>
              <a:rPr lang="en-US" altLang="zh-CN" sz="2000" b="1" i="0" dirty="0">
                <a:effectLst/>
                <a:latin typeface="-apple-system"/>
              </a:rPr>
              <a:t>faced</a:t>
            </a:r>
            <a:r>
              <a:rPr lang="en-US" altLang="zh-CN" sz="2000" b="0" i="0" dirty="0">
                <a:effectLst/>
                <a:latin typeface="-apple-system"/>
              </a:rPr>
              <a:t> with a serious </a:t>
            </a:r>
            <a:r>
              <a:rPr lang="en-US" altLang="zh-CN" sz="2000" b="1" i="0" dirty="0">
                <a:effectLst/>
                <a:latin typeface="-apple-system"/>
              </a:rPr>
              <a:t>outbreak,</a:t>
            </a:r>
            <a:r>
              <a:rPr lang="en-US" altLang="zh-CN" sz="2000" b="0" i="0" dirty="0">
                <a:effectLst/>
                <a:latin typeface="-apple-system"/>
              </a:rPr>
              <a:t> other agencies need to be on hand to treat victims, dispense </a:t>
            </a:r>
            <a:r>
              <a:rPr lang="en-US" altLang="zh-CN" sz="2000" b="1" i="0" dirty="0">
                <a:effectLst/>
                <a:latin typeface="-apple-system"/>
              </a:rPr>
              <a:t>medication,</a:t>
            </a:r>
            <a:r>
              <a:rPr lang="en-US" altLang="zh-CN" sz="2000" b="0" i="0" dirty="0">
                <a:effectLst/>
                <a:latin typeface="-apple-system"/>
              </a:rPr>
              <a:t> and vaccinate others to give them </a:t>
            </a:r>
            <a:r>
              <a:rPr lang="en-US" altLang="zh-CN" sz="2000" b="1" i="0" dirty="0">
                <a:effectLst/>
                <a:latin typeface="-apple-system"/>
              </a:rPr>
              <a:t>immunity.</a:t>
            </a:r>
            <a:r>
              <a:rPr lang="en-US" altLang="zh-CN" sz="2000" b="0" i="0" dirty="0">
                <a:effectLst/>
                <a:latin typeface="-apple-system"/>
              </a:rPr>
              <a:t> Health workers would need to be prepare to work </a:t>
            </a:r>
            <a:r>
              <a:rPr lang="en-US" altLang="zh-CN" sz="2000" b="1" i="0" dirty="0">
                <a:effectLst/>
                <a:latin typeface="-apple-system"/>
              </a:rPr>
              <a:t>long</a:t>
            </a:r>
            <a:r>
              <a:rPr lang="en-US" altLang="zh-CN" sz="2000" b="0" i="0" dirty="0">
                <a:effectLst/>
                <a:latin typeface="-apple-system"/>
              </a:rPr>
              <a:t> hours and treat patients </a:t>
            </a:r>
            <a:r>
              <a:rPr lang="en-US" altLang="zh-CN" sz="2000" b="1" i="0" dirty="0">
                <a:effectLst/>
                <a:latin typeface="-apple-system"/>
              </a:rPr>
              <a:t>aggressively</a:t>
            </a:r>
            <a:r>
              <a:rPr lang="en-US" altLang="zh-CN" sz="2000" b="0" i="0" dirty="0">
                <a:effectLst/>
                <a:latin typeface="-apple-system"/>
              </a:rPr>
              <a:t> to </a:t>
            </a:r>
            <a:r>
              <a:rPr lang="en-US" altLang="zh-CN" sz="2000" b="1" i="0" dirty="0">
                <a:effectLst/>
                <a:latin typeface="-apple-system"/>
              </a:rPr>
              <a:t>eradicate</a:t>
            </a:r>
            <a:r>
              <a:rPr lang="en-US" altLang="zh-CN" sz="2000" b="0" i="0" dirty="0">
                <a:effectLst/>
                <a:latin typeface="-apple-system"/>
              </a:rPr>
              <a:t> the disease.</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86600" y="779412"/>
            <a:ext cx="3879850" cy="4708981"/>
          </a:xfrm>
          <a:prstGeom prst="rect">
            <a:avLst/>
          </a:prstGeom>
          <a:noFill/>
        </p:spPr>
        <p:txBody>
          <a:bodyPr wrap="square" rtlCol="0">
            <a:spAutoFit/>
          </a:bodyPr>
          <a:lstStyle/>
          <a:p>
            <a:r>
              <a:rPr lang="en-US" altLang="zh-CN" sz="2000" b="0" i="0" dirty="0">
                <a:effectLst/>
                <a:latin typeface="-apple-system"/>
              </a:rPr>
              <a:t>successful	</a:t>
            </a:r>
            <a:r>
              <a:rPr lang="en-US" altLang="zh-CN" sz="2000" b="0" i="0" dirty="0">
                <a:solidFill>
                  <a:srgbClr val="F35C70"/>
                </a:solidFill>
                <a:effectLst/>
                <a:latin typeface="-apple-system"/>
              </a:rPr>
              <a:t>fruitful</a:t>
            </a:r>
          </a:p>
          <a:p>
            <a:r>
              <a:rPr lang="en-US" altLang="zh-CN" sz="2000" b="0" i="0" dirty="0">
                <a:effectLst/>
                <a:latin typeface="-apple-system"/>
              </a:rPr>
              <a:t>Infectious</a:t>
            </a:r>
            <a:r>
              <a:rPr lang="en-US" altLang="zh-CN" sz="2000" dirty="0">
                <a:solidFill>
                  <a:srgbClr val="F35C70"/>
                </a:solidFill>
                <a:latin typeface="-apple-system"/>
              </a:rPr>
              <a:t>	</a:t>
            </a:r>
            <a:r>
              <a:rPr lang="en-US" altLang="zh-CN" sz="2000" b="0" i="0" dirty="0">
                <a:solidFill>
                  <a:srgbClr val="F35C70"/>
                </a:solidFill>
                <a:effectLst/>
                <a:latin typeface="-apple-system"/>
              </a:rPr>
              <a:t>contagious</a:t>
            </a:r>
            <a:endParaRPr lang="en-US" altLang="zh-CN" sz="2000" dirty="0">
              <a:solidFill>
                <a:srgbClr val="F35C70"/>
              </a:solidFill>
              <a:latin typeface="-apple-system"/>
            </a:endParaRPr>
          </a:p>
          <a:p>
            <a:r>
              <a:rPr lang="en-US" altLang="zh-CN" sz="2000" b="0" i="0" dirty="0">
                <a:effectLst/>
                <a:latin typeface="-apple-system"/>
              </a:rPr>
              <a:t>Epidemic</a:t>
            </a:r>
            <a:r>
              <a:rPr lang="en-US" altLang="zh-CN" sz="2000" b="0" i="0" dirty="0">
                <a:solidFill>
                  <a:srgbClr val="F35C70"/>
                </a:solidFill>
                <a:effectLst/>
                <a:latin typeface="-apple-system"/>
              </a:rPr>
              <a:t>	plague</a:t>
            </a:r>
          </a:p>
          <a:p>
            <a:r>
              <a:rPr lang="en-US" altLang="zh-CN" sz="2000" b="0" i="0" dirty="0">
                <a:effectLst/>
                <a:latin typeface="-apple-system"/>
              </a:rPr>
              <a:t>Sustain		</a:t>
            </a:r>
            <a:r>
              <a:rPr lang="en-US" altLang="zh-CN" sz="2000" b="0" i="0" dirty="0">
                <a:solidFill>
                  <a:srgbClr val="F35C70"/>
                </a:solidFill>
                <a:effectLst/>
                <a:latin typeface="-apple-system"/>
              </a:rPr>
              <a:t>maintain</a:t>
            </a:r>
          </a:p>
          <a:p>
            <a:r>
              <a:rPr lang="en-US" altLang="zh-CN" sz="2000" b="0" i="0" dirty="0">
                <a:effectLst/>
                <a:latin typeface="-apple-system"/>
              </a:rPr>
              <a:t>Hygiene</a:t>
            </a:r>
            <a:r>
              <a:rPr lang="en-US" altLang="zh-CN" sz="2000" dirty="0">
                <a:solidFill>
                  <a:srgbClr val="F35C70"/>
                </a:solidFill>
                <a:latin typeface="-apple-system"/>
              </a:rPr>
              <a:t>		</a:t>
            </a:r>
            <a:r>
              <a:rPr lang="en-US" altLang="zh-CN" sz="2000" b="0" i="0" dirty="0">
                <a:solidFill>
                  <a:srgbClr val="F35C70"/>
                </a:solidFill>
                <a:effectLst/>
                <a:latin typeface="-apple-system"/>
              </a:rPr>
              <a:t>sanitation</a:t>
            </a:r>
            <a:endParaRPr lang="en-US" altLang="zh-CN" sz="2000" dirty="0">
              <a:solidFill>
                <a:srgbClr val="F35C70"/>
              </a:solidFill>
              <a:latin typeface="-apple-system"/>
            </a:endParaRPr>
          </a:p>
          <a:p>
            <a:r>
              <a:rPr lang="en-US" altLang="zh-CN" sz="2000" b="0" i="0" dirty="0">
                <a:effectLst/>
                <a:latin typeface="-apple-system"/>
              </a:rPr>
              <a:t>Dangerous</a:t>
            </a:r>
            <a:r>
              <a:rPr lang="en-US" altLang="zh-CN" sz="2000" b="0" i="0" dirty="0">
                <a:solidFill>
                  <a:srgbClr val="F35C70"/>
                </a:solidFill>
                <a:effectLst/>
                <a:latin typeface="-apple-system"/>
              </a:rPr>
              <a:t>	risky</a:t>
            </a:r>
          </a:p>
          <a:p>
            <a:r>
              <a:rPr lang="en-US" altLang="zh-CN" sz="2000" b="0" i="0" dirty="0">
                <a:effectLst/>
                <a:latin typeface="-apple-system"/>
              </a:rPr>
              <a:t>Acute		</a:t>
            </a:r>
            <a:r>
              <a:rPr lang="en-US" altLang="zh-CN" sz="2000" b="0" i="0" dirty="0">
                <a:solidFill>
                  <a:srgbClr val="F35C70"/>
                </a:solidFill>
                <a:effectLst/>
                <a:latin typeface="-apple-system"/>
              </a:rPr>
              <a:t>serious</a:t>
            </a:r>
          </a:p>
          <a:p>
            <a:r>
              <a:rPr lang="en-US" altLang="zh-CN" sz="2000" b="0" i="0" dirty="0">
                <a:effectLst/>
                <a:latin typeface="-apple-system"/>
              </a:rPr>
              <a:t>Still		</a:t>
            </a:r>
            <a:r>
              <a:rPr lang="en-US" altLang="zh-CN" sz="2000" b="0" i="0" dirty="0">
                <a:solidFill>
                  <a:srgbClr val="F35C70"/>
                </a:solidFill>
                <a:effectLst/>
                <a:latin typeface="-apple-system"/>
              </a:rPr>
              <a:t>Nonetheless</a:t>
            </a:r>
          </a:p>
          <a:p>
            <a:r>
              <a:rPr lang="en-US" altLang="zh-CN" sz="2000" b="0" i="0" dirty="0">
                <a:effectLst/>
                <a:latin typeface="-apple-system"/>
              </a:rPr>
              <a:t>Faced		</a:t>
            </a:r>
            <a:r>
              <a:rPr lang="en-US" altLang="zh-CN" sz="2000" b="0" i="0" dirty="0">
                <a:solidFill>
                  <a:srgbClr val="F35C70"/>
                </a:solidFill>
                <a:effectLst/>
                <a:latin typeface="-apple-system"/>
              </a:rPr>
              <a:t>confronted</a:t>
            </a:r>
          </a:p>
          <a:p>
            <a:r>
              <a:rPr lang="en-US" altLang="zh-CN" sz="2000" b="0" i="0" dirty="0">
                <a:effectLst/>
                <a:latin typeface="-apple-system"/>
              </a:rPr>
              <a:t>Outbreak</a:t>
            </a:r>
            <a:r>
              <a:rPr lang="en-US" altLang="zh-CN" sz="2000" dirty="0">
                <a:solidFill>
                  <a:srgbClr val="F35C70"/>
                </a:solidFill>
                <a:latin typeface="-apple-system"/>
              </a:rPr>
              <a:t>	</a:t>
            </a:r>
            <a:r>
              <a:rPr lang="en-US" altLang="zh-CN" sz="2000" b="0" i="0" dirty="0">
                <a:solidFill>
                  <a:srgbClr val="F35C70"/>
                </a:solidFill>
                <a:effectLst/>
                <a:latin typeface="-apple-system"/>
              </a:rPr>
              <a:t>eruption</a:t>
            </a:r>
          </a:p>
          <a:p>
            <a:r>
              <a:rPr lang="en-US" altLang="zh-CN" sz="2000" b="0" i="0" dirty="0">
                <a:effectLst/>
                <a:latin typeface="-apple-system"/>
              </a:rPr>
              <a:t>Medication</a:t>
            </a:r>
            <a:r>
              <a:rPr lang="en-US" altLang="zh-CN" sz="2000" dirty="0">
                <a:solidFill>
                  <a:srgbClr val="F35C70"/>
                </a:solidFill>
                <a:latin typeface="-apple-system"/>
              </a:rPr>
              <a:t>	</a:t>
            </a:r>
            <a:r>
              <a:rPr lang="en-US" altLang="zh-CN" sz="2000" b="0" i="0" dirty="0">
                <a:solidFill>
                  <a:srgbClr val="F35C70"/>
                </a:solidFill>
                <a:effectLst/>
                <a:latin typeface="-apple-system"/>
              </a:rPr>
              <a:t>remedy</a:t>
            </a:r>
            <a:endParaRPr lang="en-US" altLang="zh-CN" sz="2000" dirty="0">
              <a:solidFill>
                <a:srgbClr val="F35C70"/>
              </a:solidFill>
              <a:latin typeface="-apple-system"/>
            </a:endParaRPr>
          </a:p>
          <a:p>
            <a:r>
              <a:rPr lang="en-US" altLang="zh-CN" sz="2000" b="0" i="0" dirty="0">
                <a:effectLst/>
                <a:latin typeface="-apple-system"/>
              </a:rPr>
              <a:t>Immunity</a:t>
            </a:r>
            <a:r>
              <a:rPr lang="en-US" altLang="zh-CN" sz="2000" b="0" i="0" dirty="0">
                <a:solidFill>
                  <a:srgbClr val="F35C70"/>
                </a:solidFill>
                <a:effectLst/>
                <a:latin typeface="-apple-system"/>
              </a:rPr>
              <a:t>	resistance</a:t>
            </a:r>
          </a:p>
          <a:p>
            <a:r>
              <a:rPr lang="en-US" altLang="zh-CN" sz="2000" b="0" i="0" dirty="0">
                <a:effectLst/>
                <a:latin typeface="-apple-system"/>
              </a:rPr>
              <a:t>Long		</a:t>
            </a:r>
            <a:r>
              <a:rPr lang="en-US" altLang="zh-CN" sz="2000" b="0" i="0" dirty="0">
                <a:solidFill>
                  <a:srgbClr val="F35C70"/>
                </a:solidFill>
                <a:effectLst/>
                <a:latin typeface="-apple-system"/>
              </a:rPr>
              <a:t>considerable</a:t>
            </a:r>
          </a:p>
          <a:p>
            <a:r>
              <a:rPr lang="en-US" altLang="zh-CN" sz="2000" b="0" i="0" dirty="0">
                <a:effectLst/>
                <a:latin typeface="-apple-system"/>
              </a:rPr>
              <a:t>Aggressively</a:t>
            </a:r>
            <a:r>
              <a:rPr lang="en-US" altLang="zh-CN" sz="2000" dirty="0">
                <a:solidFill>
                  <a:srgbClr val="F35C70"/>
                </a:solidFill>
                <a:latin typeface="-apple-system"/>
              </a:rPr>
              <a:t>	</a:t>
            </a:r>
            <a:r>
              <a:rPr lang="en-US" altLang="zh-CN" sz="2000" b="0" i="0" dirty="0">
                <a:solidFill>
                  <a:srgbClr val="F35C70"/>
                </a:solidFill>
                <a:effectLst/>
                <a:latin typeface="-apple-system"/>
              </a:rPr>
              <a:t>vigorously</a:t>
            </a:r>
            <a:endParaRPr lang="en-US" altLang="zh-CN" sz="2000" dirty="0">
              <a:solidFill>
                <a:srgbClr val="F35C70"/>
              </a:solidFill>
              <a:latin typeface="-apple-system"/>
            </a:endParaRPr>
          </a:p>
          <a:p>
            <a:r>
              <a:rPr lang="en-US" altLang="zh-CN" sz="2000" b="0" i="0" dirty="0">
                <a:effectLst/>
                <a:latin typeface="-apple-system"/>
              </a:rPr>
              <a:t>Eradicate	</a:t>
            </a:r>
            <a:r>
              <a:rPr lang="en-US" altLang="zh-CN" sz="2000" b="0" i="0" dirty="0">
                <a:solidFill>
                  <a:srgbClr val="F35C70"/>
                </a:solidFill>
                <a:effectLst/>
                <a:latin typeface="-apple-system"/>
              </a:rPr>
              <a:t>get rid of</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3A</a:t>
            </a:r>
            <a:endParaRPr lang="zh-CN" altLang="en-US" dirty="0"/>
          </a:p>
        </p:txBody>
      </p:sp>
    </p:spTree>
    <p:extLst>
      <p:ext uri="{BB962C8B-B14F-4D97-AF65-F5344CB8AC3E}">
        <p14:creationId xmlns:p14="http://schemas.microsoft.com/office/powerpoint/2010/main" val="2814959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98303" y="562261"/>
            <a:ext cx="6603942" cy="4893647"/>
          </a:xfrm>
          <a:prstGeom prst="rect">
            <a:avLst/>
          </a:prstGeom>
          <a:noFill/>
        </p:spPr>
        <p:txBody>
          <a:bodyPr wrap="square" rtlCol="0">
            <a:spAutoFit/>
          </a:bodyPr>
          <a:lstStyle/>
          <a:p>
            <a:pPr algn="just"/>
            <a:r>
              <a:rPr lang="en-US" altLang="zh-CN" sz="2400" b="0" i="0" dirty="0">
                <a:effectLst/>
                <a:latin typeface="-apple-system"/>
              </a:rPr>
              <a:t>To be </a:t>
            </a:r>
            <a:r>
              <a:rPr lang="en-US" altLang="zh-CN" sz="2400" b="1" i="0" dirty="0">
                <a:effectLst/>
                <a:latin typeface="-apple-system"/>
              </a:rPr>
              <a:t>successful,</a:t>
            </a:r>
            <a:r>
              <a:rPr lang="en-US" altLang="zh-CN" sz="2400" b="0" i="0" dirty="0">
                <a:effectLst/>
                <a:latin typeface="-apple-system"/>
              </a:rPr>
              <a:t> public health programs for the elderly must focus on both the prevention and treatment of </a:t>
            </a:r>
            <a:r>
              <a:rPr lang="en-US" altLang="zh-CN" sz="2400" b="1" i="0" dirty="0">
                <a:effectLst/>
                <a:latin typeface="-apple-system"/>
              </a:rPr>
              <a:t>infectious</a:t>
            </a:r>
            <a:r>
              <a:rPr lang="en-US" altLang="zh-CN" sz="2400" b="0" i="0" dirty="0">
                <a:effectLst/>
                <a:latin typeface="-apple-system"/>
              </a:rPr>
              <a:t> </a:t>
            </a:r>
            <a:r>
              <a:rPr lang="en-US" altLang="zh-CN" sz="2400" b="1" i="0" dirty="0">
                <a:effectLst/>
                <a:latin typeface="-apple-system"/>
              </a:rPr>
              <a:t>epidemic</a:t>
            </a:r>
            <a:r>
              <a:rPr lang="en-US" altLang="zh-CN" sz="2400" b="0" i="0" dirty="0">
                <a:effectLst/>
                <a:latin typeface="-apple-system"/>
              </a:rPr>
              <a:t> diseases. In order to </a:t>
            </a:r>
            <a:r>
              <a:rPr lang="en-US" altLang="zh-CN" sz="2400" b="1" i="0" dirty="0">
                <a:effectLst/>
                <a:latin typeface="-apple-system"/>
              </a:rPr>
              <a:t>sustain </a:t>
            </a:r>
            <a:r>
              <a:rPr lang="en-US" altLang="zh-CN" sz="2400" b="0" i="0" dirty="0">
                <a:effectLst/>
                <a:latin typeface="-apple-system"/>
              </a:rPr>
              <a:t>the health of a community, agencies must ensure that the </a:t>
            </a:r>
            <a:r>
              <a:rPr lang="en-US" altLang="zh-CN" sz="2400" b="1" i="0" dirty="0">
                <a:effectLst/>
                <a:latin typeface="-apple-system"/>
              </a:rPr>
              <a:t>hygiene</a:t>
            </a:r>
            <a:r>
              <a:rPr lang="en-US" altLang="zh-CN" sz="2400" b="0" i="0" dirty="0">
                <a:effectLst/>
                <a:latin typeface="-apple-system"/>
              </a:rPr>
              <a:t> of public facilities is maintained, </a:t>
            </a:r>
            <a:r>
              <a:rPr lang="en-US" altLang="zh-CN" sz="2400" b="1" i="0" dirty="0">
                <a:effectLst/>
                <a:latin typeface="-apple-system"/>
              </a:rPr>
              <a:t>dangerous</a:t>
            </a:r>
            <a:r>
              <a:rPr lang="en-US" altLang="zh-CN" sz="2400" b="0" i="0" dirty="0">
                <a:effectLst/>
                <a:latin typeface="-apple-system"/>
              </a:rPr>
              <a:t> housing conditions are prevented, and </a:t>
            </a:r>
            <a:r>
              <a:rPr lang="en-US" altLang="zh-CN" sz="2400" b="1" i="0" dirty="0">
                <a:effectLst/>
                <a:latin typeface="-apple-system"/>
              </a:rPr>
              <a:t>acute</a:t>
            </a:r>
            <a:r>
              <a:rPr lang="en-US" altLang="zh-CN" sz="2400" b="0" i="0" dirty="0">
                <a:effectLst/>
                <a:latin typeface="-apple-system"/>
              </a:rPr>
              <a:t> diseases are not spread. </a:t>
            </a:r>
            <a:r>
              <a:rPr lang="en-US" altLang="zh-CN" sz="2400" b="1" i="0" dirty="0">
                <a:effectLst/>
                <a:latin typeface="-apple-system"/>
              </a:rPr>
              <a:t>Still,</a:t>
            </a:r>
            <a:r>
              <a:rPr lang="en-US" altLang="zh-CN" sz="2400" b="0" i="0" dirty="0">
                <a:effectLst/>
                <a:latin typeface="-apple-system"/>
              </a:rPr>
              <a:t> if </a:t>
            </a:r>
            <a:r>
              <a:rPr lang="en-US" altLang="zh-CN" sz="2400" b="1" i="0" dirty="0">
                <a:effectLst/>
                <a:latin typeface="-apple-system"/>
              </a:rPr>
              <a:t>faced</a:t>
            </a:r>
            <a:r>
              <a:rPr lang="en-US" altLang="zh-CN" sz="2400" b="0" i="0" dirty="0">
                <a:effectLst/>
                <a:latin typeface="-apple-system"/>
              </a:rPr>
              <a:t> with a serious </a:t>
            </a:r>
            <a:r>
              <a:rPr lang="en-US" altLang="zh-CN" sz="2400" b="1" i="0" dirty="0">
                <a:effectLst/>
                <a:latin typeface="-apple-system"/>
              </a:rPr>
              <a:t>outbreak,</a:t>
            </a:r>
            <a:r>
              <a:rPr lang="en-US" altLang="zh-CN" sz="2400" b="0" i="0" dirty="0">
                <a:effectLst/>
                <a:latin typeface="-apple-system"/>
              </a:rPr>
              <a:t> other agencies need to be on hand to treat victims, dispense </a:t>
            </a:r>
            <a:r>
              <a:rPr lang="en-US" altLang="zh-CN" sz="2400" b="1" i="0" dirty="0">
                <a:effectLst/>
                <a:latin typeface="-apple-system"/>
              </a:rPr>
              <a:t>medication,</a:t>
            </a:r>
            <a:r>
              <a:rPr lang="en-US" altLang="zh-CN" sz="2400" b="0" i="0" dirty="0">
                <a:effectLst/>
                <a:latin typeface="-apple-system"/>
              </a:rPr>
              <a:t> and vaccinate others to give them </a:t>
            </a:r>
            <a:r>
              <a:rPr lang="en-US" altLang="zh-CN" sz="2400" b="1" i="0" dirty="0">
                <a:effectLst/>
                <a:latin typeface="-apple-system"/>
              </a:rPr>
              <a:t>immunity.</a:t>
            </a:r>
            <a:r>
              <a:rPr lang="en-US" altLang="zh-CN" sz="2400" b="0" i="0" dirty="0">
                <a:effectLst/>
                <a:latin typeface="-apple-system"/>
              </a:rPr>
              <a:t> Health workers would need to be prepare to work </a:t>
            </a:r>
            <a:r>
              <a:rPr lang="en-US" altLang="zh-CN" sz="2400" b="1" i="0" dirty="0">
                <a:effectLst/>
                <a:latin typeface="-apple-system"/>
              </a:rPr>
              <a:t>long</a:t>
            </a:r>
            <a:r>
              <a:rPr lang="en-US" altLang="zh-CN" sz="2400" b="0" i="0" dirty="0">
                <a:effectLst/>
                <a:latin typeface="-apple-system"/>
              </a:rPr>
              <a:t> hours and treat patients </a:t>
            </a:r>
            <a:r>
              <a:rPr lang="en-US" altLang="zh-CN" sz="2400" b="1" i="0" dirty="0">
                <a:effectLst/>
                <a:latin typeface="-apple-system"/>
              </a:rPr>
              <a:t>aggressively</a:t>
            </a:r>
            <a:r>
              <a:rPr lang="en-US" altLang="zh-CN" sz="2400" b="0" i="0" dirty="0">
                <a:effectLst/>
                <a:latin typeface="-apple-system"/>
              </a:rPr>
              <a:t> to </a:t>
            </a:r>
            <a:r>
              <a:rPr lang="en-US" altLang="zh-CN" sz="2400" b="1" i="0" dirty="0">
                <a:effectLst/>
                <a:latin typeface="-apple-system"/>
              </a:rPr>
              <a:t>eradicate</a:t>
            </a:r>
            <a:r>
              <a:rPr lang="en-US" altLang="zh-CN" sz="2400" b="0" i="0" dirty="0">
                <a:effectLst/>
                <a:latin typeface="-apple-system"/>
              </a:rPr>
              <a:t> the disease.</a:t>
            </a:r>
            <a:r>
              <a:rPr lang="zh-CN" altLang="en-US" sz="2400" dirty="0">
                <a:latin typeface="-apple-system"/>
              </a:rPr>
              <a:t> </a:t>
            </a:r>
            <a:endParaRPr lang="en-US" altLang="zh-CN" sz="2400" b="0" i="0" dirty="0">
              <a:effectLst/>
              <a:latin typeface="-apple-system"/>
            </a:endParaRPr>
          </a:p>
        </p:txBody>
      </p:sp>
      <p:sp>
        <p:nvSpPr>
          <p:cNvPr id="5" name="文本框 4">
            <a:extLst>
              <a:ext uri="{FF2B5EF4-FFF2-40B4-BE49-F238E27FC236}">
                <a16:creationId xmlns:a16="http://schemas.microsoft.com/office/drawing/2014/main" id="{CB289E3A-941A-01E5-C04B-2510F1CB3EAF}"/>
              </a:ext>
            </a:extLst>
          </p:cNvPr>
          <p:cNvSpPr txBox="1"/>
          <p:nvPr/>
        </p:nvSpPr>
        <p:spPr>
          <a:xfrm>
            <a:off x="7086599" y="779412"/>
            <a:ext cx="4855059" cy="4770537"/>
          </a:xfrm>
          <a:prstGeom prst="rect">
            <a:avLst/>
          </a:prstGeom>
          <a:noFill/>
        </p:spPr>
        <p:txBody>
          <a:bodyPr wrap="square" rtlCol="0">
            <a:spAutoFit/>
          </a:bodyPr>
          <a:lstStyle/>
          <a:p>
            <a:r>
              <a:rPr lang="en-US" altLang="zh-CN" sz="2000" b="0" i="0" dirty="0">
                <a:effectLst/>
                <a:latin typeface="-apple-system"/>
              </a:rPr>
              <a:t>successful	</a:t>
            </a:r>
            <a:r>
              <a:rPr lang="zh-CN" altLang="en-US" sz="2000" dirty="0">
                <a:latin typeface="-apple-system"/>
              </a:rPr>
              <a:t>成功</a:t>
            </a:r>
            <a:r>
              <a:rPr lang="en-US" altLang="zh-CN" sz="2000" b="0" i="0" dirty="0">
                <a:effectLst/>
                <a:latin typeface="-apple-system"/>
              </a:rPr>
              <a:t>	</a:t>
            </a:r>
            <a:r>
              <a:rPr lang="en-US" altLang="zh-CN" sz="2000" b="0" i="0" dirty="0">
                <a:solidFill>
                  <a:srgbClr val="F35C70"/>
                </a:solidFill>
                <a:effectLst/>
                <a:latin typeface="-apple-system"/>
              </a:rPr>
              <a:t>fruitful</a:t>
            </a:r>
          </a:p>
          <a:p>
            <a:r>
              <a:rPr lang="en-US" altLang="zh-CN" sz="2000" b="0" i="0" dirty="0">
                <a:effectLst/>
                <a:latin typeface="-apple-system"/>
              </a:rPr>
              <a:t>Infectious</a:t>
            </a:r>
            <a:r>
              <a:rPr lang="en-US" altLang="zh-CN" sz="2000" dirty="0">
                <a:solidFill>
                  <a:srgbClr val="F35C70"/>
                </a:solidFill>
                <a:latin typeface="-apple-system"/>
              </a:rPr>
              <a:t>	</a:t>
            </a:r>
            <a:r>
              <a:rPr lang="zh-CN" altLang="en-US" sz="2000" dirty="0">
                <a:latin typeface="-apple-system"/>
              </a:rPr>
              <a:t>传染性</a:t>
            </a:r>
            <a:r>
              <a:rPr lang="en-US" altLang="zh-CN" sz="2000" dirty="0">
                <a:solidFill>
                  <a:srgbClr val="F35C70"/>
                </a:solidFill>
                <a:latin typeface="-apple-system"/>
              </a:rPr>
              <a:t>	</a:t>
            </a:r>
            <a:r>
              <a:rPr lang="en-US" altLang="zh-CN" sz="2000" b="0" i="0" dirty="0">
                <a:solidFill>
                  <a:srgbClr val="F35C70"/>
                </a:solidFill>
                <a:effectLst/>
                <a:latin typeface="-apple-system"/>
              </a:rPr>
              <a:t>contagious</a:t>
            </a:r>
            <a:endParaRPr lang="en-US" altLang="zh-CN" sz="2000" dirty="0">
              <a:solidFill>
                <a:srgbClr val="F35C70"/>
              </a:solidFill>
              <a:latin typeface="-apple-system"/>
            </a:endParaRPr>
          </a:p>
          <a:p>
            <a:r>
              <a:rPr lang="en-US" altLang="zh-CN" sz="2000" b="0" i="0" dirty="0">
                <a:effectLst/>
                <a:latin typeface="-apple-system"/>
              </a:rPr>
              <a:t>Epidemic</a:t>
            </a:r>
            <a:r>
              <a:rPr lang="en-US" altLang="zh-CN" sz="2000" b="0" i="0" dirty="0">
                <a:solidFill>
                  <a:srgbClr val="F35C70"/>
                </a:solidFill>
                <a:effectLst/>
                <a:latin typeface="-apple-system"/>
              </a:rPr>
              <a:t>	</a:t>
            </a:r>
            <a:r>
              <a:rPr lang="zh-CN" altLang="en-US" sz="2000" dirty="0">
                <a:latin typeface="-apple-system"/>
              </a:rPr>
              <a:t>鼠疫</a:t>
            </a:r>
            <a:r>
              <a:rPr lang="en-US" altLang="zh-CN" sz="2000" b="0" i="0" dirty="0">
                <a:solidFill>
                  <a:srgbClr val="F35C70"/>
                </a:solidFill>
                <a:effectLst/>
                <a:latin typeface="-apple-system"/>
              </a:rPr>
              <a:t>	plague</a:t>
            </a:r>
          </a:p>
          <a:p>
            <a:r>
              <a:rPr lang="en-US" altLang="zh-CN" sz="2000" b="0" i="0" dirty="0">
                <a:effectLst/>
                <a:latin typeface="-apple-system"/>
              </a:rPr>
              <a:t>Sustain		</a:t>
            </a:r>
            <a:r>
              <a:rPr lang="zh-CN" altLang="en-US" sz="2000" dirty="0">
                <a:latin typeface="-apple-system"/>
              </a:rPr>
              <a:t>维持</a:t>
            </a:r>
            <a:r>
              <a:rPr lang="en-US" altLang="zh-CN" sz="2000" b="0" i="0" dirty="0">
                <a:effectLst/>
                <a:latin typeface="-apple-system"/>
              </a:rPr>
              <a:t>	</a:t>
            </a:r>
            <a:r>
              <a:rPr lang="en-US" altLang="zh-CN" sz="2000" b="0" i="0" dirty="0">
                <a:solidFill>
                  <a:srgbClr val="F35C70"/>
                </a:solidFill>
                <a:effectLst/>
                <a:latin typeface="-apple-system"/>
              </a:rPr>
              <a:t>maintain</a:t>
            </a:r>
          </a:p>
          <a:p>
            <a:r>
              <a:rPr lang="en-US" altLang="zh-CN" sz="2000" b="0" i="0" dirty="0">
                <a:effectLst/>
                <a:latin typeface="-apple-system"/>
              </a:rPr>
              <a:t>Hygiene</a:t>
            </a:r>
            <a:r>
              <a:rPr lang="en-US" altLang="zh-CN" sz="2000" dirty="0">
                <a:solidFill>
                  <a:srgbClr val="F35C70"/>
                </a:solidFill>
                <a:latin typeface="-apple-system"/>
              </a:rPr>
              <a:t>	           </a:t>
            </a:r>
            <a:r>
              <a:rPr lang="zh-CN" altLang="en-US" sz="2000" dirty="0">
                <a:latin typeface="-apple-system"/>
              </a:rPr>
              <a:t>个人卫生 </a:t>
            </a:r>
            <a:r>
              <a:rPr lang="en-US" altLang="zh-CN" sz="2000" dirty="0">
                <a:solidFill>
                  <a:srgbClr val="F35C70"/>
                </a:solidFill>
                <a:latin typeface="-apple-system"/>
              </a:rPr>
              <a:t>	</a:t>
            </a:r>
            <a:r>
              <a:rPr lang="en-US" altLang="zh-CN" sz="2000" b="0" i="0" dirty="0">
                <a:solidFill>
                  <a:srgbClr val="F35C70"/>
                </a:solidFill>
                <a:effectLst/>
                <a:latin typeface="-apple-system"/>
              </a:rPr>
              <a:t>sanitation</a:t>
            </a:r>
            <a:endParaRPr lang="en-US" altLang="zh-CN" sz="2000" dirty="0">
              <a:solidFill>
                <a:srgbClr val="F35C70"/>
              </a:solidFill>
              <a:latin typeface="-apple-system"/>
            </a:endParaRPr>
          </a:p>
          <a:p>
            <a:r>
              <a:rPr lang="en-US" altLang="zh-CN" sz="2000" b="0" i="0" dirty="0">
                <a:effectLst/>
                <a:latin typeface="-apple-system"/>
              </a:rPr>
              <a:t>Dangerous</a:t>
            </a:r>
            <a:r>
              <a:rPr lang="en-US" altLang="zh-CN" sz="2000" b="0" i="0" dirty="0">
                <a:solidFill>
                  <a:srgbClr val="F35C70"/>
                </a:solidFill>
                <a:effectLst/>
                <a:latin typeface="-apple-system"/>
              </a:rPr>
              <a:t>	</a:t>
            </a:r>
            <a:r>
              <a:rPr lang="zh-CN" altLang="en-US" sz="2000" dirty="0">
                <a:latin typeface="-apple-system"/>
              </a:rPr>
              <a:t>危险</a:t>
            </a:r>
            <a:r>
              <a:rPr lang="en-US" altLang="zh-CN" sz="2000" b="0" i="0" dirty="0">
                <a:solidFill>
                  <a:srgbClr val="F35C70"/>
                </a:solidFill>
                <a:effectLst/>
                <a:latin typeface="-apple-system"/>
              </a:rPr>
              <a:t>	risky</a:t>
            </a:r>
          </a:p>
          <a:p>
            <a:r>
              <a:rPr lang="en-US" altLang="zh-CN" sz="2000" b="0" i="0" dirty="0">
                <a:effectLst/>
                <a:latin typeface="-apple-system"/>
              </a:rPr>
              <a:t>Acute		</a:t>
            </a:r>
            <a:r>
              <a:rPr lang="zh-CN" altLang="en-US" sz="2000" dirty="0">
                <a:latin typeface="-apple-system"/>
              </a:rPr>
              <a:t>急性</a:t>
            </a:r>
            <a:r>
              <a:rPr lang="en-US" altLang="zh-CN" sz="2000" b="0" i="0" dirty="0">
                <a:effectLst/>
                <a:latin typeface="-apple-system"/>
              </a:rPr>
              <a:t>	</a:t>
            </a:r>
            <a:r>
              <a:rPr lang="en-US" altLang="zh-CN" sz="2000" b="0" i="0" dirty="0">
                <a:solidFill>
                  <a:srgbClr val="F35C70"/>
                </a:solidFill>
                <a:effectLst/>
                <a:latin typeface="-apple-system"/>
              </a:rPr>
              <a:t>serious</a:t>
            </a:r>
          </a:p>
          <a:p>
            <a:r>
              <a:rPr lang="en-US" altLang="zh-CN" sz="2000" b="0" i="0" dirty="0">
                <a:effectLst/>
                <a:latin typeface="-apple-system"/>
              </a:rPr>
              <a:t>Still	         </a:t>
            </a:r>
            <a:r>
              <a:rPr lang="zh-CN" altLang="en-US" sz="2000" dirty="0">
                <a:latin typeface="-apple-system"/>
              </a:rPr>
              <a:t>尽管如此</a:t>
            </a:r>
            <a:r>
              <a:rPr lang="en-US" altLang="zh-CN" sz="2000" b="0" i="0" dirty="0">
                <a:effectLst/>
                <a:latin typeface="-apple-system"/>
              </a:rPr>
              <a:t>	</a:t>
            </a:r>
            <a:r>
              <a:rPr lang="en-US" altLang="zh-CN" sz="2000" b="0" i="0" dirty="0">
                <a:solidFill>
                  <a:srgbClr val="F35C70"/>
                </a:solidFill>
                <a:effectLst/>
                <a:latin typeface="-apple-system"/>
              </a:rPr>
              <a:t>Nonetheless</a:t>
            </a:r>
          </a:p>
          <a:p>
            <a:r>
              <a:rPr lang="en-US" altLang="zh-CN" sz="2000" b="0" i="0" dirty="0">
                <a:effectLst/>
                <a:latin typeface="-apple-system"/>
              </a:rPr>
              <a:t>Faced		</a:t>
            </a:r>
            <a:r>
              <a:rPr lang="zh-CN" altLang="en-US" sz="2000" dirty="0">
                <a:latin typeface="-apple-system"/>
              </a:rPr>
              <a:t>面对</a:t>
            </a:r>
            <a:r>
              <a:rPr lang="en-US" altLang="zh-CN" sz="2000" b="0" i="0" dirty="0">
                <a:effectLst/>
                <a:latin typeface="-apple-system"/>
              </a:rPr>
              <a:t>	</a:t>
            </a:r>
            <a:r>
              <a:rPr lang="en-US" altLang="zh-CN" sz="2000" b="0" i="0" dirty="0">
                <a:solidFill>
                  <a:srgbClr val="F35C70"/>
                </a:solidFill>
                <a:effectLst/>
                <a:latin typeface="-apple-system"/>
              </a:rPr>
              <a:t>confronted</a:t>
            </a:r>
          </a:p>
          <a:p>
            <a:r>
              <a:rPr lang="en-US" altLang="zh-CN" sz="2000" b="0" i="0" dirty="0">
                <a:effectLst/>
                <a:latin typeface="-apple-system"/>
              </a:rPr>
              <a:t>Outbreak</a:t>
            </a:r>
            <a:r>
              <a:rPr lang="en-US" altLang="zh-CN" sz="2000" dirty="0">
                <a:solidFill>
                  <a:srgbClr val="F35C70"/>
                </a:solidFill>
                <a:latin typeface="-apple-system"/>
              </a:rPr>
              <a:t>	</a:t>
            </a:r>
            <a:r>
              <a:rPr lang="zh-CN" altLang="en-US" sz="2000" dirty="0">
                <a:latin typeface="-apple-system"/>
              </a:rPr>
              <a:t>爆发</a:t>
            </a:r>
            <a:r>
              <a:rPr lang="en-US" altLang="zh-CN" sz="2000" dirty="0">
                <a:solidFill>
                  <a:srgbClr val="F35C70"/>
                </a:solidFill>
                <a:latin typeface="-apple-system"/>
              </a:rPr>
              <a:t>	</a:t>
            </a:r>
            <a:r>
              <a:rPr lang="en-US" altLang="zh-CN" sz="2000" b="0" i="0" dirty="0">
                <a:solidFill>
                  <a:srgbClr val="F35C70"/>
                </a:solidFill>
                <a:effectLst/>
                <a:latin typeface="-apple-system"/>
              </a:rPr>
              <a:t>eruption</a:t>
            </a:r>
          </a:p>
          <a:p>
            <a:r>
              <a:rPr lang="en-US" altLang="zh-CN" sz="2000" b="0" i="0" dirty="0">
                <a:effectLst/>
                <a:latin typeface="-apple-system"/>
              </a:rPr>
              <a:t>Medication</a:t>
            </a:r>
            <a:r>
              <a:rPr lang="en-US" altLang="zh-CN" sz="2000" b="0" i="0" dirty="0">
                <a:solidFill>
                  <a:srgbClr val="F35C70"/>
                </a:solidFill>
                <a:effectLst/>
                <a:latin typeface="-apple-system"/>
              </a:rPr>
              <a:t>        </a:t>
            </a:r>
            <a:r>
              <a:rPr lang="zh-CN" altLang="en-US" sz="2000" dirty="0">
                <a:latin typeface="-apple-system"/>
              </a:rPr>
              <a:t>药物治疗</a:t>
            </a:r>
            <a:r>
              <a:rPr lang="en-US" altLang="zh-CN" sz="2000" dirty="0">
                <a:solidFill>
                  <a:srgbClr val="F35C70"/>
                </a:solidFill>
                <a:latin typeface="-apple-system"/>
              </a:rPr>
              <a:t>	</a:t>
            </a:r>
            <a:r>
              <a:rPr lang="en-US" altLang="zh-CN" sz="2000" b="0" i="0" dirty="0">
                <a:solidFill>
                  <a:srgbClr val="F35C70"/>
                </a:solidFill>
                <a:effectLst/>
                <a:latin typeface="-apple-system"/>
              </a:rPr>
              <a:t>remedy</a:t>
            </a:r>
            <a:endParaRPr lang="en-US" altLang="zh-CN" sz="2000" dirty="0">
              <a:solidFill>
                <a:srgbClr val="F35C70"/>
              </a:solidFill>
              <a:latin typeface="-apple-system"/>
            </a:endParaRPr>
          </a:p>
          <a:p>
            <a:r>
              <a:rPr lang="en-US" altLang="zh-CN" sz="2000" b="0" i="0" dirty="0">
                <a:effectLst/>
                <a:latin typeface="-apple-system"/>
              </a:rPr>
              <a:t>Immunity</a:t>
            </a:r>
            <a:r>
              <a:rPr lang="en-US" altLang="zh-CN" sz="2000" b="0" i="0" dirty="0">
                <a:solidFill>
                  <a:srgbClr val="F35C70"/>
                </a:solidFill>
                <a:effectLst/>
                <a:latin typeface="-apple-system"/>
              </a:rPr>
              <a:t>	</a:t>
            </a:r>
            <a:r>
              <a:rPr lang="zh-CN" altLang="en-US" sz="2000" dirty="0">
                <a:latin typeface="-apple-system"/>
              </a:rPr>
              <a:t>抗性</a:t>
            </a:r>
            <a:r>
              <a:rPr lang="en-US" altLang="zh-CN" sz="2000" b="0" i="0" dirty="0">
                <a:solidFill>
                  <a:srgbClr val="F35C70"/>
                </a:solidFill>
                <a:effectLst/>
                <a:latin typeface="-apple-system"/>
              </a:rPr>
              <a:t>	resistance</a:t>
            </a:r>
          </a:p>
          <a:p>
            <a:r>
              <a:rPr lang="en-US" altLang="zh-CN" sz="2000" b="0" i="0" dirty="0">
                <a:effectLst/>
                <a:latin typeface="-apple-system"/>
              </a:rPr>
              <a:t>Long	           </a:t>
            </a:r>
            <a:r>
              <a:rPr lang="zh-CN" altLang="en-US" sz="2000" dirty="0">
                <a:latin typeface="-apple-system"/>
              </a:rPr>
              <a:t>相当可观</a:t>
            </a:r>
            <a:r>
              <a:rPr lang="en-US" altLang="zh-CN" sz="2000" b="0" i="0" dirty="0">
                <a:effectLst/>
                <a:latin typeface="-apple-system"/>
              </a:rPr>
              <a:t>	</a:t>
            </a:r>
            <a:r>
              <a:rPr lang="en-US" altLang="zh-CN" sz="2000" b="0" i="0" dirty="0">
                <a:solidFill>
                  <a:srgbClr val="F35C70"/>
                </a:solidFill>
                <a:effectLst/>
                <a:latin typeface="-apple-system"/>
              </a:rPr>
              <a:t>considerable</a:t>
            </a:r>
          </a:p>
          <a:p>
            <a:r>
              <a:rPr lang="en-US" altLang="zh-CN" sz="2000" b="0" i="0" dirty="0">
                <a:effectLst/>
                <a:latin typeface="-apple-system"/>
              </a:rPr>
              <a:t>Aggressively</a:t>
            </a:r>
            <a:r>
              <a:rPr lang="en-US" altLang="zh-CN" sz="2000" b="0" i="0" dirty="0">
                <a:solidFill>
                  <a:srgbClr val="F35C70"/>
                </a:solidFill>
                <a:effectLst/>
                <a:latin typeface="-apple-system"/>
              </a:rPr>
              <a:t>       </a:t>
            </a:r>
            <a:r>
              <a:rPr lang="zh-CN" altLang="en-US" sz="2000" dirty="0">
                <a:latin typeface="-apple-system"/>
              </a:rPr>
              <a:t>积极进取</a:t>
            </a:r>
            <a:r>
              <a:rPr lang="en-US" altLang="zh-CN" sz="2000" dirty="0">
                <a:solidFill>
                  <a:srgbClr val="F35C70"/>
                </a:solidFill>
                <a:latin typeface="-apple-system"/>
              </a:rPr>
              <a:t>	</a:t>
            </a:r>
            <a:r>
              <a:rPr lang="en-US" altLang="zh-CN" sz="2000" b="0" i="0" dirty="0">
                <a:solidFill>
                  <a:srgbClr val="F35C70"/>
                </a:solidFill>
                <a:effectLst/>
                <a:latin typeface="-apple-system"/>
              </a:rPr>
              <a:t>vigorously</a:t>
            </a:r>
            <a:endParaRPr lang="en-US" altLang="zh-CN" sz="2000" dirty="0">
              <a:solidFill>
                <a:srgbClr val="F35C70"/>
              </a:solidFill>
              <a:latin typeface="-apple-system"/>
            </a:endParaRPr>
          </a:p>
          <a:p>
            <a:r>
              <a:rPr lang="en-US" altLang="zh-CN" sz="2000" b="0" i="0" dirty="0">
                <a:effectLst/>
                <a:latin typeface="-apple-system"/>
              </a:rPr>
              <a:t>Eradicate	</a:t>
            </a:r>
            <a:r>
              <a:rPr lang="zh-CN" altLang="en-US" sz="2000" dirty="0">
                <a:latin typeface="-apple-system"/>
              </a:rPr>
              <a:t>根除</a:t>
            </a:r>
            <a:r>
              <a:rPr lang="en-US" altLang="zh-CN" sz="2000" b="0" i="0" dirty="0">
                <a:effectLst/>
                <a:latin typeface="-apple-system"/>
              </a:rPr>
              <a:t>	</a:t>
            </a:r>
            <a:r>
              <a:rPr lang="en-US" altLang="zh-CN" sz="2000" b="0" i="0" dirty="0">
                <a:solidFill>
                  <a:srgbClr val="F35C70"/>
                </a:solidFill>
                <a:effectLst/>
                <a:latin typeface="-apple-system"/>
              </a:rPr>
              <a:t>get rid of</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24359" y="291584"/>
            <a:ext cx="2349500" cy="369332"/>
          </a:xfrm>
          <a:prstGeom prst="rect">
            <a:avLst/>
          </a:prstGeom>
          <a:noFill/>
        </p:spPr>
        <p:txBody>
          <a:bodyPr wrap="square" rtlCol="0">
            <a:spAutoFit/>
          </a:bodyPr>
          <a:lstStyle/>
          <a:p>
            <a:r>
              <a:rPr lang="en-US" altLang="zh-CN" dirty="0"/>
              <a:t>3A</a:t>
            </a:r>
            <a:endParaRPr lang="zh-CN" altLang="en-US" dirty="0"/>
          </a:p>
        </p:txBody>
      </p:sp>
    </p:spTree>
    <p:extLst>
      <p:ext uri="{BB962C8B-B14F-4D97-AF65-F5344CB8AC3E}">
        <p14:creationId xmlns:p14="http://schemas.microsoft.com/office/powerpoint/2010/main" val="363486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6970603" cy="6124754"/>
          </a:xfrm>
          <a:prstGeom prst="rect">
            <a:avLst/>
          </a:prstGeom>
          <a:noFill/>
        </p:spPr>
        <p:txBody>
          <a:bodyPr wrap="square" rtlCol="0">
            <a:spAutoFit/>
          </a:bodyPr>
          <a:lstStyle/>
          <a:p>
            <a:pPr algn="just"/>
            <a:r>
              <a:rPr lang="en-US" altLang="zh-CN" sz="1400" b="1" i="0" dirty="0">
                <a:effectLst/>
                <a:latin typeface="-apple-system"/>
              </a:rPr>
              <a:t>Student 1</a:t>
            </a:r>
            <a:r>
              <a:rPr lang="en-US" altLang="zh-CN" sz="1400" b="0" i="0" dirty="0">
                <a:effectLst/>
                <a:latin typeface="-apple-system"/>
              </a:rPr>
              <a:t>  Hey there! Would you mind explaining some of the things you said in your class report-you know, about eating a </a:t>
            </a:r>
            <a:r>
              <a:rPr lang="en-US" altLang="zh-CN" sz="1400" b="1" i="0" dirty="0">
                <a:effectLst/>
                <a:latin typeface="-apple-system"/>
              </a:rPr>
              <a:t>balanced</a:t>
            </a:r>
            <a:r>
              <a:rPr lang="en-US" altLang="zh-CN" sz="1400" b="0" i="0" dirty="0">
                <a:effectLst/>
                <a:latin typeface="-apple-system"/>
              </a:rPr>
              <a:t> diet?</a:t>
            </a:r>
          </a:p>
          <a:p>
            <a:pPr algn="just"/>
            <a:r>
              <a:rPr lang="en-US" altLang="zh-CN" sz="1400" b="1" i="0" dirty="0">
                <a:effectLst/>
                <a:latin typeface="-apple-system"/>
              </a:rPr>
              <a:t>Student 2</a:t>
            </a:r>
            <a:r>
              <a:rPr lang="en-US" altLang="zh-CN" sz="1400" b="0" i="0" dirty="0">
                <a:effectLst/>
                <a:latin typeface="-apple-system"/>
              </a:rPr>
              <a:t>  Well, I still feel pretty </a:t>
            </a:r>
            <a:r>
              <a:rPr lang="en-US" altLang="zh-CN" sz="1400" b="1" i="0" dirty="0">
                <a:effectLst/>
                <a:latin typeface="-apple-system"/>
              </a:rPr>
              <a:t>dumb</a:t>
            </a:r>
            <a:r>
              <a:rPr lang="en-US" altLang="zh-CN" sz="1400" b="0" i="0" dirty="0">
                <a:effectLst/>
                <a:latin typeface="-apple-system"/>
              </a:rPr>
              <a:t> about nutrition in general, but I’ll do my best.</a:t>
            </a:r>
          </a:p>
          <a:p>
            <a:pPr algn="just"/>
            <a:r>
              <a:rPr lang="en-US" altLang="zh-CN" sz="1400" b="1" i="0" dirty="0">
                <a:effectLst/>
                <a:latin typeface="-apple-system"/>
              </a:rPr>
              <a:t>Student 1</a:t>
            </a:r>
            <a:r>
              <a:rPr lang="en-US" altLang="zh-CN" sz="1400" b="0" i="0" dirty="0">
                <a:effectLst/>
                <a:latin typeface="-apple-system"/>
              </a:rPr>
              <a:t>  Heh! For one thing, what’s the connection between nutrition and the body’s </a:t>
            </a:r>
            <a:r>
              <a:rPr lang="en-US" altLang="zh-CN" sz="1400" b="1" i="0" dirty="0">
                <a:effectLst/>
                <a:latin typeface="-apple-system"/>
              </a:rPr>
              <a:t>endurance</a:t>
            </a:r>
            <a:r>
              <a:rPr lang="en-US" altLang="zh-CN" sz="1400" b="0" i="0" dirty="0">
                <a:effectLst/>
                <a:latin typeface="-apple-system"/>
              </a:rPr>
              <a:t> levels?</a:t>
            </a:r>
          </a:p>
          <a:p>
            <a:pPr algn="just"/>
            <a:r>
              <a:rPr lang="en-US" altLang="zh-CN" sz="1400" b="1" i="0" dirty="0">
                <a:effectLst/>
                <a:latin typeface="-apple-system"/>
              </a:rPr>
              <a:t>Student 2</a:t>
            </a:r>
            <a:r>
              <a:rPr lang="en-US" altLang="zh-CN" sz="1400" b="0" i="0" dirty="0">
                <a:effectLst/>
                <a:latin typeface="-apple-system"/>
              </a:rPr>
              <a:t>  That’s pretty complicated, but I did learn that without </a:t>
            </a:r>
            <a:r>
              <a:rPr lang="en-US" altLang="zh-CN" sz="1400" b="1" i="0" dirty="0">
                <a:effectLst/>
                <a:latin typeface="-apple-system"/>
              </a:rPr>
              <a:t>absorbing</a:t>
            </a:r>
            <a:r>
              <a:rPr lang="en-US" altLang="zh-CN" sz="1400" b="0" i="0" dirty="0">
                <a:effectLst/>
                <a:latin typeface="-apple-system"/>
              </a:rPr>
              <a:t> vitamins, your body can’t get the energy it needs from food very effectively.</a:t>
            </a:r>
          </a:p>
          <a:p>
            <a:pPr algn="just"/>
            <a:r>
              <a:rPr lang="en-US" altLang="zh-CN" sz="1400" b="1" i="0" dirty="0">
                <a:effectLst/>
                <a:latin typeface="-apple-system"/>
              </a:rPr>
              <a:t>Student 1 </a:t>
            </a:r>
            <a:r>
              <a:rPr lang="en-US" altLang="zh-CN" sz="1400" b="0" i="0" dirty="0">
                <a:effectLst/>
                <a:latin typeface="-apple-system"/>
              </a:rPr>
              <a:t> So I guess if people aren’t eating responsibly, they might become easily </a:t>
            </a:r>
            <a:r>
              <a:rPr lang="en-US" altLang="zh-CN" sz="1400" b="1" i="0" dirty="0">
                <a:effectLst/>
                <a:latin typeface="-apple-system"/>
              </a:rPr>
              <a:t>exhausted</a:t>
            </a:r>
            <a:r>
              <a:rPr lang="en-US" altLang="zh-CN" sz="1400" b="0" i="0" dirty="0">
                <a:effectLst/>
                <a:latin typeface="-apple-system"/>
              </a:rPr>
              <a:t> after exercising.</a:t>
            </a:r>
          </a:p>
          <a:p>
            <a:pPr algn="just"/>
            <a:r>
              <a:rPr lang="en-US" altLang="zh-CN" sz="1400" b="1" i="0" dirty="0">
                <a:effectLst/>
                <a:latin typeface="-apple-system"/>
              </a:rPr>
              <a:t>Student 2 </a:t>
            </a:r>
            <a:r>
              <a:rPr lang="en-US" altLang="zh-CN" sz="1400" b="0" i="0" dirty="0">
                <a:effectLst/>
                <a:latin typeface="-apple-system"/>
              </a:rPr>
              <a:t> That’s one result. They might not have much </a:t>
            </a:r>
            <a:r>
              <a:rPr lang="en-US" altLang="zh-CN" sz="1400" b="1" i="0" dirty="0">
                <a:effectLst/>
                <a:latin typeface="-apple-system"/>
              </a:rPr>
              <a:t>strength</a:t>
            </a:r>
            <a:r>
              <a:rPr lang="en-US" altLang="zh-CN" sz="1400" b="0" i="0" dirty="0">
                <a:effectLst/>
                <a:latin typeface="-apple-system"/>
              </a:rPr>
              <a:t>, either, since proteins and certain minerals maintain healthy bones and muscles.</a:t>
            </a:r>
          </a:p>
          <a:p>
            <a:pPr algn="just"/>
            <a:r>
              <a:rPr lang="en-US" altLang="zh-CN" sz="1400" b="1" i="0" dirty="0">
                <a:effectLst/>
                <a:latin typeface="-apple-system"/>
              </a:rPr>
              <a:t>Student 1</a:t>
            </a:r>
            <a:r>
              <a:rPr lang="en-US" altLang="zh-CN" sz="1400" b="0" i="0" dirty="0">
                <a:effectLst/>
                <a:latin typeface="-apple-system"/>
              </a:rPr>
              <a:t>  But is it really true that even if you eat regularly, poor nutrition can put your life in </a:t>
            </a:r>
            <a:r>
              <a:rPr lang="en-US" altLang="zh-CN" sz="1400" b="1" i="0" dirty="0">
                <a:effectLst/>
                <a:latin typeface="-apple-system"/>
              </a:rPr>
              <a:t>jeopardy</a:t>
            </a:r>
            <a:r>
              <a:rPr lang="en-US" altLang="zh-CN" sz="1400" b="0" i="0" dirty="0">
                <a:effectLst/>
                <a:latin typeface="-apple-system"/>
              </a:rPr>
              <a:t>?</a:t>
            </a:r>
          </a:p>
          <a:p>
            <a:pPr algn="just"/>
            <a:r>
              <a:rPr lang="en-US" altLang="zh-CN" sz="1400" b="1" i="0" dirty="0">
                <a:effectLst/>
                <a:latin typeface="-apple-system"/>
              </a:rPr>
              <a:t>Student 2</a:t>
            </a:r>
            <a:r>
              <a:rPr lang="en-US" altLang="zh-CN" sz="1400" b="0" i="0" dirty="0">
                <a:effectLst/>
                <a:latin typeface="-apple-system"/>
              </a:rPr>
              <a:t>  Are you kidding me? </a:t>
            </a:r>
            <a:r>
              <a:rPr lang="en-US" altLang="zh-CN" sz="1400" b="1" i="0" dirty="0">
                <a:effectLst/>
                <a:latin typeface="-apple-system"/>
              </a:rPr>
              <a:t>Diseases</a:t>
            </a:r>
            <a:r>
              <a:rPr lang="en-US" altLang="zh-CN" sz="1400" b="0" i="0" dirty="0">
                <a:effectLst/>
                <a:latin typeface="-apple-system"/>
              </a:rPr>
              <a:t> like beriberi and goiter are common in some parts of the world, and they can be life-threatening if you catch them.</a:t>
            </a:r>
          </a:p>
          <a:p>
            <a:pPr algn="just"/>
            <a:r>
              <a:rPr lang="en-US" altLang="zh-CN" sz="1400" b="1" i="0" dirty="0">
                <a:effectLst/>
                <a:latin typeface="-apple-system"/>
              </a:rPr>
              <a:t>Student 1</a:t>
            </a:r>
            <a:r>
              <a:rPr lang="en-US" altLang="zh-CN" sz="1400" b="0" i="0" dirty="0">
                <a:effectLst/>
                <a:latin typeface="-apple-system"/>
              </a:rPr>
              <a:t>  So I guess as long as poverty exists, there’s no simple </a:t>
            </a:r>
            <a:r>
              <a:rPr lang="en-US" altLang="zh-CN" sz="1400" b="1" i="0" dirty="0">
                <a:effectLst/>
                <a:latin typeface="-apple-system"/>
              </a:rPr>
              <a:t>remedy</a:t>
            </a:r>
            <a:r>
              <a:rPr lang="en-US" altLang="zh-CN" sz="1400" b="0" i="0" dirty="0">
                <a:effectLst/>
                <a:latin typeface="-apple-system"/>
              </a:rPr>
              <a:t> for poor nutrition.</a:t>
            </a:r>
          </a:p>
          <a:p>
            <a:pPr algn="just"/>
            <a:r>
              <a:rPr lang="en-US" altLang="zh-CN" sz="1400" b="1" i="0" dirty="0">
                <a:effectLst/>
                <a:latin typeface="-apple-system"/>
              </a:rPr>
              <a:t>Student 2</a:t>
            </a:r>
            <a:r>
              <a:rPr lang="en-US" altLang="zh-CN" sz="1400" b="0" i="0" dirty="0">
                <a:effectLst/>
                <a:latin typeface="-apple-system"/>
              </a:rPr>
              <a:t>  The same goes for wealthier countries. As too many people are learning, diets high in fat can be </a:t>
            </a:r>
            <a:r>
              <a:rPr lang="en-US" altLang="zh-CN" sz="1400" b="1" i="0" dirty="0">
                <a:effectLst/>
                <a:latin typeface="-apple-system"/>
              </a:rPr>
              <a:t>detrimental</a:t>
            </a:r>
            <a:r>
              <a:rPr lang="en-US" altLang="zh-CN" sz="1400" b="0" i="0" dirty="0">
                <a:effectLst/>
                <a:latin typeface="-apple-system"/>
              </a:rPr>
              <a:t> as well.</a:t>
            </a:r>
          </a:p>
          <a:p>
            <a:pPr algn="just"/>
            <a:r>
              <a:rPr lang="en-US" altLang="zh-CN" sz="1400" b="1" i="0" dirty="0">
                <a:effectLst/>
                <a:latin typeface="-apple-system"/>
              </a:rPr>
              <a:t>Student 1</a:t>
            </a:r>
            <a:r>
              <a:rPr lang="en-US" altLang="zh-CN" sz="1400" b="0" i="0" dirty="0">
                <a:effectLst/>
                <a:latin typeface="-apple-system"/>
              </a:rPr>
              <a:t>  Some packaged foods can seem pretty </a:t>
            </a:r>
            <a:r>
              <a:rPr lang="en-US" altLang="zh-CN" sz="1400" b="1" i="0" dirty="0">
                <a:effectLst/>
                <a:latin typeface="-apple-system"/>
              </a:rPr>
              <a:t>innocuous</a:t>
            </a:r>
            <a:r>
              <a:rPr lang="en-US" altLang="zh-CN" sz="1400" b="0" i="0" dirty="0">
                <a:effectLst/>
                <a:latin typeface="-apple-system"/>
              </a:rPr>
              <a:t> when the labels read, “low-fat, low-sodium”...</a:t>
            </a:r>
          </a:p>
          <a:p>
            <a:pPr algn="just"/>
            <a:r>
              <a:rPr lang="en-US" altLang="zh-CN" sz="1400" b="1" i="0" dirty="0">
                <a:effectLst/>
                <a:latin typeface="-apple-system"/>
              </a:rPr>
              <a:t>Student 2</a:t>
            </a:r>
            <a:r>
              <a:rPr lang="en-US" altLang="zh-CN" sz="1400" b="0" i="0" dirty="0">
                <a:effectLst/>
                <a:latin typeface="-apple-system"/>
              </a:rPr>
              <a:t>  That’s why consumers need to </a:t>
            </a:r>
            <a:r>
              <a:rPr lang="en-US" altLang="zh-CN" sz="1400" b="1" i="0" dirty="0">
                <a:effectLst/>
                <a:latin typeface="-apple-system"/>
              </a:rPr>
              <a:t>search</a:t>
            </a:r>
            <a:r>
              <a:rPr lang="en-US" altLang="zh-CN" sz="1400" b="0" i="0" dirty="0">
                <a:effectLst/>
                <a:latin typeface="-apple-system"/>
              </a:rPr>
              <a:t> for the ingredients list, which is usually in small print, and compare products.</a:t>
            </a:r>
          </a:p>
          <a:p>
            <a:pPr algn="just"/>
            <a:r>
              <a:rPr lang="en-US" altLang="zh-CN" sz="1400" b="1" i="0" dirty="0">
                <a:effectLst/>
                <a:latin typeface="-apple-system"/>
              </a:rPr>
              <a:t>Student 1 </a:t>
            </a:r>
            <a:r>
              <a:rPr lang="en-US" altLang="zh-CN" sz="1400" b="0" i="0" dirty="0">
                <a:effectLst/>
                <a:latin typeface="-apple-system"/>
              </a:rPr>
              <a:t> Yes, foods that are </a:t>
            </a:r>
            <a:r>
              <a:rPr lang="en-US" altLang="zh-CN" sz="1400" b="1" i="0" dirty="0">
                <a:effectLst/>
                <a:latin typeface="-apple-system"/>
              </a:rPr>
              <a:t>seemingly</a:t>
            </a:r>
            <a:r>
              <a:rPr lang="en-US" altLang="zh-CN" sz="1400" b="0" i="0" dirty="0">
                <a:effectLst/>
                <a:latin typeface="-apple-system"/>
              </a:rPr>
              <a:t> good for you can be laden with mystery items and trans fats.</a:t>
            </a:r>
          </a:p>
          <a:p>
            <a:pPr algn="just"/>
            <a:r>
              <a:rPr lang="en-US" altLang="zh-CN" sz="1400" b="1" i="0" dirty="0">
                <a:effectLst/>
                <a:latin typeface="-apple-system"/>
              </a:rPr>
              <a:t>Student 2 </a:t>
            </a:r>
            <a:r>
              <a:rPr lang="en-US" altLang="zh-CN" sz="1400" b="0" i="0" dirty="0">
                <a:effectLst/>
                <a:latin typeface="-apple-system"/>
              </a:rPr>
              <a:t> I </a:t>
            </a:r>
            <a:r>
              <a:rPr lang="en-US" altLang="zh-CN" sz="1400" b="1" i="0" dirty="0">
                <a:effectLst/>
                <a:latin typeface="-apple-system"/>
              </a:rPr>
              <a:t>admire</a:t>
            </a:r>
            <a:r>
              <a:rPr lang="en-US" altLang="zh-CN" sz="1400" b="0" i="0" dirty="0">
                <a:effectLst/>
                <a:latin typeface="-apple-system"/>
              </a:rPr>
              <a:t> people who take the time to read the labels and aggressively manage their nutrition. That was the original inspiration for my report, you know.</a:t>
            </a:r>
          </a:p>
          <a:p>
            <a:pPr algn="just"/>
            <a:r>
              <a:rPr lang="en-US" altLang="zh-CN" sz="1400" b="1" i="0" dirty="0">
                <a:effectLst/>
                <a:latin typeface="-apple-system"/>
              </a:rPr>
              <a:t>Student 1 </a:t>
            </a:r>
            <a:r>
              <a:rPr lang="en-US" altLang="zh-CN" sz="1400" b="0" i="0" dirty="0">
                <a:effectLst/>
                <a:latin typeface="-apple-system"/>
              </a:rPr>
              <a:t> I also liked the fact that you included a section on </a:t>
            </a:r>
            <a:r>
              <a:rPr lang="en-US" altLang="zh-CN" sz="1400" b="1" i="0" dirty="0">
                <a:effectLst/>
                <a:latin typeface="-apple-system"/>
              </a:rPr>
              <a:t>exercise</a:t>
            </a:r>
            <a:r>
              <a:rPr lang="en-US" altLang="zh-CN" sz="1400" b="0" i="0" dirty="0">
                <a:effectLst/>
                <a:latin typeface="-apple-system"/>
              </a:rPr>
              <a:t> – it was a nice addition to the topic, and it kept things interesting.</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0" y="779412"/>
            <a:ext cx="4801681" cy="4708981"/>
          </a:xfrm>
          <a:prstGeom prst="rect">
            <a:avLst/>
          </a:prstGeom>
          <a:noFill/>
        </p:spPr>
        <p:txBody>
          <a:bodyPr wrap="square" rtlCol="0">
            <a:spAutoFit/>
          </a:bodyPr>
          <a:lstStyle/>
          <a:p>
            <a:r>
              <a:rPr lang="en-US" altLang="zh-CN" sz="2000" b="0" i="0" dirty="0">
                <a:effectLst/>
                <a:latin typeface="-apple-system"/>
              </a:rPr>
              <a:t>balanced		</a:t>
            </a:r>
            <a:r>
              <a:rPr lang="en-US" altLang="zh-CN" sz="2000" b="0" i="0" dirty="0">
                <a:solidFill>
                  <a:srgbClr val="F35C70"/>
                </a:solidFill>
                <a:effectLst/>
                <a:latin typeface="-apple-system"/>
              </a:rPr>
              <a:t>even</a:t>
            </a:r>
          </a:p>
          <a:p>
            <a:r>
              <a:rPr lang="en-US" altLang="zh-CN" sz="2000" b="0" i="0" dirty="0">
                <a:effectLst/>
                <a:latin typeface="-apple-system"/>
              </a:rPr>
              <a:t>Dumb</a:t>
            </a:r>
            <a:r>
              <a:rPr lang="en-US" altLang="zh-CN" sz="2000" dirty="0">
                <a:solidFill>
                  <a:srgbClr val="F35C70"/>
                </a:solidFill>
                <a:latin typeface="-apple-system"/>
              </a:rPr>
              <a:t>			</a:t>
            </a:r>
            <a:r>
              <a:rPr lang="en-US" altLang="zh-CN" sz="2000" b="0" i="0" dirty="0">
                <a:solidFill>
                  <a:srgbClr val="F35C70"/>
                </a:solidFill>
                <a:effectLst/>
                <a:latin typeface="-apple-system"/>
              </a:rPr>
              <a:t>ignorant</a:t>
            </a:r>
            <a:endParaRPr lang="en-US" altLang="zh-CN" sz="2000" dirty="0">
              <a:solidFill>
                <a:srgbClr val="F35C70"/>
              </a:solidFill>
              <a:latin typeface="-apple-system"/>
            </a:endParaRPr>
          </a:p>
          <a:p>
            <a:r>
              <a:rPr lang="en-US" altLang="zh-CN" sz="2000" b="0" i="0" dirty="0">
                <a:effectLst/>
                <a:latin typeface="-apple-system"/>
              </a:rPr>
              <a:t>Endurance</a:t>
            </a:r>
            <a:r>
              <a:rPr lang="en-US" altLang="zh-CN" sz="2000" b="0" i="0" dirty="0">
                <a:solidFill>
                  <a:srgbClr val="F35C70"/>
                </a:solidFill>
                <a:effectLst/>
                <a:latin typeface="-apple-system"/>
              </a:rPr>
              <a:t>		stamina</a:t>
            </a:r>
          </a:p>
          <a:p>
            <a:r>
              <a:rPr lang="en-US" altLang="zh-CN" sz="2000" b="0" i="0" dirty="0">
                <a:effectLst/>
                <a:latin typeface="-apple-system"/>
              </a:rPr>
              <a:t>Absorbing</a:t>
            </a:r>
            <a:r>
              <a:rPr lang="en-US" altLang="zh-CN" sz="2000" dirty="0">
                <a:solidFill>
                  <a:srgbClr val="F35C70"/>
                </a:solidFill>
                <a:latin typeface="-apple-system"/>
              </a:rPr>
              <a:t>		</a:t>
            </a:r>
            <a:r>
              <a:rPr lang="en-US" altLang="zh-CN" sz="2000" b="0" i="0" dirty="0">
                <a:solidFill>
                  <a:srgbClr val="F35C70"/>
                </a:solidFill>
                <a:effectLst/>
                <a:latin typeface="-apple-system"/>
              </a:rPr>
              <a:t>integrating</a:t>
            </a:r>
          </a:p>
          <a:p>
            <a:r>
              <a:rPr lang="en-US" altLang="zh-CN" sz="2000" b="0" i="0" dirty="0">
                <a:effectLst/>
                <a:latin typeface="-apple-system"/>
              </a:rPr>
              <a:t>Exhausted</a:t>
            </a:r>
            <a:r>
              <a:rPr lang="en-US" altLang="zh-CN" sz="2000" dirty="0">
                <a:solidFill>
                  <a:srgbClr val="F35C70"/>
                </a:solidFill>
                <a:latin typeface="-apple-system"/>
              </a:rPr>
              <a:t>		</a:t>
            </a:r>
            <a:r>
              <a:rPr lang="en-US" altLang="zh-CN" sz="2000" b="0" i="0" dirty="0">
                <a:solidFill>
                  <a:srgbClr val="F35C70"/>
                </a:solidFill>
                <a:effectLst/>
                <a:latin typeface="-apple-system"/>
              </a:rPr>
              <a:t>tired</a:t>
            </a:r>
            <a:endParaRPr lang="en-US" altLang="zh-CN" sz="2000" dirty="0">
              <a:solidFill>
                <a:srgbClr val="F35C70"/>
              </a:solidFill>
              <a:latin typeface="-apple-system"/>
            </a:endParaRPr>
          </a:p>
          <a:p>
            <a:r>
              <a:rPr lang="en-US" altLang="zh-CN" sz="2000" b="0" i="0" dirty="0">
                <a:effectLst/>
                <a:latin typeface="-apple-system"/>
              </a:rPr>
              <a:t>Strength</a:t>
            </a:r>
            <a:r>
              <a:rPr lang="en-US" altLang="zh-CN" sz="2000" b="0" i="0" dirty="0">
                <a:solidFill>
                  <a:srgbClr val="F35C70"/>
                </a:solidFill>
                <a:effectLst/>
                <a:latin typeface="-apple-system"/>
              </a:rPr>
              <a:t>			vigor</a:t>
            </a:r>
          </a:p>
          <a:p>
            <a:r>
              <a:rPr lang="en-US" altLang="zh-CN" sz="2000" b="0" i="0" dirty="0">
                <a:effectLst/>
                <a:latin typeface="-apple-system"/>
              </a:rPr>
              <a:t>Jeopardy</a:t>
            </a:r>
            <a:r>
              <a:rPr lang="en-US" altLang="zh-CN" sz="2000" dirty="0">
                <a:solidFill>
                  <a:srgbClr val="F35C70"/>
                </a:solidFill>
                <a:latin typeface="-apple-system"/>
              </a:rPr>
              <a:t>		</a:t>
            </a:r>
            <a:r>
              <a:rPr lang="en-US" altLang="zh-CN" sz="2000" b="0" i="0" dirty="0">
                <a:solidFill>
                  <a:srgbClr val="F35C70"/>
                </a:solidFill>
                <a:effectLst/>
                <a:latin typeface="-apple-system"/>
              </a:rPr>
              <a:t>danger</a:t>
            </a:r>
            <a:endParaRPr lang="en-US" altLang="zh-CN" sz="2000" dirty="0">
              <a:solidFill>
                <a:srgbClr val="F35C70"/>
              </a:solidFill>
              <a:latin typeface="-apple-system"/>
            </a:endParaRPr>
          </a:p>
          <a:p>
            <a:r>
              <a:rPr lang="en-US" altLang="zh-CN" sz="2000" b="0" i="0" dirty="0">
                <a:effectLst/>
                <a:latin typeface="-apple-system"/>
              </a:rPr>
              <a:t>Diseases</a:t>
            </a:r>
            <a:r>
              <a:rPr lang="en-US" altLang="zh-CN" sz="2000" b="0" i="0" dirty="0">
                <a:solidFill>
                  <a:srgbClr val="F35C70"/>
                </a:solidFill>
                <a:effectLst/>
                <a:latin typeface="-apple-system"/>
              </a:rPr>
              <a:t>			Illnesses</a:t>
            </a:r>
          </a:p>
          <a:p>
            <a:r>
              <a:rPr lang="en-US" altLang="zh-CN" sz="2000" b="0" i="0" dirty="0">
                <a:effectLst/>
                <a:latin typeface="-apple-system"/>
              </a:rPr>
              <a:t>Remedy</a:t>
            </a:r>
            <a:r>
              <a:rPr lang="en-US" altLang="zh-CN" sz="2000" dirty="0">
                <a:solidFill>
                  <a:srgbClr val="F35C70"/>
                </a:solidFill>
                <a:latin typeface="-apple-system"/>
              </a:rPr>
              <a:t>			</a:t>
            </a:r>
            <a:r>
              <a:rPr lang="en-US" altLang="zh-CN" sz="2000" b="0" i="0" dirty="0">
                <a:solidFill>
                  <a:srgbClr val="F35C70"/>
                </a:solidFill>
                <a:effectLst/>
                <a:latin typeface="-apple-system"/>
              </a:rPr>
              <a:t>solution</a:t>
            </a:r>
            <a:endParaRPr lang="en-US" altLang="zh-CN" sz="2000" dirty="0">
              <a:solidFill>
                <a:srgbClr val="F35C70"/>
              </a:solidFill>
              <a:latin typeface="-apple-system"/>
            </a:endParaRPr>
          </a:p>
          <a:p>
            <a:r>
              <a:rPr lang="en-US" altLang="zh-CN" sz="2000" b="0" i="0" dirty="0">
                <a:effectLst/>
                <a:latin typeface="-apple-system"/>
              </a:rPr>
              <a:t>Detrimental</a:t>
            </a:r>
            <a:r>
              <a:rPr lang="en-US" altLang="zh-CN" sz="2000" b="0" i="0" dirty="0">
                <a:solidFill>
                  <a:srgbClr val="F35C70"/>
                </a:solidFill>
                <a:effectLst/>
                <a:latin typeface="-apple-system"/>
              </a:rPr>
              <a:t>		harmful</a:t>
            </a:r>
          </a:p>
          <a:p>
            <a:r>
              <a:rPr lang="en-US" altLang="zh-CN" sz="2000" b="0" i="0" dirty="0">
                <a:effectLst/>
                <a:latin typeface="-apple-system"/>
              </a:rPr>
              <a:t>Innocuous</a:t>
            </a:r>
            <a:r>
              <a:rPr lang="en-US" altLang="zh-CN" sz="2000" dirty="0">
                <a:solidFill>
                  <a:srgbClr val="F35C70"/>
                </a:solidFill>
                <a:latin typeface="-apple-system"/>
              </a:rPr>
              <a:t>		</a:t>
            </a:r>
            <a:r>
              <a:rPr lang="en-US" altLang="zh-CN" sz="2000" b="0" i="0" dirty="0">
                <a:solidFill>
                  <a:srgbClr val="F35C70"/>
                </a:solidFill>
                <a:effectLst/>
                <a:latin typeface="-apple-system"/>
              </a:rPr>
              <a:t>harmless</a:t>
            </a:r>
            <a:endParaRPr lang="en-US" altLang="zh-CN" sz="2000" dirty="0">
              <a:solidFill>
                <a:srgbClr val="F35C70"/>
              </a:solidFill>
              <a:latin typeface="-apple-system"/>
            </a:endParaRPr>
          </a:p>
          <a:p>
            <a:r>
              <a:rPr lang="en-US" altLang="zh-CN" sz="2000" b="0" i="0" dirty="0">
                <a:effectLst/>
                <a:latin typeface="-apple-system"/>
              </a:rPr>
              <a:t>Search</a:t>
            </a:r>
            <a:r>
              <a:rPr lang="en-US" altLang="zh-CN" sz="2000" b="0" i="0" dirty="0">
                <a:solidFill>
                  <a:srgbClr val="F35C70"/>
                </a:solidFill>
                <a:effectLst/>
                <a:latin typeface="-apple-system"/>
              </a:rPr>
              <a:t>			look</a:t>
            </a:r>
          </a:p>
          <a:p>
            <a:r>
              <a:rPr lang="en-US" altLang="zh-CN" sz="2000" b="0" i="0" dirty="0">
                <a:effectLst/>
                <a:latin typeface="-apple-system"/>
              </a:rPr>
              <a:t>Seemingly</a:t>
            </a:r>
            <a:r>
              <a:rPr lang="en-US" altLang="zh-CN" sz="2000" dirty="0">
                <a:solidFill>
                  <a:srgbClr val="F35C70"/>
                </a:solidFill>
                <a:latin typeface="-apple-system"/>
              </a:rPr>
              <a:t>		</a:t>
            </a:r>
            <a:r>
              <a:rPr lang="en-US" altLang="zh-CN" sz="2000" b="0" i="0" dirty="0">
                <a:solidFill>
                  <a:srgbClr val="F35C70"/>
                </a:solidFill>
                <a:effectLst/>
                <a:latin typeface="-apple-system"/>
              </a:rPr>
              <a:t>apparently</a:t>
            </a:r>
            <a:endParaRPr lang="en-US" altLang="zh-CN" sz="2000" dirty="0">
              <a:solidFill>
                <a:srgbClr val="F35C70"/>
              </a:solidFill>
              <a:latin typeface="-apple-system"/>
            </a:endParaRPr>
          </a:p>
          <a:p>
            <a:r>
              <a:rPr lang="en-US" altLang="zh-CN" sz="2000" b="0" i="0" dirty="0">
                <a:effectLst/>
                <a:latin typeface="-apple-system"/>
              </a:rPr>
              <a:t>Admire</a:t>
            </a:r>
            <a:r>
              <a:rPr lang="en-US" altLang="zh-CN" sz="2000" b="0" i="0" dirty="0">
                <a:solidFill>
                  <a:srgbClr val="F35C70"/>
                </a:solidFill>
                <a:effectLst/>
                <a:latin typeface="-apple-system"/>
              </a:rPr>
              <a:t>			respect</a:t>
            </a:r>
          </a:p>
          <a:p>
            <a:r>
              <a:rPr lang="en-US" altLang="zh-CN" sz="2000" b="0" i="0" dirty="0">
                <a:effectLst/>
                <a:latin typeface="-apple-system"/>
              </a:rPr>
              <a:t>Exercise</a:t>
            </a:r>
            <a:r>
              <a:rPr lang="en-US" altLang="zh-CN" sz="2000" dirty="0">
                <a:solidFill>
                  <a:srgbClr val="F35C70"/>
                </a:solidFill>
                <a:latin typeface="-apple-system"/>
              </a:rPr>
              <a:t>			</a:t>
            </a:r>
            <a:r>
              <a:rPr lang="en-US" altLang="zh-CN" sz="2000" b="0" i="0" dirty="0">
                <a:solidFill>
                  <a:srgbClr val="F35C70"/>
                </a:solidFill>
                <a:effectLst/>
                <a:latin typeface="-apple-system"/>
              </a:rPr>
              <a:t>workout</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3B</a:t>
            </a:r>
            <a:endParaRPr lang="zh-CN" altLang="en-US" dirty="0"/>
          </a:p>
        </p:txBody>
      </p:sp>
    </p:spTree>
    <p:extLst>
      <p:ext uri="{BB962C8B-B14F-4D97-AF65-F5344CB8AC3E}">
        <p14:creationId xmlns:p14="http://schemas.microsoft.com/office/powerpoint/2010/main" val="3680541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6970603" cy="6124754"/>
          </a:xfrm>
          <a:prstGeom prst="rect">
            <a:avLst/>
          </a:prstGeom>
          <a:noFill/>
        </p:spPr>
        <p:txBody>
          <a:bodyPr wrap="square" rtlCol="0">
            <a:spAutoFit/>
          </a:bodyPr>
          <a:lstStyle/>
          <a:p>
            <a:pPr algn="just"/>
            <a:r>
              <a:rPr lang="en-US" altLang="zh-CN" sz="1400" b="1" i="0" dirty="0">
                <a:effectLst/>
                <a:latin typeface="-apple-system"/>
              </a:rPr>
              <a:t>Student 1</a:t>
            </a:r>
            <a:r>
              <a:rPr lang="en-US" altLang="zh-CN" sz="1400" b="0" i="0" dirty="0">
                <a:effectLst/>
                <a:latin typeface="-apple-system"/>
              </a:rPr>
              <a:t>  Hey there! Would you mind explaining some of the things you said in your class report-you know, about eating a </a:t>
            </a:r>
            <a:r>
              <a:rPr lang="en-US" altLang="zh-CN" sz="1400" b="1" i="0" dirty="0">
                <a:effectLst/>
                <a:latin typeface="-apple-system"/>
              </a:rPr>
              <a:t>balanced</a:t>
            </a:r>
            <a:r>
              <a:rPr lang="en-US" altLang="zh-CN" sz="1400" b="0" i="0" dirty="0">
                <a:effectLst/>
                <a:latin typeface="-apple-system"/>
              </a:rPr>
              <a:t> diet?</a:t>
            </a:r>
          </a:p>
          <a:p>
            <a:pPr algn="just"/>
            <a:r>
              <a:rPr lang="en-US" altLang="zh-CN" sz="1400" b="1" i="0" dirty="0">
                <a:effectLst/>
                <a:latin typeface="-apple-system"/>
              </a:rPr>
              <a:t>Student 2</a:t>
            </a:r>
            <a:r>
              <a:rPr lang="en-US" altLang="zh-CN" sz="1400" b="0" i="0" dirty="0">
                <a:effectLst/>
                <a:latin typeface="-apple-system"/>
              </a:rPr>
              <a:t>  Well, I still feel pretty </a:t>
            </a:r>
            <a:r>
              <a:rPr lang="en-US" altLang="zh-CN" sz="1400" b="1" i="0" dirty="0">
                <a:effectLst/>
                <a:latin typeface="-apple-system"/>
              </a:rPr>
              <a:t>dumb</a:t>
            </a:r>
            <a:r>
              <a:rPr lang="en-US" altLang="zh-CN" sz="1400" b="0" i="0" dirty="0">
                <a:effectLst/>
                <a:latin typeface="-apple-system"/>
              </a:rPr>
              <a:t> about nutrition in general, but I’ll do my best.</a:t>
            </a:r>
          </a:p>
          <a:p>
            <a:pPr algn="just"/>
            <a:r>
              <a:rPr lang="en-US" altLang="zh-CN" sz="1400" b="1" i="0" dirty="0">
                <a:effectLst/>
                <a:latin typeface="-apple-system"/>
              </a:rPr>
              <a:t>Student 1</a:t>
            </a:r>
            <a:r>
              <a:rPr lang="en-US" altLang="zh-CN" sz="1400" b="0" i="0" dirty="0">
                <a:effectLst/>
                <a:latin typeface="-apple-system"/>
              </a:rPr>
              <a:t>  Heh! For one thing, what’s the connection between nutrition and the body’s </a:t>
            </a:r>
            <a:r>
              <a:rPr lang="en-US" altLang="zh-CN" sz="1400" b="1" i="0" dirty="0">
                <a:effectLst/>
                <a:latin typeface="-apple-system"/>
              </a:rPr>
              <a:t>endurance</a:t>
            </a:r>
            <a:r>
              <a:rPr lang="en-US" altLang="zh-CN" sz="1400" b="0" i="0" dirty="0">
                <a:effectLst/>
                <a:latin typeface="-apple-system"/>
              </a:rPr>
              <a:t> levels?</a:t>
            </a:r>
          </a:p>
          <a:p>
            <a:pPr algn="just"/>
            <a:r>
              <a:rPr lang="en-US" altLang="zh-CN" sz="1400" b="1" i="0" dirty="0">
                <a:effectLst/>
                <a:latin typeface="-apple-system"/>
              </a:rPr>
              <a:t>Student 2</a:t>
            </a:r>
            <a:r>
              <a:rPr lang="en-US" altLang="zh-CN" sz="1400" b="0" i="0" dirty="0">
                <a:effectLst/>
                <a:latin typeface="-apple-system"/>
              </a:rPr>
              <a:t>  That’s pretty complicated, but I did learn that without </a:t>
            </a:r>
            <a:r>
              <a:rPr lang="en-US" altLang="zh-CN" sz="1400" b="1" i="0" dirty="0">
                <a:effectLst/>
                <a:latin typeface="-apple-system"/>
              </a:rPr>
              <a:t>absorbing</a:t>
            </a:r>
            <a:r>
              <a:rPr lang="en-US" altLang="zh-CN" sz="1400" b="0" i="0" dirty="0">
                <a:effectLst/>
                <a:latin typeface="-apple-system"/>
              </a:rPr>
              <a:t> vitamins, your body can’t get the energy it needs from food very effectively.</a:t>
            </a:r>
          </a:p>
          <a:p>
            <a:pPr algn="just"/>
            <a:r>
              <a:rPr lang="en-US" altLang="zh-CN" sz="1400" b="1" i="0" dirty="0">
                <a:effectLst/>
                <a:latin typeface="-apple-system"/>
              </a:rPr>
              <a:t>Student 1 </a:t>
            </a:r>
            <a:r>
              <a:rPr lang="en-US" altLang="zh-CN" sz="1400" b="0" i="0" dirty="0">
                <a:effectLst/>
                <a:latin typeface="-apple-system"/>
              </a:rPr>
              <a:t> So I guess if people aren’t eating responsibly, they might become easily </a:t>
            </a:r>
            <a:r>
              <a:rPr lang="en-US" altLang="zh-CN" sz="1400" b="1" i="0" dirty="0">
                <a:effectLst/>
                <a:latin typeface="-apple-system"/>
              </a:rPr>
              <a:t>exhausted</a:t>
            </a:r>
            <a:r>
              <a:rPr lang="en-US" altLang="zh-CN" sz="1400" b="0" i="0" dirty="0">
                <a:effectLst/>
                <a:latin typeface="-apple-system"/>
              </a:rPr>
              <a:t> after exercising.</a:t>
            </a:r>
          </a:p>
          <a:p>
            <a:pPr algn="just"/>
            <a:r>
              <a:rPr lang="en-US" altLang="zh-CN" sz="1400" b="1" i="0" dirty="0">
                <a:effectLst/>
                <a:latin typeface="-apple-system"/>
              </a:rPr>
              <a:t>Student 2 </a:t>
            </a:r>
            <a:r>
              <a:rPr lang="en-US" altLang="zh-CN" sz="1400" b="0" i="0" dirty="0">
                <a:effectLst/>
                <a:latin typeface="-apple-system"/>
              </a:rPr>
              <a:t> That’s one result. They might not have much </a:t>
            </a:r>
            <a:r>
              <a:rPr lang="en-US" altLang="zh-CN" sz="1400" b="1" i="0" dirty="0">
                <a:effectLst/>
                <a:latin typeface="-apple-system"/>
              </a:rPr>
              <a:t>strength</a:t>
            </a:r>
            <a:r>
              <a:rPr lang="en-US" altLang="zh-CN" sz="1400" b="0" i="0" dirty="0">
                <a:effectLst/>
                <a:latin typeface="-apple-system"/>
              </a:rPr>
              <a:t>, either, since proteins and certain minerals maintain healthy bones and muscles.</a:t>
            </a:r>
          </a:p>
          <a:p>
            <a:pPr algn="just"/>
            <a:r>
              <a:rPr lang="en-US" altLang="zh-CN" sz="1400" b="1" i="0" dirty="0">
                <a:effectLst/>
                <a:latin typeface="-apple-system"/>
              </a:rPr>
              <a:t>Student 1</a:t>
            </a:r>
            <a:r>
              <a:rPr lang="en-US" altLang="zh-CN" sz="1400" b="0" i="0" dirty="0">
                <a:effectLst/>
                <a:latin typeface="-apple-system"/>
              </a:rPr>
              <a:t>  But is it really true that even if you eat regularly, poor nutrition can put your life in </a:t>
            </a:r>
            <a:r>
              <a:rPr lang="en-US" altLang="zh-CN" sz="1400" b="1" i="0" dirty="0">
                <a:effectLst/>
                <a:latin typeface="-apple-system"/>
              </a:rPr>
              <a:t>jeopardy</a:t>
            </a:r>
            <a:r>
              <a:rPr lang="en-US" altLang="zh-CN" sz="1400" b="0" i="0" dirty="0">
                <a:effectLst/>
                <a:latin typeface="-apple-system"/>
              </a:rPr>
              <a:t>?</a:t>
            </a:r>
          </a:p>
          <a:p>
            <a:pPr algn="just"/>
            <a:r>
              <a:rPr lang="en-US" altLang="zh-CN" sz="1400" b="1" i="0" dirty="0">
                <a:effectLst/>
                <a:latin typeface="-apple-system"/>
              </a:rPr>
              <a:t>Student 2</a:t>
            </a:r>
            <a:r>
              <a:rPr lang="en-US" altLang="zh-CN" sz="1400" b="0" i="0" dirty="0">
                <a:effectLst/>
                <a:latin typeface="-apple-system"/>
              </a:rPr>
              <a:t>  Are you kidding me? </a:t>
            </a:r>
            <a:r>
              <a:rPr lang="en-US" altLang="zh-CN" sz="1400" b="1" i="0" dirty="0">
                <a:effectLst/>
                <a:latin typeface="-apple-system"/>
              </a:rPr>
              <a:t>Diseases</a:t>
            </a:r>
            <a:r>
              <a:rPr lang="en-US" altLang="zh-CN" sz="1400" b="0" i="0" dirty="0">
                <a:effectLst/>
                <a:latin typeface="-apple-system"/>
              </a:rPr>
              <a:t> like beriberi and goiter are common in some parts of the world, and they can be life-threatening if you catch them.</a:t>
            </a:r>
          </a:p>
          <a:p>
            <a:pPr algn="just"/>
            <a:r>
              <a:rPr lang="en-US" altLang="zh-CN" sz="1400" b="1" i="0" dirty="0">
                <a:effectLst/>
                <a:latin typeface="-apple-system"/>
              </a:rPr>
              <a:t>Student 1</a:t>
            </a:r>
            <a:r>
              <a:rPr lang="en-US" altLang="zh-CN" sz="1400" b="0" i="0" dirty="0">
                <a:effectLst/>
                <a:latin typeface="-apple-system"/>
              </a:rPr>
              <a:t>  So I guess as long as poverty exists, there’s no simple </a:t>
            </a:r>
            <a:r>
              <a:rPr lang="en-US" altLang="zh-CN" sz="1400" b="1" i="0" dirty="0">
                <a:effectLst/>
                <a:latin typeface="-apple-system"/>
              </a:rPr>
              <a:t>remedy</a:t>
            </a:r>
            <a:r>
              <a:rPr lang="en-US" altLang="zh-CN" sz="1400" b="0" i="0" dirty="0">
                <a:effectLst/>
                <a:latin typeface="-apple-system"/>
              </a:rPr>
              <a:t> for poor nutrition.</a:t>
            </a:r>
          </a:p>
          <a:p>
            <a:pPr algn="just"/>
            <a:r>
              <a:rPr lang="en-US" altLang="zh-CN" sz="1400" b="1" i="0" dirty="0">
                <a:effectLst/>
                <a:latin typeface="-apple-system"/>
              </a:rPr>
              <a:t>Student 2</a:t>
            </a:r>
            <a:r>
              <a:rPr lang="en-US" altLang="zh-CN" sz="1400" b="0" i="0" dirty="0">
                <a:effectLst/>
                <a:latin typeface="-apple-system"/>
              </a:rPr>
              <a:t>  The same goes for wealthier countries. As too many people are learning, diets high in fat can be </a:t>
            </a:r>
            <a:r>
              <a:rPr lang="en-US" altLang="zh-CN" sz="1400" b="1" i="0" dirty="0">
                <a:effectLst/>
                <a:latin typeface="-apple-system"/>
              </a:rPr>
              <a:t>detrimental</a:t>
            </a:r>
            <a:r>
              <a:rPr lang="en-US" altLang="zh-CN" sz="1400" b="0" i="0" dirty="0">
                <a:effectLst/>
                <a:latin typeface="-apple-system"/>
              </a:rPr>
              <a:t> as well.</a:t>
            </a:r>
          </a:p>
          <a:p>
            <a:pPr algn="just"/>
            <a:r>
              <a:rPr lang="en-US" altLang="zh-CN" sz="1400" b="1" i="0" dirty="0">
                <a:effectLst/>
                <a:latin typeface="-apple-system"/>
              </a:rPr>
              <a:t>Student 1</a:t>
            </a:r>
            <a:r>
              <a:rPr lang="en-US" altLang="zh-CN" sz="1400" b="0" i="0" dirty="0">
                <a:effectLst/>
                <a:latin typeface="-apple-system"/>
              </a:rPr>
              <a:t>  Some packaged foods can seem pretty </a:t>
            </a:r>
            <a:r>
              <a:rPr lang="en-US" altLang="zh-CN" sz="1400" b="1" i="0" dirty="0">
                <a:effectLst/>
                <a:latin typeface="-apple-system"/>
              </a:rPr>
              <a:t>innocuous</a:t>
            </a:r>
            <a:r>
              <a:rPr lang="en-US" altLang="zh-CN" sz="1400" b="0" i="0" dirty="0">
                <a:effectLst/>
                <a:latin typeface="-apple-system"/>
              </a:rPr>
              <a:t> when the labels read, “low-fat, low-sodium”...</a:t>
            </a:r>
          </a:p>
          <a:p>
            <a:pPr algn="just"/>
            <a:r>
              <a:rPr lang="en-US" altLang="zh-CN" sz="1400" b="1" i="0" dirty="0">
                <a:effectLst/>
                <a:latin typeface="-apple-system"/>
              </a:rPr>
              <a:t>Student 2</a:t>
            </a:r>
            <a:r>
              <a:rPr lang="en-US" altLang="zh-CN" sz="1400" b="0" i="0" dirty="0">
                <a:effectLst/>
                <a:latin typeface="-apple-system"/>
              </a:rPr>
              <a:t>  That’s why consumers need to </a:t>
            </a:r>
            <a:r>
              <a:rPr lang="en-US" altLang="zh-CN" sz="1400" b="1" i="0" dirty="0">
                <a:effectLst/>
                <a:latin typeface="-apple-system"/>
              </a:rPr>
              <a:t>search</a:t>
            </a:r>
            <a:r>
              <a:rPr lang="en-US" altLang="zh-CN" sz="1400" b="0" i="0" dirty="0">
                <a:effectLst/>
                <a:latin typeface="-apple-system"/>
              </a:rPr>
              <a:t> for the ingredients list, which is usually in small print, and compare products.</a:t>
            </a:r>
          </a:p>
          <a:p>
            <a:pPr algn="just"/>
            <a:r>
              <a:rPr lang="en-US" altLang="zh-CN" sz="1400" b="1" i="0" dirty="0">
                <a:effectLst/>
                <a:latin typeface="-apple-system"/>
              </a:rPr>
              <a:t>Student 1 </a:t>
            </a:r>
            <a:r>
              <a:rPr lang="en-US" altLang="zh-CN" sz="1400" b="0" i="0" dirty="0">
                <a:effectLst/>
                <a:latin typeface="-apple-system"/>
              </a:rPr>
              <a:t> Yes, foods that are </a:t>
            </a:r>
            <a:r>
              <a:rPr lang="en-US" altLang="zh-CN" sz="1400" b="1" i="0" dirty="0">
                <a:effectLst/>
                <a:latin typeface="-apple-system"/>
              </a:rPr>
              <a:t>seemingly</a:t>
            </a:r>
            <a:r>
              <a:rPr lang="en-US" altLang="zh-CN" sz="1400" b="0" i="0" dirty="0">
                <a:effectLst/>
                <a:latin typeface="-apple-system"/>
              </a:rPr>
              <a:t> good for you can be laden with mystery items and trans fats.</a:t>
            </a:r>
          </a:p>
          <a:p>
            <a:pPr algn="just"/>
            <a:r>
              <a:rPr lang="en-US" altLang="zh-CN" sz="1400" b="1" i="0" dirty="0">
                <a:effectLst/>
                <a:latin typeface="-apple-system"/>
              </a:rPr>
              <a:t>Student 2 </a:t>
            </a:r>
            <a:r>
              <a:rPr lang="en-US" altLang="zh-CN" sz="1400" b="0" i="0" dirty="0">
                <a:effectLst/>
                <a:latin typeface="-apple-system"/>
              </a:rPr>
              <a:t> I </a:t>
            </a:r>
            <a:r>
              <a:rPr lang="en-US" altLang="zh-CN" sz="1400" b="1" i="0" dirty="0">
                <a:effectLst/>
                <a:latin typeface="-apple-system"/>
              </a:rPr>
              <a:t>admire</a:t>
            </a:r>
            <a:r>
              <a:rPr lang="en-US" altLang="zh-CN" sz="1400" b="0" i="0" dirty="0">
                <a:effectLst/>
                <a:latin typeface="-apple-system"/>
              </a:rPr>
              <a:t> people who take the time to read the labels and aggressively manage their nutrition. That was the original inspiration for my report, you know.</a:t>
            </a:r>
          </a:p>
          <a:p>
            <a:pPr algn="just"/>
            <a:r>
              <a:rPr lang="en-US" altLang="zh-CN" sz="1400" b="1" i="0" dirty="0">
                <a:effectLst/>
                <a:latin typeface="-apple-system"/>
              </a:rPr>
              <a:t>Student 1 </a:t>
            </a:r>
            <a:r>
              <a:rPr lang="en-US" altLang="zh-CN" sz="1400" b="0" i="0" dirty="0">
                <a:effectLst/>
                <a:latin typeface="-apple-system"/>
              </a:rPr>
              <a:t> I also liked the fact that you included a section on </a:t>
            </a:r>
            <a:r>
              <a:rPr lang="en-US" altLang="zh-CN" sz="1400" b="1" i="0" dirty="0">
                <a:effectLst/>
                <a:latin typeface="-apple-system"/>
              </a:rPr>
              <a:t>exercise</a:t>
            </a:r>
            <a:r>
              <a:rPr lang="en-US" altLang="zh-CN" sz="1400" b="0" i="0" dirty="0">
                <a:effectLst/>
                <a:latin typeface="-apple-system"/>
              </a:rPr>
              <a:t> – it was a nice addition to the topic, and it kept things interesting.</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197031" y="809148"/>
            <a:ext cx="5091613" cy="4708981"/>
          </a:xfrm>
          <a:prstGeom prst="rect">
            <a:avLst/>
          </a:prstGeom>
          <a:noFill/>
        </p:spPr>
        <p:txBody>
          <a:bodyPr wrap="square" rtlCol="0">
            <a:spAutoFit/>
          </a:bodyPr>
          <a:lstStyle/>
          <a:p>
            <a:r>
              <a:rPr lang="en-US" altLang="zh-CN" sz="2000" b="0" i="0" dirty="0">
                <a:effectLst/>
                <a:latin typeface="-apple-system"/>
              </a:rPr>
              <a:t>balanced	</a:t>
            </a:r>
            <a:r>
              <a:rPr lang="zh-CN" altLang="zh-CN" sz="2000" dirty="0">
                <a:ea typeface="Microsoft Yahei" panose="020B0503020204020204" pitchFamily="34" charset="-122"/>
              </a:rPr>
              <a:t>平衡</a:t>
            </a:r>
            <a:r>
              <a:rPr lang="en-US" altLang="zh-CN" sz="2000" b="0" i="0" dirty="0">
                <a:effectLst/>
                <a:latin typeface="-apple-system"/>
              </a:rPr>
              <a:t>	</a:t>
            </a:r>
            <a:r>
              <a:rPr lang="en-US" altLang="zh-CN" sz="2000" b="0" i="0" dirty="0">
                <a:solidFill>
                  <a:srgbClr val="F35C70"/>
                </a:solidFill>
                <a:effectLst/>
                <a:latin typeface="-apple-system"/>
              </a:rPr>
              <a:t>even</a:t>
            </a:r>
          </a:p>
          <a:p>
            <a:r>
              <a:rPr lang="en-US" altLang="zh-CN" sz="2000" b="0" i="0" dirty="0">
                <a:effectLst/>
                <a:latin typeface="-apple-system"/>
              </a:rPr>
              <a:t>Dumb</a:t>
            </a:r>
            <a:r>
              <a:rPr lang="en-US" altLang="zh-CN" sz="2000" dirty="0">
                <a:solidFill>
                  <a:srgbClr val="F35C70"/>
                </a:solidFill>
                <a:latin typeface="-apple-system"/>
              </a:rPr>
              <a:t>		</a:t>
            </a:r>
            <a:r>
              <a:rPr lang="zh-CN" altLang="en-US" sz="2000" dirty="0">
                <a:solidFill>
                  <a:srgbClr val="F35C70"/>
                </a:solidFill>
                <a:latin typeface="-apple-system"/>
              </a:rPr>
              <a:t>愚蠢</a:t>
            </a:r>
            <a:r>
              <a:rPr lang="en-US" altLang="zh-CN" sz="2000" dirty="0">
                <a:solidFill>
                  <a:srgbClr val="F35C70"/>
                </a:solidFill>
                <a:latin typeface="-apple-system"/>
              </a:rPr>
              <a:t>	</a:t>
            </a:r>
            <a:r>
              <a:rPr lang="en-US" altLang="zh-CN" sz="2000" b="0" i="0" dirty="0">
                <a:solidFill>
                  <a:srgbClr val="F35C70"/>
                </a:solidFill>
                <a:effectLst/>
                <a:latin typeface="-apple-system"/>
              </a:rPr>
              <a:t>ignorant</a:t>
            </a:r>
            <a:endParaRPr lang="en-US" altLang="zh-CN" sz="2000" dirty="0">
              <a:solidFill>
                <a:srgbClr val="F35C70"/>
              </a:solidFill>
              <a:latin typeface="-apple-system"/>
            </a:endParaRPr>
          </a:p>
          <a:p>
            <a:r>
              <a:rPr lang="en-US" altLang="zh-CN" sz="2000" b="0" i="0" dirty="0">
                <a:effectLst/>
                <a:latin typeface="-apple-system"/>
              </a:rPr>
              <a:t>Endurance</a:t>
            </a:r>
            <a:r>
              <a:rPr lang="en-US" altLang="zh-CN" sz="2000" b="0" i="0" dirty="0">
                <a:solidFill>
                  <a:srgbClr val="F35C70"/>
                </a:solidFill>
                <a:effectLst/>
                <a:latin typeface="-apple-system"/>
              </a:rPr>
              <a:t>	</a:t>
            </a:r>
            <a:r>
              <a:rPr lang="zh-CN" altLang="en-US" sz="2000" dirty="0">
                <a:solidFill>
                  <a:srgbClr val="F35C70"/>
                </a:solidFill>
                <a:latin typeface="-apple-system"/>
              </a:rPr>
              <a:t>耐力</a:t>
            </a:r>
            <a:r>
              <a:rPr lang="en-US" altLang="zh-CN" sz="2000" b="0" i="0" dirty="0">
                <a:solidFill>
                  <a:srgbClr val="F35C70"/>
                </a:solidFill>
                <a:effectLst/>
                <a:latin typeface="-apple-system"/>
              </a:rPr>
              <a:t>	stamina</a:t>
            </a:r>
          </a:p>
          <a:p>
            <a:r>
              <a:rPr lang="en-US" altLang="zh-CN" sz="2000" b="0" i="0" dirty="0">
                <a:effectLst/>
                <a:latin typeface="-apple-system"/>
              </a:rPr>
              <a:t>Absorbing</a:t>
            </a:r>
            <a:r>
              <a:rPr lang="en-US" altLang="zh-CN" sz="2000" dirty="0">
                <a:solidFill>
                  <a:srgbClr val="F35C70"/>
                </a:solidFill>
                <a:latin typeface="-apple-system"/>
              </a:rPr>
              <a:t>	</a:t>
            </a:r>
            <a:r>
              <a:rPr lang="zh-CN" altLang="en-US" sz="2000" dirty="0">
                <a:solidFill>
                  <a:srgbClr val="F35C70"/>
                </a:solidFill>
                <a:latin typeface="-apple-system"/>
              </a:rPr>
              <a:t>吸收</a:t>
            </a:r>
            <a:r>
              <a:rPr lang="en-US" altLang="zh-CN" sz="2000" dirty="0">
                <a:solidFill>
                  <a:srgbClr val="F35C70"/>
                </a:solidFill>
                <a:latin typeface="-apple-system"/>
              </a:rPr>
              <a:t>	</a:t>
            </a:r>
            <a:r>
              <a:rPr lang="en-US" altLang="zh-CN" sz="2000" b="0" i="0" dirty="0">
                <a:solidFill>
                  <a:srgbClr val="F35C70"/>
                </a:solidFill>
                <a:effectLst/>
                <a:latin typeface="-apple-system"/>
              </a:rPr>
              <a:t>integrating</a:t>
            </a:r>
          </a:p>
          <a:p>
            <a:r>
              <a:rPr lang="en-US" altLang="zh-CN" sz="2000" b="0" i="0" dirty="0">
                <a:effectLst/>
                <a:latin typeface="-apple-system"/>
              </a:rPr>
              <a:t>Exhausted</a:t>
            </a:r>
            <a:r>
              <a:rPr lang="en-US" altLang="zh-CN" sz="2000" b="0" i="0" dirty="0">
                <a:solidFill>
                  <a:srgbClr val="F35C70"/>
                </a:solidFill>
                <a:effectLst/>
                <a:latin typeface="-apple-system"/>
              </a:rPr>
              <a:t>          </a:t>
            </a:r>
            <a:r>
              <a:rPr lang="zh-CN" altLang="en-US" sz="2000" dirty="0">
                <a:solidFill>
                  <a:srgbClr val="F35C70"/>
                </a:solidFill>
                <a:latin typeface="-apple-system"/>
              </a:rPr>
              <a:t>疲惫不堪 </a:t>
            </a:r>
            <a:r>
              <a:rPr lang="en-US" altLang="zh-CN" sz="2000" dirty="0">
                <a:solidFill>
                  <a:srgbClr val="F35C70"/>
                </a:solidFill>
                <a:latin typeface="-apple-system"/>
              </a:rPr>
              <a:t>	</a:t>
            </a:r>
            <a:r>
              <a:rPr lang="en-US" altLang="zh-CN" sz="2000" b="0" i="0" dirty="0">
                <a:solidFill>
                  <a:srgbClr val="F35C70"/>
                </a:solidFill>
                <a:effectLst/>
                <a:latin typeface="-apple-system"/>
              </a:rPr>
              <a:t>tired</a:t>
            </a:r>
            <a:endParaRPr lang="en-US" altLang="zh-CN" sz="2000" dirty="0">
              <a:solidFill>
                <a:srgbClr val="F35C70"/>
              </a:solidFill>
              <a:latin typeface="-apple-system"/>
            </a:endParaRPr>
          </a:p>
          <a:p>
            <a:r>
              <a:rPr lang="en-US" altLang="zh-CN" sz="2000" b="0" i="0" dirty="0">
                <a:effectLst/>
                <a:latin typeface="-apple-system"/>
              </a:rPr>
              <a:t>Strength</a:t>
            </a:r>
            <a:r>
              <a:rPr lang="en-US" altLang="zh-CN" sz="2000" b="0" i="0" dirty="0">
                <a:solidFill>
                  <a:srgbClr val="F35C70"/>
                </a:solidFill>
                <a:effectLst/>
                <a:latin typeface="-apple-system"/>
              </a:rPr>
              <a:t>		</a:t>
            </a:r>
            <a:r>
              <a:rPr lang="zh-CN" altLang="en-US" sz="2000" dirty="0">
                <a:solidFill>
                  <a:srgbClr val="F35C70"/>
                </a:solidFill>
                <a:latin typeface="-apple-system"/>
              </a:rPr>
              <a:t>力量</a:t>
            </a:r>
            <a:r>
              <a:rPr lang="en-US" altLang="zh-CN" sz="2000" b="0" i="0" dirty="0">
                <a:solidFill>
                  <a:srgbClr val="F35C70"/>
                </a:solidFill>
                <a:effectLst/>
                <a:latin typeface="-apple-system"/>
              </a:rPr>
              <a:t>	vigor</a:t>
            </a:r>
          </a:p>
          <a:p>
            <a:r>
              <a:rPr lang="en-US" altLang="zh-CN" sz="2000" b="0" i="0" dirty="0">
                <a:effectLst/>
                <a:latin typeface="-apple-system"/>
              </a:rPr>
              <a:t>Jeopardy</a:t>
            </a:r>
            <a:r>
              <a:rPr lang="en-US" altLang="zh-CN" sz="2000" dirty="0">
                <a:solidFill>
                  <a:srgbClr val="F35C70"/>
                </a:solidFill>
                <a:latin typeface="-apple-system"/>
              </a:rPr>
              <a:t>	</a:t>
            </a:r>
            <a:r>
              <a:rPr lang="zh-CN" altLang="en-US" sz="2000" dirty="0">
                <a:solidFill>
                  <a:srgbClr val="F35C70"/>
                </a:solidFill>
                <a:latin typeface="-apple-system"/>
              </a:rPr>
              <a:t>危险</a:t>
            </a:r>
            <a:r>
              <a:rPr lang="en-US" altLang="zh-CN" sz="2000" dirty="0">
                <a:solidFill>
                  <a:srgbClr val="F35C70"/>
                </a:solidFill>
                <a:latin typeface="-apple-system"/>
              </a:rPr>
              <a:t>	</a:t>
            </a:r>
            <a:r>
              <a:rPr lang="en-US" altLang="zh-CN" sz="2000" b="0" i="0" dirty="0">
                <a:solidFill>
                  <a:srgbClr val="F35C70"/>
                </a:solidFill>
                <a:effectLst/>
                <a:latin typeface="-apple-system"/>
              </a:rPr>
              <a:t>danger</a:t>
            </a:r>
            <a:endParaRPr lang="en-US" altLang="zh-CN" sz="2000" dirty="0">
              <a:solidFill>
                <a:srgbClr val="F35C70"/>
              </a:solidFill>
              <a:latin typeface="-apple-system"/>
            </a:endParaRPr>
          </a:p>
          <a:p>
            <a:r>
              <a:rPr lang="en-US" altLang="zh-CN" sz="2000" b="0" i="0" dirty="0">
                <a:effectLst/>
                <a:latin typeface="-apple-system"/>
              </a:rPr>
              <a:t>Diseases</a:t>
            </a:r>
            <a:r>
              <a:rPr lang="en-US" altLang="zh-CN" sz="2000" b="0" i="0" dirty="0">
                <a:solidFill>
                  <a:srgbClr val="F35C70"/>
                </a:solidFill>
                <a:effectLst/>
                <a:latin typeface="-apple-system"/>
              </a:rPr>
              <a:t>		</a:t>
            </a:r>
            <a:r>
              <a:rPr lang="zh-CN" altLang="en-US" sz="2000" dirty="0">
                <a:solidFill>
                  <a:srgbClr val="F35C70"/>
                </a:solidFill>
                <a:latin typeface="-apple-system"/>
              </a:rPr>
              <a:t>疾病</a:t>
            </a:r>
            <a:r>
              <a:rPr lang="en-US" altLang="zh-CN" sz="2000" b="0" i="0" dirty="0">
                <a:solidFill>
                  <a:srgbClr val="F35C70"/>
                </a:solidFill>
                <a:effectLst/>
                <a:latin typeface="-apple-system"/>
              </a:rPr>
              <a:t>	Illnesses</a:t>
            </a:r>
          </a:p>
          <a:p>
            <a:r>
              <a:rPr lang="en-US" altLang="zh-CN" sz="2000" b="0" i="0" dirty="0">
                <a:effectLst/>
                <a:latin typeface="-apple-system"/>
              </a:rPr>
              <a:t>Remedy</a:t>
            </a:r>
            <a:r>
              <a:rPr lang="en-US" altLang="zh-CN" sz="2000" dirty="0">
                <a:solidFill>
                  <a:srgbClr val="F35C70"/>
                </a:solidFill>
                <a:latin typeface="-apple-system"/>
              </a:rPr>
              <a:t>	             </a:t>
            </a:r>
            <a:r>
              <a:rPr lang="zh-CN" altLang="en-US" sz="2000" dirty="0">
                <a:solidFill>
                  <a:srgbClr val="F35C70"/>
                </a:solidFill>
                <a:latin typeface="-apple-system"/>
              </a:rPr>
              <a:t>补救措施</a:t>
            </a:r>
            <a:r>
              <a:rPr lang="en-US" altLang="zh-CN" sz="2000" dirty="0">
                <a:solidFill>
                  <a:srgbClr val="F35C70"/>
                </a:solidFill>
                <a:latin typeface="-apple-system"/>
              </a:rPr>
              <a:t>	</a:t>
            </a:r>
            <a:r>
              <a:rPr lang="en-US" altLang="zh-CN" sz="2000" b="0" i="0" dirty="0">
                <a:solidFill>
                  <a:srgbClr val="F35C70"/>
                </a:solidFill>
                <a:effectLst/>
                <a:latin typeface="-apple-system"/>
              </a:rPr>
              <a:t>solution</a:t>
            </a:r>
            <a:endParaRPr lang="en-US" altLang="zh-CN" sz="2000" dirty="0">
              <a:solidFill>
                <a:srgbClr val="F35C70"/>
              </a:solidFill>
              <a:latin typeface="-apple-system"/>
            </a:endParaRPr>
          </a:p>
          <a:p>
            <a:r>
              <a:rPr lang="en-US" altLang="zh-CN" sz="2000" b="0" i="0" dirty="0">
                <a:effectLst/>
                <a:latin typeface="-apple-system"/>
              </a:rPr>
              <a:t>Detrimental</a:t>
            </a:r>
            <a:r>
              <a:rPr lang="en-US" altLang="zh-CN" sz="2000" b="0" i="0" dirty="0">
                <a:solidFill>
                  <a:srgbClr val="F35C70"/>
                </a:solidFill>
                <a:effectLst/>
                <a:latin typeface="-apple-system"/>
              </a:rPr>
              <a:t>	</a:t>
            </a:r>
            <a:r>
              <a:rPr lang="zh-CN" altLang="en-US" sz="2000" dirty="0">
                <a:solidFill>
                  <a:srgbClr val="F35C70"/>
                </a:solidFill>
                <a:latin typeface="-apple-system"/>
              </a:rPr>
              <a:t>有害</a:t>
            </a:r>
            <a:r>
              <a:rPr lang="en-US" altLang="zh-CN" sz="2000" b="0" i="0" dirty="0">
                <a:solidFill>
                  <a:srgbClr val="F35C70"/>
                </a:solidFill>
                <a:effectLst/>
                <a:latin typeface="-apple-system"/>
              </a:rPr>
              <a:t>	harmful</a:t>
            </a:r>
          </a:p>
          <a:p>
            <a:r>
              <a:rPr lang="en-US" altLang="zh-CN" sz="2000" b="0" i="0" dirty="0">
                <a:effectLst/>
                <a:latin typeface="-apple-system"/>
              </a:rPr>
              <a:t>Innocuous</a:t>
            </a:r>
            <a:r>
              <a:rPr lang="en-US" altLang="zh-CN" sz="2000" dirty="0">
                <a:solidFill>
                  <a:srgbClr val="F35C70"/>
                </a:solidFill>
                <a:latin typeface="-apple-system"/>
              </a:rPr>
              <a:t>	</a:t>
            </a:r>
            <a:r>
              <a:rPr lang="zh-CN" altLang="en-US" sz="2000" dirty="0">
                <a:solidFill>
                  <a:srgbClr val="F35C70"/>
                </a:solidFill>
                <a:latin typeface="-apple-system"/>
              </a:rPr>
              <a:t>无害</a:t>
            </a:r>
            <a:r>
              <a:rPr lang="en-US" altLang="zh-CN" sz="2000" dirty="0">
                <a:solidFill>
                  <a:srgbClr val="F35C70"/>
                </a:solidFill>
                <a:latin typeface="-apple-system"/>
              </a:rPr>
              <a:t>	</a:t>
            </a:r>
            <a:r>
              <a:rPr lang="en-US" altLang="zh-CN" sz="2000" b="0" i="0" dirty="0">
                <a:solidFill>
                  <a:srgbClr val="F35C70"/>
                </a:solidFill>
                <a:effectLst/>
                <a:latin typeface="-apple-system"/>
              </a:rPr>
              <a:t>harmless</a:t>
            </a:r>
            <a:endParaRPr lang="en-US" altLang="zh-CN" sz="2000" dirty="0">
              <a:solidFill>
                <a:srgbClr val="F35C70"/>
              </a:solidFill>
              <a:latin typeface="-apple-system"/>
            </a:endParaRPr>
          </a:p>
          <a:p>
            <a:r>
              <a:rPr lang="en-US" altLang="zh-CN" sz="2000" b="0" i="0" dirty="0">
                <a:effectLst/>
                <a:latin typeface="-apple-system"/>
              </a:rPr>
              <a:t>Search</a:t>
            </a:r>
            <a:r>
              <a:rPr lang="en-US" altLang="zh-CN" sz="2000" b="0" i="0" dirty="0">
                <a:solidFill>
                  <a:srgbClr val="F35C70"/>
                </a:solidFill>
                <a:effectLst/>
                <a:latin typeface="-apple-system"/>
              </a:rPr>
              <a:t>		</a:t>
            </a:r>
            <a:r>
              <a:rPr lang="zh-CN" altLang="en-US" sz="2000" dirty="0">
                <a:solidFill>
                  <a:srgbClr val="F35C70"/>
                </a:solidFill>
                <a:latin typeface="-apple-system"/>
              </a:rPr>
              <a:t>搜索</a:t>
            </a:r>
            <a:r>
              <a:rPr lang="en-US" altLang="zh-CN" sz="2000" b="0" i="0" dirty="0">
                <a:solidFill>
                  <a:srgbClr val="F35C70"/>
                </a:solidFill>
                <a:effectLst/>
                <a:latin typeface="-apple-system"/>
              </a:rPr>
              <a:t>	look</a:t>
            </a:r>
          </a:p>
          <a:p>
            <a:r>
              <a:rPr lang="en-US" altLang="zh-CN" sz="2000" b="0" i="0" dirty="0">
                <a:effectLst/>
                <a:latin typeface="-apple-system"/>
              </a:rPr>
              <a:t>Seemingly</a:t>
            </a:r>
            <a:r>
              <a:rPr lang="en-US" altLang="zh-CN" sz="2000" dirty="0">
                <a:solidFill>
                  <a:srgbClr val="F35C70"/>
                </a:solidFill>
                <a:latin typeface="-apple-system"/>
              </a:rPr>
              <a:t>	</a:t>
            </a:r>
            <a:r>
              <a:rPr lang="zh-CN" altLang="en-US" sz="2000" dirty="0">
                <a:solidFill>
                  <a:srgbClr val="F35C70"/>
                </a:solidFill>
                <a:latin typeface="-apple-system"/>
              </a:rPr>
              <a:t>看似</a:t>
            </a:r>
            <a:r>
              <a:rPr lang="en-US" altLang="zh-CN" sz="2000" dirty="0">
                <a:solidFill>
                  <a:srgbClr val="F35C70"/>
                </a:solidFill>
                <a:latin typeface="-apple-system"/>
              </a:rPr>
              <a:t>	</a:t>
            </a:r>
            <a:r>
              <a:rPr lang="en-US" altLang="zh-CN" sz="2000" b="0" i="0" dirty="0">
                <a:solidFill>
                  <a:srgbClr val="F35C70"/>
                </a:solidFill>
                <a:effectLst/>
                <a:latin typeface="-apple-system"/>
              </a:rPr>
              <a:t>apparently</a:t>
            </a:r>
            <a:endParaRPr lang="en-US" altLang="zh-CN" sz="2000" dirty="0">
              <a:solidFill>
                <a:srgbClr val="F35C70"/>
              </a:solidFill>
              <a:latin typeface="-apple-system"/>
            </a:endParaRPr>
          </a:p>
          <a:p>
            <a:r>
              <a:rPr lang="en-US" altLang="zh-CN" sz="2000" b="0" i="0" dirty="0">
                <a:effectLst/>
                <a:latin typeface="-apple-system"/>
              </a:rPr>
              <a:t>Admire</a:t>
            </a:r>
            <a:r>
              <a:rPr lang="en-US" altLang="zh-CN" sz="2000" b="0" i="0" dirty="0">
                <a:solidFill>
                  <a:srgbClr val="F35C70"/>
                </a:solidFill>
                <a:effectLst/>
                <a:latin typeface="-apple-system"/>
              </a:rPr>
              <a:t>		</a:t>
            </a:r>
            <a:r>
              <a:rPr lang="zh-CN" altLang="en-US" sz="2000" dirty="0">
                <a:solidFill>
                  <a:srgbClr val="F35C70"/>
                </a:solidFill>
                <a:latin typeface="-apple-system"/>
              </a:rPr>
              <a:t>钦佩</a:t>
            </a:r>
            <a:r>
              <a:rPr lang="en-US" altLang="zh-CN" sz="2000" b="0" i="0" dirty="0">
                <a:solidFill>
                  <a:srgbClr val="F35C70"/>
                </a:solidFill>
                <a:effectLst/>
                <a:latin typeface="-apple-system"/>
              </a:rPr>
              <a:t>	respect</a:t>
            </a:r>
          </a:p>
          <a:p>
            <a:r>
              <a:rPr lang="en-US" altLang="zh-CN" sz="2000" b="0" i="0" dirty="0">
                <a:effectLst/>
                <a:latin typeface="-apple-system"/>
              </a:rPr>
              <a:t>Exercise	</a:t>
            </a:r>
            <a:r>
              <a:rPr lang="en-US" altLang="zh-CN" sz="2000" dirty="0">
                <a:solidFill>
                  <a:srgbClr val="F35C70"/>
                </a:solidFill>
                <a:latin typeface="-apple-system"/>
              </a:rPr>
              <a:t>	</a:t>
            </a:r>
            <a:r>
              <a:rPr lang="zh-CN" altLang="en-US" sz="2000" dirty="0">
                <a:solidFill>
                  <a:srgbClr val="F35C70"/>
                </a:solidFill>
                <a:latin typeface="-apple-system"/>
              </a:rPr>
              <a:t>运动</a:t>
            </a:r>
            <a:r>
              <a:rPr lang="en-US" altLang="zh-CN" sz="2000" dirty="0">
                <a:solidFill>
                  <a:srgbClr val="F35C70"/>
                </a:solidFill>
                <a:latin typeface="-apple-system"/>
              </a:rPr>
              <a:t>	</a:t>
            </a:r>
            <a:r>
              <a:rPr lang="en-US" altLang="zh-CN" sz="2000" b="0" i="0" dirty="0">
                <a:solidFill>
                  <a:srgbClr val="F35C70"/>
                </a:solidFill>
                <a:effectLst/>
                <a:latin typeface="-apple-system"/>
              </a:rPr>
              <a:t>workout</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3B</a:t>
            </a:r>
            <a:endParaRPr lang="zh-CN" altLang="en-US" dirty="0"/>
          </a:p>
        </p:txBody>
      </p:sp>
    </p:spTree>
    <p:extLst>
      <p:ext uri="{BB962C8B-B14F-4D97-AF65-F5344CB8AC3E}">
        <p14:creationId xmlns:p14="http://schemas.microsoft.com/office/powerpoint/2010/main" val="1384066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6970604" cy="6370975"/>
          </a:xfrm>
          <a:prstGeom prst="rect">
            <a:avLst/>
          </a:prstGeom>
          <a:noFill/>
        </p:spPr>
        <p:txBody>
          <a:bodyPr wrap="square" rtlCol="0">
            <a:spAutoFit/>
          </a:bodyPr>
          <a:lstStyle/>
          <a:p>
            <a:pPr algn="just"/>
            <a:r>
              <a:rPr lang="en-US" altLang="zh-CN" sz="2400" b="0" i="0" dirty="0">
                <a:effectLst/>
                <a:latin typeface="-apple-system"/>
              </a:rPr>
              <a:t>Claude Monet, </a:t>
            </a:r>
            <a:r>
              <a:rPr lang="en-US" altLang="zh-CN" sz="2400" b="1" i="0" dirty="0">
                <a:effectLst/>
                <a:latin typeface="-apple-system"/>
              </a:rPr>
              <a:t>perhaps</a:t>
            </a:r>
            <a:r>
              <a:rPr lang="en-US" altLang="zh-CN" sz="2400" b="0" i="0" dirty="0">
                <a:effectLst/>
                <a:latin typeface="-apple-system"/>
              </a:rPr>
              <a:t> one of the best-known painters of the 20th-century art movement known as Impressionism, utterly transformed the world of painting. At first, his works were </a:t>
            </a:r>
            <a:r>
              <a:rPr lang="en-US" altLang="zh-CN" sz="2400" b="1" i="0" dirty="0">
                <a:effectLst/>
                <a:latin typeface="-apple-system"/>
              </a:rPr>
              <a:t>controversial</a:t>
            </a:r>
            <a:r>
              <a:rPr lang="en-US" altLang="zh-CN" sz="2400" b="0" i="0" dirty="0">
                <a:effectLst/>
                <a:latin typeface="-apple-system"/>
              </a:rPr>
              <a:t> because rather than looking back older paintings as his </a:t>
            </a:r>
            <a:r>
              <a:rPr lang="en-US" altLang="zh-CN" sz="2400" b="1" i="0" dirty="0">
                <a:effectLst/>
                <a:latin typeface="-apple-system"/>
              </a:rPr>
              <a:t>source</a:t>
            </a:r>
            <a:r>
              <a:rPr lang="en-US" altLang="zh-CN" sz="2400" b="0" i="0" dirty="0">
                <a:effectLst/>
                <a:latin typeface="-apple-system"/>
              </a:rPr>
              <a:t> of creativity, as was </a:t>
            </a:r>
            <a:r>
              <a:rPr lang="en-US" altLang="zh-CN" sz="2400" b="1" i="0" dirty="0">
                <a:effectLst/>
                <a:latin typeface="-apple-system"/>
              </a:rPr>
              <a:t>by and large</a:t>
            </a:r>
            <a:r>
              <a:rPr lang="en-US" altLang="zh-CN" sz="2400" b="0" i="0" dirty="0">
                <a:effectLst/>
                <a:latin typeface="-apple-system"/>
              </a:rPr>
              <a:t> the custom among </a:t>
            </a:r>
            <a:r>
              <a:rPr lang="en-US" altLang="zh-CN" sz="2400" b="1" i="0" dirty="0">
                <a:effectLst/>
                <a:latin typeface="-apple-system"/>
              </a:rPr>
              <a:t>contemporary</a:t>
            </a:r>
            <a:r>
              <a:rPr lang="en-US" altLang="zh-CN" sz="2400" b="0" i="0" dirty="0">
                <a:effectLst/>
                <a:latin typeface="-apple-system"/>
              </a:rPr>
              <a:t> artists at the time, Monet went </a:t>
            </a:r>
            <a:r>
              <a:rPr lang="en-US" altLang="zh-CN" sz="2400" b="1" i="0" dirty="0">
                <a:effectLst/>
                <a:latin typeface="-apple-system"/>
              </a:rPr>
              <a:t>directly</a:t>
            </a:r>
            <a:r>
              <a:rPr lang="en-US" altLang="zh-CN" sz="2400" b="0" i="0" dirty="0">
                <a:effectLst/>
                <a:latin typeface="-apple-system"/>
              </a:rPr>
              <a:t> to nature instead. Acting on instinct, Monet painted Water Lilies, his </a:t>
            </a:r>
            <a:r>
              <a:rPr lang="en-US" altLang="zh-CN" sz="2400" b="1" i="0" dirty="0">
                <a:effectLst/>
                <a:latin typeface="-apple-system"/>
              </a:rPr>
              <a:t>masterpiece</a:t>
            </a:r>
            <a:r>
              <a:rPr lang="en-US" altLang="zh-CN" sz="2400" b="0" i="0" dirty="0">
                <a:effectLst/>
                <a:latin typeface="-apple-system"/>
              </a:rPr>
              <a:t>: a series of paintings that all </a:t>
            </a:r>
            <a:r>
              <a:rPr lang="en-US" altLang="zh-CN" sz="2400" b="1" i="0" dirty="0">
                <a:effectLst/>
                <a:latin typeface="-apple-system"/>
              </a:rPr>
              <a:t>illustrate</a:t>
            </a:r>
            <a:r>
              <a:rPr lang="en-US" altLang="zh-CN" sz="2400" b="0" i="0" dirty="0">
                <a:effectLst/>
                <a:latin typeface="-apple-system"/>
              </a:rPr>
              <a:t> the same subject matter, inspired by the </a:t>
            </a:r>
            <a:r>
              <a:rPr lang="en-US" altLang="zh-CN" sz="2400" b="1" i="0" dirty="0">
                <a:effectLst/>
                <a:latin typeface="-apple-system"/>
              </a:rPr>
              <a:t>serene</a:t>
            </a:r>
            <a:r>
              <a:rPr lang="en-US" altLang="zh-CN" sz="2400" b="0" i="0" dirty="0">
                <a:effectLst/>
                <a:latin typeface="-apple-system"/>
              </a:rPr>
              <a:t> landscapes and water lily ponds at his </a:t>
            </a:r>
            <a:r>
              <a:rPr lang="en-US" altLang="zh-CN" sz="2400" b="1" i="0" dirty="0">
                <a:effectLst/>
                <a:latin typeface="-apple-system"/>
              </a:rPr>
              <a:t>marvelous</a:t>
            </a:r>
            <a:r>
              <a:rPr lang="en-US" altLang="zh-CN" sz="2400" b="0" i="0" dirty="0">
                <a:effectLst/>
                <a:latin typeface="-apple-system"/>
              </a:rPr>
              <a:t> gardens in Giverny, France. The series occupied the </a:t>
            </a:r>
            <a:r>
              <a:rPr lang="en-US" altLang="zh-CN" sz="2400" b="1" i="0" dirty="0">
                <a:effectLst/>
                <a:latin typeface="-apple-system"/>
              </a:rPr>
              <a:t>vast</a:t>
            </a:r>
            <a:r>
              <a:rPr lang="en-US" altLang="zh-CN" sz="2400" b="0" i="0" dirty="0">
                <a:effectLst/>
                <a:latin typeface="-apple-system"/>
              </a:rPr>
              <a:t> majority of the </a:t>
            </a:r>
            <a:r>
              <a:rPr lang="en-US" altLang="zh-CN" sz="2400" b="1" i="0" dirty="0">
                <a:effectLst/>
                <a:latin typeface="-apple-system"/>
              </a:rPr>
              <a:t>last</a:t>
            </a:r>
            <a:r>
              <a:rPr lang="en-US" altLang="zh-CN" sz="2400" b="0" i="0" dirty="0">
                <a:effectLst/>
                <a:latin typeface="-apple-system"/>
              </a:rPr>
              <a:t> 30 years of his life. Although many of Monet’s works were painted while his vision was </a:t>
            </a:r>
            <a:r>
              <a:rPr lang="en-US" altLang="zh-CN" sz="2400" b="1" i="0" dirty="0">
                <a:effectLst/>
                <a:latin typeface="-apple-system"/>
              </a:rPr>
              <a:t>stolen</a:t>
            </a:r>
            <a:r>
              <a:rPr lang="en-US" altLang="zh-CN" sz="2400" b="0" i="0" dirty="0">
                <a:effectLst/>
                <a:latin typeface="-apple-system"/>
              </a:rPr>
              <a:t> by cataracts, the images appear to </a:t>
            </a:r>
            <a:r>
              <a:rPr lang="en-US" altLang="zh-CN" sz="2400" b="1" i="0" dirty="0">
                <a:effectLst/>
                <a:latin typeface="-apple-system"/>
              </a:rPr>
              <a:t>transcend</a:t>
            </a:r>
            <a:r>
              <a:rPr lang="en-US" altLang="zh-CN" sz="2400" b="0" i="0" dirty="0">
                <a:effectLst/>
                <a:latin typeface="-apple-system"/>
              </a:rPr>
              <a:t> time and space to </a:t>
            </a:r>
            <a:r>
              <a:rPr lang="en-US" altLang="zh-CN" sz="2400" b="1" i="0" dirty="0">
                <a:effectLst/>
                <a:latin typeface="-apple-system"/>
              </a:rPr>
              <a:t>uplift</a:t>
            </a:r>
            <a:r>
              <a:rPr lang="en-US" altLang="zh-CN" sz="2400" b="0" i="0" dirty="0">
                <a:effectLst/>
                <a:latin typeface="-apple-system"/>
              </a:rPr>
              <a:t> all who view them.</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1" y="779412"/>
            <a:ext cx="4876022" cy="4708981"/>
          </a:xfrm>
          <a:prstGeom prst="rect">
            <a:avLst/>
          </a:prstGeom>
          <a:noFill/>
        </p:spPr>
        <p:txBody>
          <a:bodyPr wrap="square" rtlCol="0">
            <a:spAutoFit/>
          </a:bodyPr>
          <a:lstStyle/>
          <a:p>
            <a:r>
              <a:rPr lang="en-US" altLang="zh-CN" sz="2000" b="0" i="0" dirty="0">
                <a:effectLst/>
                <a:latin typeface="-apple-system"/>
              </a:rPr>
              <a:t>perhaps			</a:t>
            </a:r>
            <a:r>
              <a:rPr lang="en-US" altLang="zh-CN" sz="2000" b="0" i="0" dirty="0">
                <a:solidFill>
                  <a:srgbClr val="F35C70"/>
                </a:solidFill>
                <a:effectLst/>
                <a:latin typeface="-apple-system"/>
              </a:rPr>
              <a:t>possibly</a:t>
            </a:r>
          </a:p>
          <a:p>
            <a:r>
              <a:rPr lang="en-US" altLang="zh-CN" sz="2000" b="0" i="0" dirty="0">
                <a:effectLst/>
                <a:latin typeface="-apple-system"/>
              </a:rPr>
              <a:t>Controversial		</a:t>
            </a:r>
            <a:r>
              <a:rPr lang="en-US" altLang="zh-CN" sz="2000" b="0" i="0" dirty="0">
                <a:solidFill>
                  <a:srgbClr val="F35C70"/>
                </a:solidFill>
                <a:effectLst/>
                <a:latin typeface="-apple-system"/>
              </a:rPr>
              <a:t>contentious</a:t>
            </a:r>
          </a:p>
          <a:p>
            <a:r>
              <a:rPr lang="en-US" altLang="zh-CN" sz="2000" b="0" i="0" dirty="0">
                <a:effectLst/>
                <a:latin typeface="-apple-system"/>
              </a:rPr>
              <a:t>Source</a:t>
            </a:r>
            <a:r>
              <a:rPr lang="en-US" altLang="zh-CN" sz="2000" dirty="0">
                <a:solidFill>
                  <a:srgbClr val="F35C70"/>
                </a:solidFill>
                <a:latin typeface="-apple-system"/>
              </a:rPr>
              <a:t>			</a:t>
            </a:r>
            <a:r>
              <a:rPr lang="en-US" altLang="zh-CN" sz="2000" b="0" i="0" dirty="0">
                <a:solidFill>
                  <a:srgbClr val="F35C70"/>
                </a:solidFill>
                <a:effectLst/>
                <a:latin typeface="-apple-system"/>
              </a:rPr>
              <a:t>origin</a:t>
            </a:r>
            <a:endParaRPr lang="en-US" altLang="zh-CN" sz="2000" dirty="0">
              <a:solidFill>
                <a:srgbClr val="F35C70"/>
              </a:solidFill>
              <a:latin typeface="-apple-system"/>
            </a:endParaRPr>
          </a:p>
          <a:p>
            <a:r>
              <a:rPr lang="en-US" altLang="zh-CN" sz="2000" b="0" i="0" dirty="0">
                <a:effectLst/>
                <a:latin typeface="-apple-system"/>
              </a:rPr>
              <a:t>by and large</a:t>
            </a:r>
            <a:r>
              <a:rPr lang="en-US" altLang="zh-CN" sz="2000" b="0" i="0" dirty="0">
                <a:solidFill>
                  <a:srgbClr val="F35C70"/>
                </a:solidFill>
                <a:effectLst/>
                <a:latin typeface="-apple-system"/>
              </a:rPr>
              <a:t>		on the whole</a:t>
            </a:r>
          </a:p>
          <a:p>
            <a:r>
              <a:rPr lang="en-US" altLang="zh-CN" sz="2000" b="0" i="0" dirty="0">
                <a:effectLst/>
                <a:latin typeface="-apple-system"/>
              </a:rPr>
              <a:t>Contemporary</a:t>
            </a:r>
            <a:r>
              <a:rPr lang="en-US" altLang="zh-CN" sz="2000" dirty="0">
                <a:solidFill>
                  <a:srgbClr val="F35C70"/>
                </a:solidFill>
                <a:latin typeface="-apple-system"/>
              </a:rPr>
              <a:t>		</a:t>
            </a:r>
            <a:r>
              <a:rPr lang="en-US" altLang="zh-CN" sz="2000" b="0" i="0" dirty="0">
                <a:solidFill>
                  <a:srgbClr val="F35C70"/>
                </a:solidFill>
                <a:effectLst/>
                <a:latin typeface="-apple-system"/>
              </a:rPr>
              <a:t>coexisting</a:t>
            </a:r>
          </a:p>
          <a:p>
            <a:r>
              <a:rPr lang="en-US" altLang="zh-CN" sz="2000" b="0" i="0" dirty="0">
                <a:effectLst/>
                <a:latin typeface="-apple-system"/>
              </a:rPr>
              <a:t>Directly</a:t>
            </a:r>
            <a:r>
              <a:rPr lang="en-US" altLang="zh-CN" sz="2000" dirty="0">
                <a:solidFill>
                  <a:srgbClr val="F35C70"/>
                </a:solidFill>
                <a:latin typeface="-apple-system"/>
              </a:rPr>
              <a:t>			</a:t>
            </a:r>
            <a:r>
              <a:rPr lang="en-US" altLang="zh-CN" sz="2000" b="0" i="0" dirty="0">
                <a:solidFill>
                  <a:srgbClr val="F35C70"/>
                </a:solidFill>
                <a:effectLst/>
                <a:latin typeface="-apple-system"/>
              </a:rPr>
              <a:t>straight</a:t>
            </a:r>
            <a:endParaRPr lang="en-US" altLang="zh-CN" sz="2000" dirty="0">
              <a:solidFill>
                <a:srgbClr val="F35C70"/>
              </a:solidFill>
              <a:latin typeface="-apple-system"/>
            </a:endParaRPr>
          </a:p>
          <a:p>
            <a:r>
              <a:rPr lang="en-US" altLang="zh-CN" sz="2000" b="0" i="0" dirty="0">
                <a:effectLst/>
                <a:latin typeface="-apple-system"/>
              </a:rPr>
              <a:t>Masterpiece</a:t>
            </a:r>
            <a:r>
              <a:rPr lang="en-US" altLang="zh-CN" sz="2000" b="0" i="0" dirty="0">
                <a:solidFill>
                  <a:srgbClr val="F35C70"/>
                </a:solidFill>
                <a:effectLst/>
                <a:latin typeface="-apple-system"/>
              </a:rPr>
              <a:t>		great work</a:t>
            </a:r>
          </a:p>
          <a:p>
            <a:r>
              <a:rPr lang="en-US" altLang="zh-CN" sz="2000" b="0" i="0" dirty="0">
                <a:effectLst/>
                <a:latin typeface="-apple-system"/>
              </a:rPr>
              <a:t>Illustrate			</a:t>
            </a:r>
            <a:r>
              <a:rPr lang="en-US" altLang="zh-CN" sz="2000" b="0" i="0" dirty="0">
                <a:solidFill>
                  <a:srgbClr val="F35C70"/>
                </a:solidFill>
                <a:effectLst/>
                <a:latin typeface="-apple-system"/>
              </a:rPr>
              <a:t>depict</a:t>
            </a:r>
          </a:p>
          <a:p>
            <a:r>
              <a:rPr lang="en-US" altLang="zh-CN" sz="2000" b="0" i="0" dirty="0">
                <a:effectLst/>
                <a:latin typeface="-apple-system"/>
              </a:rPr>
              <a:t>Serene			</a:t>
            </a:r>
            <a:r>
              <a:rPr lang="en-US" altLang="zh-CN" sz="2000" b="0" i="0" dirty="0">
                <a:solidFill>
                  <a:srgbClr val="F35C70"/>
                </a:solidFill>
                <a:effectLst/>
                <a:latin typeface="-apple-system"/>
              </a:rPr>
              <a:t>quiet</a:t>
            </a:r>
          </a:p>
          <a:p>
            <a:r>
              <a:rPr lang="en-US" altLang="zh-CN" sz="2000" b="0" i="0" dirty="0">
                <a:effectLst/>
                <a:latin typeface="-apple-system"/>
              </a:rPr>
              <a:t>Marvelous</a:t>
            </a:r>
            <a:r>
              <a:rPr lang="en-US" altLang="zh-CN" sz="2000" dirty="0">
                <a:solidFill>
                  <a:srgbClr val="F35C70"/>
                </a:solidFill>
                <a:latin typeface="-apple-system"/>
              </a:rPr>
              <a:t>		</a:t>
            </a:r>
            <a:r>
              <a:rPr lang="en-US" altLang="zh-CN" sz="2000" b="0" i="0" dirty="0">
                <a:solidFill>
                  <a:srgbClr val="F35C70"/>
                </a:solidFill>
                <a:effectLst/>
                <a:latin typeface="-apple-system"/>
              </a:rPr>
              <a:t>splendid</a:t>
            </a:r>
            <a:endParaRPr lang="en-US" altLang="zh-CN" sz="2000" dirty="0">
              <a:solidFill>
                <a:srgbClr val="F35C70"/>
              </a:solidFill>
              <a:latin typeface="-apple-system"/>
            </a:endParaRPr>
          </a:p>
          <a:p>
            <a:r>
              <a:rPr lang="en-US" altLang="zh-CN" sz="2000" b="0" i="0" dirty="0">
                <a:effectLst/>
                <a:latin typeface="-apple-system"/>
              </a:rPr>
              <a:t>Vast</a:t>
            </a:r>
            <a:r>
              <a:rPr lang="en-US" altLang="zh-CN" sz="2000" b="0" i="0" dirty="0">
                <a:solidFill>
                  <a:srgbClr val="F35C70"/>
                </a:solidFill>
                <a:effectLst/>
                <a:latin typeface="-apple-system"/>
              </a:rPr>
              <a:t>			great</a:t>
            </a:r>
          </a:p>
          <a:p>
            <a:r>
              <a:rPr lang="en-US" altLang="zh-CN" sz="2000" b="0" i="0" dirty="0">
                <a:effectLst/>
                <a:latin typeface="-apple-system"/>
              </a:rPr>
              <a:t>Last			</a:t>
            </a:r>
            <a:r>
              <a:rPr lang="en-US" altLang="zh-CN" sz="2000" b="0" i="0" dirty="0">
                <a:solidFill>
                  <a:srgbClr val="F35C70"/>
                </a:solidFill>
                <a:effectLst/>
                <a:latin typeface="-apple-system"/>
              </a:rPr>
              <a:t>final</a:t>
            </a:r>
          </a:p>
          <a:p>
            <a:r>
              <a:rPr lang="en-US" altLang="zh-CN" sz="2000" b="0" i="0" dirty="0">
                <a:effectLst/>
                <a:latin typeface="-apple-system"/>
              </a:rPr>
              <a:t>Stolen</a:t>
            </a:r>
            <a:r>
              <a:rPr lang="en-US" altLang="zh-CN" sz="2000" dirty="0">
                <a:solidFill>
                  <a:srgbClr val="F35C70"/>
                </a:solidFill>
                <a:latin typeface="-apple-system"/>
              </a:rPr>
              <a:t>			</a:t>
            </a:r>
            <a:r>
              <a:rPr lang="en-US" altLang="zh-CN" sz="2000" b="0" i="0" dirty="0">
                <a:solidFill>
                  <a:srgbClr val="F35C70"/>
                </a:solidFill>
                <a:effectLst/>
                <a:latin typeface="-apple-system"/>
              </a:rPr>
              <a:t>taken</a:t>
            </a:r>
            <a:endParaRPr lang="en-US" altLang="zh-CN" sz="2000" dirty="0">
              <a:solidFill>
                <a:srgbClr val="F35C70"/>
              </a:solidFill>
              <a:latin typeface="-apple-system"/>
            </a:endParaRPr>
          </a:p>
          <a:p>
            <a:r>
              <a:rPr lang="en-US" altLang="zh-CN" sz="2000" b="0" i="0" dirty="0">
                <a:effectLst/>
                <a:latin typeface="-apple-system"/>
              </a:rPr>
              <a:t>Transcend		</a:t>
            </a:r>
            <a:r>
              <a:rPr lang="en-US" altLang="zh-CN" sz="2000" b="0" i="0" dirty="0">
                <a:solidFill>
                  <a:srgbClr val="F35C70"/>
                </a:solidFill>
                <a:effectLst/>
                <a:latin typeface="-apple-system"/>
              </a:rPr>
              <a:t>surpass</a:t>
            </a:r>
          </a:p>
          <a:p>
            <a:r>
              <a:rPr lang="en-US" altLang="zh-CN" sz="2000" b="0" i="0" dirty="0">
                <a:effectLst/>
                <a:latin typeface="-apple-system"/>
              </a:rPr>
              <a:t>Uplift</a:t>
            </a:r>
            <a:r>
              <a:rPr lang="en-US" altLang="zh-CN" sz="2000" dirty="0">
                <a:solidFill>
                  <a:srgbClr val="F35C70"/>
                </a:solidFill>
                <a:latin typeface="-apple-system"/>
              </a:rPr>
              <a:t>			</a:t>
            </a:r>
            <a:r>
              <a:rPr lang="en-US" altLang="zh-CN" sz="2000" b="0" i="0" dirty="0">
                <a:solidFill>
                  <a:srgbClr val="F35C70"/>
                </a:solidFill>
                <a:effectLst/>
                <a:latin typeface="-apple-system"/>
              </a:rPr>
              <a:t>inspire</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4A</a:t>
            </a:r>
            <a:endParaRPr lang="zh-CN" altLang="en-US" dirty="0"/>
          </a:p>
        </p:txBody>
      </p:sp>
    </p:spTree>
    <p:extLst>
      <p:ext uri="{BB962C8B-B14F-4D97-AF65-F5344CB8AC3E}">
        <p14:creationId xmlns:p14="http://schemas.microsoft.com/office/powerpoint/2010/main" val="508489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6970604" cy="6370975"/>
          </a:xfrm>
          <a:prstGeom prst="rect">
            <a:avLst/>
          </a:prstGeom>
          <a:noFill/>
        </p:spPr>
        <p:txBody>
          <a:bodyPr wrap="square" rtlCol="0">
            <a:spAutoFit/>
          </a:bodyPr>
          <a:lstStyle/>
          <a:p>
            <a:pPr algn="just"/>
            <a:r>
              <a:rPr lang="en-US" altLang="zh-CN" sz="2400" b="0" i="0" dirty="0">
                <a:effectLst/>
                <a:latin typeface="-apple-system"/>
              </a:rPr>
              <a:t>Claude Monet, </a:t>
            </a:r>
            <a:r>
              <a:rPr lang="en-US" altLang="zh-CN" sz="2400" b="1" i="0" dirty="0">
                <a:effectLst/>
                <a:latin typeface="-apple-system"/>
              </a:rPr>
              <a:t>perhaps</a:t>
            </a:r>
            <a:r>
              <a:rPr lang="en-US" altLang="zh-CN" sz="2400" b="0" i="0" dirty="0">
                <a:effectLst/>
                <a:latin typeface="-apple-system"/>
              </a:rPr>
              <a:t> one of the best-known painters of the 20th-century art movement known as Impressionism, utterly transformed the world of painting. At first, his works were </a:t>
            </a:r>
            <a:r>
              <a:rPr lang="en-US" altLang="zh-CN" sz="2400" b="1" i="0" dirty="0">
                <a:effectLst/>
                <a:latin typeface="-apple-system"/>
              </a:rPr>
              <a:t>controversial</a:t>
            </a:r>
            <a:r>
              <a:rPr lang="en-US" altLang="zh-CN" sz="2400" b="0" i="0" dirty="0">
                <a:effectLst/>
                <a:latin typeface="-apple-system"/>
              </a:rPr>
              <a:t> because rather than looking back older paintings as his </a:t>
            </a:r>
            <a:r>
              <a:rPr lang="en-US" altLang="zh-CN" sz="2400" b="1" i="0" dirty="0">
                <a:effectLst/>
                <a:latin typeface="-apple-system"/>
              </a:rPr>
              <a:t>source</a:t>
            </a:r>
            <a:r>
              <a:rPr lang="en-US" altLang="zh-CN" sz="2400" b="0" i="0" dirty="0">
                <a:effectLst/>
                <a:latin typeface="-apple-system"/>
              </a:rPr>
              <a:t> of creativity, as was </a:t>
            </a:r>
            <a:r>
              <a:rPr lang="en-US" altLang="zh-CN" sz="2400" b="1" i="0" dirty="0">
                <a:effectLst/>
                <a:latin typeface="-apple-system"/>
              </a:rPr>
              <a:t>by and large</a:t>
            </a:r>
            <a:r>
              <a:rPr lang="en-US" altLang="zh-CN" sz="2400" b="0" i="0" dirty="0">
                <a:effectLst/>
                <a:latin typeface="-apple-system"/>
              </a:rPr>
              <a:t> the custom among </a:t>
            </a:r>
            <a:r>
              <a:rPr lang="en-US" altLang="zh-CN" sz="2400" b="1" i="0" dirty="0">
                <a:effectLst/>
                <a:latin typeface="-apple-system"/>
              </a:rPr>
              <a:t>contemporary</a:t>
            </a:r>
            <a:r>
              <a:rPr lang="en-US" altLang="zh-CN" sz="2400" b="0" i="0" dirty="0">
                <a:effectLst/>
                <a:latin typeface="-apple-system"/>
              </a:rPr>
              <a:t> artists at the time, Monet went </a:t>
            </a:r>
            <a:r>
              <a:rPr lang="en-US" altLang="zh-CN" sz="2400" b="1" i="0" dirty="0">
                <a:effectLst/>
                <a:latin typeface="-apple-system"/>
              </a:rPr>
              <a:t>directly</a:t>
            </a:r>
            <a:r>
              <a:rPr lang="en-US" altLang="zh-CN" sz="2400" b="0" i="0" dirty="0">
                <a:effectLst/>
                <a:latin typeface="-apple-system"/>
              </a:rPr>
              <a:t> to nature instead. Acting on instinct, Monet painted Water Lilies, his </a:t>
            </a:r>
            <a:r>
              <a:rPr lang="en-US" altLang="zh-CN" sz="2400" b="1" i="0" dirty="0">
                <a:effectLst/>
                <a:latin typeface="-apple-system"/>
              </a:rPr>
              <a:t>masterpiece</a:t>
            </a:r>
            <a:r>
              <a:rPr lang="en-US" altLang="zh-CN" sz="2400" b="0" i="0" dirty="0">
                <a:effectLst/>
                <a:latin typeface="-apple-system"/>
              </a:rPr>
              <a:t>: a series of paintings that all </a:t>
            </a:r>
            <a:r>
              <a:rPr lang="en-US" altLang="zh-CN" sz="2400" b="1" i="0" dirty="0">
                <a:effectLst/>
                <a:latin typeface="-apple-system"/>
              </a:rPr>
              <a:t>illustrate</a:t>
            </a:r>
            <a:r>
              <a:rPr lang="en-US" altLang="zh-CN" sz="2400" b="0" i="0" dirty="0">
                <a:effectLst/>
                <a:latin typeface="-apple-system"/>
              </a:rPr>
              <a:t> the same subject matter, inspired by the </a:t>
            </a:r>
            <a:r>
              <a:rPr lang="en-US" altLang="zh-CN" sz="2400" b="1" i="0" dirty="0">
                <a:effectLst/>
                <a:latin typeface="-apple-system"/>
              </a:rPr>
              <a:t>serene</a:t>
            </a:r>
            <a:r>
              <a:rPr lang="en-US" altLang="zh-CN" sz="2400" b="0" i="0" dirty="0">
                <a:effectLst/>
                <a:latin typeface="-apple-system"/>
              </a:rPr>
              <a:t> landscapes and water lily ponds at his </a:t>
            </a:r>
            <a:r>
              <a:rPr lang="en-US" altLang="zh-CN" sz="2400" b="1" i="0" dirty="0">
                <a:effectLst/>
                <a:latin typeface="-apple-system"/>
              </a:rPr>
              <a:t>marvelous</a:t>
            </a:r>
            <a:r>
              <a:rPr lang="en-US" altLang="zh-CN" sz="2400" b="0" i="0" dirty="0">
                <a:effectLst/>
                <a:latin typeface="-apple-system"/>
              </a:rPr>
              <a:t> gardens in Giverny, France. The series occupied the </a:t>
            </a:r>
            <a:r>
              <a:rPr lang="en-US" altLang="zh-CN" sz="2400" b="1" i="0" dirty="0">
                <a:effectLst/>
                <a:latin typeface="-apple-system"/>
              </a:rPr>
              <a:t>vast</a:t>
            </a:r>
            <a:r>
              <a:rPr lang="en-US" altLang="zh-CN" sz="2400" b="0" i="0" dirty="0">
                <a:effectLst/>
                <a:latin typeface="-apple-system"/>
              </a:rPr>
              <a:t> majority of the </a:t>
            </a:r>
            <a:r>
              <a:rPr lang="en-US" altLang="zh-CN" sz="2400" b="1" i="0" dirty="0">
                <a:effectLst/>
                <a:latin typeface="-apple-system"/>
              </a:rPr>
              <a:t>last</a:t>
            </a:r>
            <a:r>
              <a:rPr lang="en-US" altLang="zh-CN" sz="2400" b="0" i="0" dirty="0">
                <a:effectLst/>
                <a:latin typeface="-apple-system"/>
              </a:rPr>
              <a:t> 30 years of his life. Although many of Monet’s works were painted while his vision was </a:t>
            </a:r>
            <a:r>
              <a:rPr lang="en-US" altLang="zh-CN" sz="2400" b="1" i="0" dirty="0">
                <a:effectLst/>
                <a:latin typeface="-apple-system"/>
              </a:rPr>
              <a:t>stolen</a:t>
            </a:r>
            <a:r>
              <a:rPr lang="en-US" altLang="zh-CN" sz="2400" b="0" i="0" dirty="0">
                <a:effectLst/>
                <a:latin typeface="-apple-system"/>
              </a:rPr>
              <a:t> by cataracts, the images appear to </a:t>
            </a:r>
            <a:r>
              <a:rPr lang="en-US" altLang="zh-CN" sz="2400" b="1" i="0" dirty="0">
                <a:effectLst/>
                <a:latin typeface="-apple-system"/>
              </a:rPr>
              <a:t>transcend</a:t>
            </a:r>
            <a:r>
              <a:rPr lang="en-US" altLang="zh-CN" sz="2400" b="0" i="0" dirty="0">
                <a:effectLst/>
                <a:latin typeface="-apple-system"/>
              </a:rPr>
              <a:t> time and space to </a:t>
            </a:r>
            <a:r>
              <a:rPr lang="en-US" altLang="zh-CN" sz="2400" b="1" i="0" dirty="0">
                <a:effectLst/>
                <a:latin typeface="-apple-system"/>
              </a:rPr>
              <a:t>uplift</a:t>
            </a:r>
            <a:r>
              <a:rPr lang="en-US" altLang="zh-CN" sz="2400" b="0" i="0" dirty="0">
                <a:effectLst/>
                <a:latin typeface="-apple-system"/>
              </a:rPr>
              <a:t> all who view them.</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215931" y="742241"/>
            <a:ext cx="4876022" cy="4708981"/>
          </a:xfrm>
          <a:prstGeom prst="rect">
            <a:avLst/>
          </a:prstGeom>
          <a:noFill/>
        </p:spPr>
        <p:txBody>
          <a:bodyPr wrap="square" rtlCol="0">
            <a:spAutoFit/>
          </a:bodyPr>
          <a:lstStyle/>
          <a:p>
            <a:r>
              <a:rPr lang="en-US" altLang="zh-CN" sz="2000" b="0" i="0" dirty="0">
                <a:effectLst/>
                <a:latin typeface="-apple-system"/>
              </a:rPr>
              <a:t>perhaps		</a:t>
            </a:r>
            <a:r>
              <a:rPr lang="zh-CN" altLang="en-US" sz="2000" dirty="0">
                <a:latin typeface="-apple-system"/>
              </a:rPr>
              <a:t>也许</a:t>
            </a:r>
            <a:r>
              <a:rPr lang="en-US" altLang="zh-CN" sz="2000" b="0" i="0" dirty="0">
                <a:effectLst/>
                <a:latin typeface="-apple-system"/>
              </a:rPr>
              <a:t>	</a:t>
            </a:r>
            <a:r>
              <a:rPr lang="en-US" altLang="zh-CN" sz="2000" b="0" i="0" dirty="0">
                <a:solidFill>
                  <a:srgbClr val="F35C70"/>
                </a:solidFill>
                <a:effectLst/>
                <a:latin typeface="-apple-system"/>
              </a:rPr>
              <a:t>possibly</a:t>
            </a:r>
          </a:p>
          <a:p>
            <a:r>
              <a:rPr lang="en-US" altLang="zh-CN" sz="2000" b="0" i="0" dirty="0">
                <a:effectLst/>
                <a:latin typeface="-apple-system"/>
              </a:rPr>
              <a:t>Controversial	</a:t>
            </a:r>
            <a:r>
              <a:rPr lang="zh-CN" altLang="en-US" sz="2000" dirty="0">
                <a:latin typeface="-apple-system"/>
              </a:rPr>
              <a:t>有争议</a:t>
            </a:r>
            <a:r>
              <a:rPr lang="en-US" altLang="zh-CN" sz="2000" b="0" i="0" dirty="0">
                <a:effectLst/>
                <a:latin typeface="-apple-system"/>
              </a:rPr>
              <a:t>	</a:t>
            </a:r>
            <a:r>
              <a:rPr lang="en-US" altLang="zh-CN" sz="2000" b="0" i="0" dirty="0">
                <a:solidFill>
                  <a:srgbClr val="F35C70"/>
                </a:solidFill>
                <a:effectLst/>
                <a:latin typeface="-apple-system"/>
              </a:rPr>
              <a:t>contentious</a:t>
            </a:r>
          </a:p>
          <a:p>
            <a:r>
              <a:rPr lang="en-US" altLang="zh-CN" sz="2000" b="0" i="0" dirty="0">
                <a:effectLst/>
                <a:latin typeface="-apple-system"/>
              </a:rPr>
              <a:t>Source</a:t>
            </a:r>
            <a:r>
              <a:rPr lang="en-US" altLang="zh-CN" sz="2000" dirty="0">
                <a:solidFill>
                  <a:srgbClr val="F35C70"/>
                </a:solidFill>
                <a:latin typeface="-apple-system"/>
              </a:rPr>
              <a:t>		</a:t>
            </a:r>
            <a:r>
              <a:rPr lang="zh-CN" altLang="en-US" sz="2000" dirty="0">
                <a:latin typeface="-apple-system"/>
              </a:rPr>
              <a:t>来源</a:t>
            </a:r>
            <a:r>
              <a:rPr lang="en-US" altLang="zh-CN" sz="2000" dirty="0">
                <a:solidFill>
                  <a:srgbClr val="F35C70"/>
                </a:solidFill>
                <a:latin typeface="-apple-system"/>
              </a:rPr>
              <a:t>	</a:t>
            </a:r>
            <a:r>
              <a:rPr lang="en-US" altLang="zh-CN" sz="2000" b="0" i="0" dirty="0">
                <a:solidFill>
                  <a:srgbClr val="F35C70"/>
                </a:solidFill>
                <a:effectLst/>
                <a:latin typeface="-apple-system"/>
              </a:rPr>
              <a:t>origin</a:t>
            </a:r>
            <a:endParaRPr lang="en-US" altLang="zh-CN" sz="2000" dirty="0">
              <a:solidFill>
                <a:srgbClr val="F35C70"/>
              </a:solidFill>
              <a:latin typeface="-apple-system"/>
            </a:endParaRPr>
          </a:p>
          <a:p>
            <a:r>
              <a:rPr lang="en-US" altLang="zh-CN" sz="2000" b="0" i="0" dirty="0">
                <a:effectLst/>
                <a:latin typeface="-apple-system"/>
              </a:rPr>
              <a:t>by and large</a:t>
            </a:r>
            <a:r>
              <a:rPr lang="en-US" altLang="zh-CN" sz="2000" dirty="0">
                <a:solidFill>
                  <a:srgbClr val="F35C70"/>
                </a:solidFill>
                <a:latin typeface="-apple-system"/>
              </a:rPr>
              <a:t>        </a:t>
            </a:r>
            <a:r>
              <a:rPr lang="zh-CN" altLang="en-US" sz="2000" dirty="0">
                <a:latin typeface="-apple-system"/>
              </a:rPr>
              <a:t>总的来说</a:t>
            </a:r>
            <a:r>
              <a:rPr lang="en-US" altLang="zh-CN" sz="2000" b="0" i="0" dirty="0">
                <a:solidFill>
                  <a:srgbClr val="F35C70"/>
                </a:solidFill>
                <a:effectLst/>
                <a:latin typeface="-apple-system"/>
              </a:rPr>
              <a:t>	on the whole</a:t>
            </a:r>
          </a:p>
          <a:p>
            <a:r>
              <a:rPr lang="en-US" altLang="zh-CN" sz="2000" b="0" i="0" dirty="0">
                <a:effectLst/>
                <a:latin typeface="-apple-system"/>
              </a:rPr>
              <a:t>Contemporary</a:t>
            </a:r>
            <a:r>
              <a:rPr lang="en-US" altLang="zh-CN" sz="2000" dirty="0">
                <a:solidFill>
                  <a:srgbClr val="F35C70"/>
                </a:solidFill>
                <a:latin typeface="-apple-system"/>
              </a:rPr>
              <a:t>	</a:t>
            </a:r>
            <a:r>
              <a:rPr lang="zh-CN" altLang="en-US" sz="2000" dirty="0">
                <a:latin typeface="-apple-system"/>
              </a:rPr>
              <a:t>共存</a:t>
            </a:r>
            <a:r>
              <a:rPr lang="en-US" altLang="zh-CN" sz="2000" dirty="0">
                <a:solidFill>
                  <a:srgbClr val="F35C70"/>
                </a:solidFill>
                <a:latin typeface="-apple-system"/>
              </a:rPr>
              <a:t>	</a:t>
            </a:r>
            <a:r>
              <a:rPr lang="en-US" altLang="zh-CN" sz="2000" b="0" i="0" dirty="0">
                <a:solidFill>
                  <a:srgbClr val="F35C70"/>
                </a:solidFill>
                <a:effectLst/>
                <a:latin typeface="-apple-system"/>
              </a:rPr>
              <a:t>coexisting</a:t>
            </a:r>
          </a:p>
          <a:p>
            <a:r>
              <a:rPr lang="en-US" altLang="zh-CN" sz="2000" b="0" i="0" dirty="0">
                <a:effectLst/>
                <a:latin typeface="-apple-system"/>
              </a:rPr>
              <a:t>Directly</a:t>
            </a:r>
            <a:r>
              <a:rPr lang="en-US" altLang="zh-CN" sz="2000" dirty="0">
                <a:solidFill>
                  <a:srgbClr val="F35C70"/>
                </a:solidFill>
                <a:latin typeface="-apple-system"/>
              </a:rPr>
              <a:t>		</a:t>
            </a:r>
            <a:r>
              <a:rPr lang="zh-CN" altLang="en-US" sz="2000" dirty="0">
                <a:latin typeface="-apple-system"/>
              </a:rPr>
              <a:t>直</a:t>
            </a:r>
            <a:r>
              <a:rPr lang="en-US" altLang="zh-CN" sz="2000" dirty="0">
                <a:solidFill>
                  <a:srgbClr val="F35C70"/>
                </a:solidFill>
                <a:latin typeface="-apple-system"/>
              </a:rPr>
              <a:t>	</a:t>
            </a:r>
            <a:r>
              <a:rPr lang="en-US" altLang="zh-CN" sz="2000" b="0" i="0" dirty="0">
                <a:solidFill>
                  <a:srgbClr val="F35C70"/>
                </a:solidFill>
                <a:effectLst/>
                <a:latin typeface="-apple-system"/>
              </a:rPr>
              <a:t>straight</a:t>
            </a:r>
            <a:endParaRPr lang="en-US" altLang="zh-CN" sz="2000" dirty="0">
              <a:solidFill>
                <a:srgbClr val="F35C70"/>
              </a:solidFill>
              <a:latin typeface="-apple-system"/>
            </a:endParaRPr>
          </a:p>
          <a:p>
            <a:r>
              <a:rPr lang="en-US" altLang="zh-CN" sz="2000" b="0" i="0" dirty="0">
                <a:effectLst/>
                <a:latin typeface="-apple-system"/>
              </a:rPr>
              <a:t>Masterpiece</a:t>
            </a:r>
            <a:r>
              <a:rPr lang="en-US" altLang="zh-CN" sz="2000" b="0" i="0" dirty="0">
                <a:solidFill>
                  <a:srgbClr val="F35C70"/>
                </a:solidFill>
                <a:effectLst/>
                <a:latin typeface="-apple-system"/>
              </a:rPr>
              <a:t>	</a:t>
            </a:r>
            <a:r>
              <a:rPr lang="zh-CN" altLang="en-US" sz="2000" dirty="0">
                <a:latin typeface="-apple-system"/>
              </a:rPr>
              <a:t>杰作</a:t>
            </a:r>
            <a:r>
              <a:rPr lang="en-US" altLang="zh-CN" sz="2000" b="0" i="0" dirty="0">
                <a:solidFill>
                  <a:srgbClr val="F35C70"/>
                </a:solidFill>
                <a:effectLst/>
                <a:latin typeface="-apple-system"/>
              </a:rPr>
              <a:t>	great work</a:t>
            </a:r>
          </a:p>
          <a:p>
            <a:r>
              <a:rPr lang="en-US" altLang="zh-CN" sz="2000" b="0" i="0" dirty="0">
                <a:effectLst/>
                <a:latin typeface="-apple-system"/>
              </a:rPr>
              <a:t>Illustrate		</a:t>
            </a:r>
            <a:r>
              <a:rPr lang="zh-CN" altLang="en-US" sz="2000" dirty="0">
                <a:latin typeface="-apple-system"/>
              </a:rPr>
              <a:t>插图 </a:t>
            </a:r>
            <a:r>
              <a:rPr lang="en-US" altLang="zh-CN" sz="2000" b="0" i="0" dirty="0">
                <a:effectLst/>
                <a:latin typeface="-apple-system"/>
              </a:rPr>
              <a:t>	</a:t>
            </a:r>
            <a:r>
              <a:rPr lang="en-US" altLang="zh-CN" sz="2000" b="0" i="0" dirty="0">
                <a:solidFill>
                  <a:srgbClr val="F35C70"/>
                </a:solidFill>
                <a:effectLst/>
                <a:latin typeface="-apple-system"/>
              </a:rPr>
              <a:t>depict</a:t>
            </a:r>
          </a:p>
          <a:p>
            <a:r>
              <a:rPr lang="en-US" altLang="zh-CN" sz="2000" b="0" i="0" dirty="0">
                <a:effectLst/>
                <a:latin typeface="-apple-system"/>
              </a:rPr>
              <a:t>Serene		</a:t>
            </a:r>
            <a:r>
              <a:rPr lang="zh-CN" altLang="en-US" sz="2000" dirty="0">
                <a:latin typeface="-apple-system"/>
              </a:rPr>
              <a:t>宁静</a:t>
            </a:r>
            <a:r>
              <a:rPr lang="en-US" altLang="zh-CN" sz="2000" b="0" i="0" dirty="0">
                <a:effectLst/>
                <a:latin typeface="-apple-system"/>
              </a:rPr>
              <a:t>	</a:t>
            </a:r>
            <a:r>
              <a:rPr lang="en-US" altLang="zh-CN" sz="2000" b="0" i="0" dirty="0">
                <a:solidFill>
                  <a:srgbClr val="F35C70"/>
                </a:solidFill>
                <a:effectLst/>
                <a:latin typeface="-apple-system"/>
              </a:rPr>
              <a:t>quiet</a:t>
            </a:r>
          </a:p>
          <a:p>
            <a:r>
              <a:rPr lang="en-US" altLang="zh-CN" sz="2000" b="0" i="0" dirty="0">
                <a:effectLst/>
                <a:latin typeface="-apple-system"/>
              </a:rPr>
              <a:t>Marvelous</a:t>
            </a:r>
            <a:r>
              <a:rPr lang="en-US" altLang="zh-CN" sz="2000" dirty="0">
                <a:solidFill>
                  <a:srgbClr val="F35C70"/>
                </a:solidFill>
                <a:latin typeface="-apple-system"/>
              </a:rPr>
              <a:t>	</a:t>
            </a:r>
            <a:r>
              <a:rPr lang="zh-CN" altLang="en-US" sz="2000" dirty="0">
                <a:latin typeface="-apple-system"/>
              </a:rPr>
              <a:t>奇妙的</a:t>
            </a:r>
            <a:r>
              <a:rPr lang="en-US" altLang="zh-CN" sz="2000" dirty="0">
                <a:solidFill>
                  <a:srgbClr val="F35C70"/>
                </a:solidFill>
                <a:latin typeface="-apple-system"/>
              </a:rPr>
              <a:t>	</a:t>
            </a:r>
            <a:r>
              <a:rPr lang="en-US" altLang="zh-CN" sz="2000" b="0" i="0" dirty="0">
                <a:solidFill>
                  <a:srgbClr val="F35C70"/>
                </a:solidFill>
                <a:effectLst/>
                <a:latin typeface="-apple-system"/>
              </a:rPr>
              <a:t>splendid</a:t>
            </a:r>
            <a:endParaRPr lang="en-US" altLang="zh-CN" sz="2000" dirty="0">
              <a:solidFill>
                <a:srgbClr val="F35C70"/>
              </a:solidFill>
              <a:latin typeface="-apple-system"/>
            </a:endParaRPr>
          </a:p>
          <a:p>
            <a:r>
              <a:rPr lang="en-US" altLang="zh-CN" sz="2000" b="0" i="0" dirty="0">
                <a:effectLst/>
                <a:latin typeface="-apple-system"/>
              </a:rPr>
              <a:t>Vast</a:t>
            </a:r>
            <a:r>
              <a:rPr lang="en-US" altLang="zh-CN" sz="2000" b="0" i="0" dirty="0">
                <a:solidFill>
                  <a:srgbClr val="F35C70"/>
                </a:solidFill>
                <a:effectLst/>
                <a:latin typeface="-apple-system"/>
              </a:rPr>
              <a:t>		</a:t>
            </a:r>
            <a:r>
              <a:rPr lang="zh-CN" altLang="en-US" sz="2000" dirty="0">
                <a:latin typeface="-apple-system"/>
              </a:rPr>
              <a:t>浩瀚</a:t>
            </a:r>
            <a:r>
              <a:rPr lang="en-US" altLang="zh-CN" sz="2000" b="0" i="0" dirty="0">
                <a:solidFill>
                  <a:srgbClr val="F35C70"/>
                </a:solidFill>
                <a:effectLst/>
                <a:latin typeface="-apple-system"/>
              </a:rPr>
              <a:t>	great</a:t>
            </a:r>
          </a:p>
          <a:p>
            <a:r>
              <a:rPr lang="en-US" altLang="zh-CN" sz="2000" b="0" i="0" dirty="0">
                <a:effectLst/>
                <a:latin typeface="-apple-system"/>
              </a:rPr>
              <a:t>Last		</a:t>
            </a:r>
            <a:r>
              <a:rPr lang="zh-CN" altLang="en-US" sz="2000" dirty="0">
                <a:latin typeface="-apple-system"/>
              </a:rPr>
              <a:t>最后</a:t>
            </a:r>
            <a:r>
              <a:rPr lang="en-US" altLang="zh-CN" sz="2000" b="0" i="0" dirty="0">
                <a:effectLst/>
                <a:latin typeface="-apple-system"/>
              </a:rPr>
              <a:t>	</a:t>
            </a:r>
            <a:r>
              <a:rPr lang="en-US" altLang="zh-CN" sz="2000" b="0" i="0" dirty="0">
                <a:solidFill>
                  <a:srgbClr val="F35C70"/>
                </a:solidFill>
                <a:effectLst/>
                <a:latin typeface="-apple-system"/>
              </a:rPr>
              <a:t>final</a:t>
            </a:r>
          </a:p>
          <a:p>
            <a:r>
              <a:rPr lang="en-US" altLang="zh-CN" sz="2000" b="0" i="0" dirty="0">
                <a:effectLst/>
                <a:latin typeface="-apple-system"/>
              </a:rPr>
              <a:t>Stolen</a:t>
            </a:r>
            <a:r>
              <a:rPr lang="en-US" altLang="zh-CN" sz="2000" dirty="0">
                <a:solidFill>
                  <a:srgbClr val="F35C70"/>
                </a:solidFill>
                <a:latin typeface="-apple-system"/>
              </a:rPr>
              <a:t>		</a:t>
            </a:r>
            <a:r>
              <a:rPr lang="zh-CN" altLang="en-US" sz="2000" dirty="0">
                <a:latin typeface="-apple-system"/>
              </a:rPr>
              <a:t>被盗</a:t>
            </a:r>
            <a:r>
              <a:rPr lang="en-US" altLang="zh-CN" sz="2000" dirty="0">
                <a:solidFill>
                  <a:srgbClr val="F35C70"/>
                </a:solidFill>
                <a:latin typeface="-apple-system"/>
              </a:rPr>
              <a:t>	</a:t>
            </a:r>
            <a:r>
              <a:rPr lang="en-US" altLang="zh-CN" sz="2000" b="0" i="0" dirty="0">
                <a:solidFill>
                  <a:srgbClr val="F35C70"/>
                </a:solidFill>
                <a:effectLst/>
                <a:latin typeface="-apple-system"/>
              </a:rPr>
              <a:t>taken</a:t>
            </a:r>
            <a:endParaRPr lang="en-US" altLang="zh-CN" sz="2000" dirty="0">
              <a:solidFill>
                <a:srgbClr val="F35C70"/>
              </a:solidFill>
              <a:latin typeface="-apple-system"/>
            </a:endParaRPr>
          </a:p>
          <a:p>
            <a:r>
              <a:rPr lang="en-US" altLang="zh-CN" sz="2000" b="0" i="0" dirty="0">
                <a:effectLst/>
                <a:latin typeface="-apple-system"/>
              </a:rPr>
              <a:t>Transcend	</a:t>
            </a:r>
            <a:r>
              <a:rPr lang="zh-CN" altLang="en-US" sz="2000" dirty="0">
                <a:latin typeface="-apple-system"/>
              </a:rPr>
              <a:t>超越</a:t>
            </a:r>
            <a:r>
              <a:rPr lang="en-US" altLang="zh-CN" sz="2000" b="0" i="0" dirty="0">
                <a:effectLst/>
                <a:latin typeface="-apple-system"/>
              </a:rPr>
              <a:t>	</a:t>
            </a:r>
            <a:r>
              <a:rPr lang="en-US" altLang="zh-CN" sz="2000" b="0" i="0" dirty="0">
                <a:solidFill>
                  <a:srgbClr val="F35C70"/>
                </a:solidFill>
                <a:effectLst/>
                <a:latin typeface="-apple-system"/>
              </a:rPr>
              <a:t>surpass</a:t>
            </a:r>
          </a:p>
          <a:p>
            <a:r>
              <a:rPr lang="en-US" altLang="zh-CN" sz="2000" b="0" i="0" dirty="0">
                <a:effectLst/>
                <a:latin typeface="-apple-system"/>
              </a:rPr>
              <a:t>Uplift	</a:t>
            </a:r>
            <a:r>
              <a:rPr lang="zh-CN" altLang="en-US" sz="2000" b="0" i="0" dirty="0">
                <a:effectLst/>
                <a:latin typeface="-apple-system"/>
              </a:rPr>
              <a:t>            </a:t>
            </a:r>
            <a:r>
              <a:rPr lang="zh-CN" altLang="en-US" sz="2000" dirty="0">
                <a:latin typeface="-apple-system"/>
              </a:rPr>
              <a:t>振奋人心</a:t>
            </a:r>
            <a:r>
              <a:rPr lang="en-US" altLang="zh-CN" sz="2000" dirty="0">
                <a:latin typeface="-apple-system"/>
              </a:rPr>
              <a:t>	</a:t>
            </a:r>
            <a:r>
              <a:rPr lang="en-US" altLang="zh-CN" sz="2000" b="0" i="0" dirty="0">
                <a:solidFill>
                  <a:srgbClr val="F35C70"/>
                </a:solidFill>
                <a:effectLst/>
                <a:latin typeface="-apple-system"/>
              </a:rPr>
              <a:t>inspire</a:t>
            </a: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4A</a:t>
            </a:r>
            <a:endParaRPr lang="zh-CN" altLang="en-US" dirty="0"/>
          </a:p>
        </p:txBody>
      </p:sp>
    </p:spTree>
    <p:extLst>
      <p:ext uri="{BB962C8B-B14F-4D97-AF65-F5344CB8AC3E}">
        <p14:creationId xmlns:p14="http://schemas.microsoft.com/office/powerpoint/2010/main" val="2130559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6917787" cy="5909310"/>
          </a:xfrm>
          <a:prstGeom prst="rect">
            <a:avLst/>
          </a:prstGeom>
          <a:noFill/>
        </p:spPr>
        <p:txBody>
          <a:bodyPr wrap="square" rtlCol="0">
            <a:spAutoFit/>
          </a:bodyPr>
          <a:lstStyle/>
          <a:p>
            <a:pPr algn="just"/>
            <a:r>
              <a:rPr lang="en-US" altLang="zh-CN" sz="1400" b="1" i="0" dirty="0">
                <a:effectLst/>
                <a:latin typeface="-apple-system"/>
              </a:rPr>
              <a:t>Professor</a:t>
            </a:r>
            <a:r>
              <a:rPr lang="en-US" altLang="zh-CN" sz="1400" b="0" i="0" dirty="0">
                <a:effectLst/>
                <a:latin typeface="-apple-system"/>
              </a:rPr>
              <a:t>  Good Morning. </a:t>
            </a:r>
            <a:r>
              <a:rPr lang="en-US" altLang="zh-CN" sz="1400" b="1" i="0" dirty="0">
                <a:effectLst/>
                <a:latin typeface="-apple-system"/>
              </a:rPr>
              <a:t>In keeping with</a:t>
            </a:r>
            <a:r>
              <a:rPr lang="en-US" altLang="zh-CN" sz="1400" b="0" i="0" dirty="0">
                <a:effectLst/>
                <a:latin typeface="-apple-system"/>
              </a:rPr>
              <a:t> my promise to surprise you with new material, I’ll now, err, present some unexpected subject matter. Please dim the lights and I’ll begin my slideshow.</a:t>
            </a:r>
          </a:p>
          <a:p>
            <a:pPr algn="just"/>
            <a:r>
              <a:rPr lang="en-US" altLang="zh-CN" sz="1400" b="1" i="0" dirty="0">
                <a:effectLst/>
                <a:latin typeface="-apple-system"/>
              </a:rPr>
              <a:t>Student</a:t>
            </a:r>
            <a:r>
              <a:rPr lang="en-US" altLang="zh-CN" sz="1400" b="0" i="0" dirty="0">
                <a:effectLst/>
                <a:latin typeface="-apple-system"/>
              </a:rPr>
              <a:t>  Before you begin, could you tell us if this presentation represents a formal </a:t>
            </a:r>
            <a:r>
              <a:rPr lang="en-US" altLang="zh-CN" sz="1400" b="1" i="0" dirty="0">
                <a:effectLst/>
                <a:latin typeface="-apple-system"/>
              </a:rPr>
              <a:t>assignment</a:t>
            </a:r>
            <a:r>
              <a:rPr lang="en-US" altLang="zh-CN" sz="1400" b="0" i="0" dirty="0">
                <a:effectLst/>
                <a:latin typeface="-apple-system"/>
              </a:rPr>
              <a:t>?</a:t>
            </a:r>
          </a:p>
          <a:p>
            <a:pPr algn="just"/>
            <a:r>
              <a:rPr lang="en-US" altLang="zh-CN" sz="1400" b="1" i="0" dirty="0">
                <a:effectLst/>
                <a:latin typeface="-apple-system"/>
              </a:rPr>
              <a:t>Professor </a:t>
            </a:r>
            <a:r>
              <a:rPr lang="en-US" altLang="zh-CN" sz="1400" b="0" i="0" dirty="0">
                <a:effectLst/>
                <a:latin typeface="-apple-system"/>
              </a:rPr>
              <a:t> It was to be merely a lecture. But you can now </a:t>
            </a:r>
            <a:r>
              <a:rPr lang="en-US" altLang="zh-CN" sz="1400" b="1" i="0" dirty="0">
                <a:effectLst/>
                <a:latin typeface="-apple-system"/>
              </a:rPr>
              <a:t>consider</a:t>
            </a:r>
            <a:r>
              <a:rPr lang="en-US" altLang="zh-CN" sz="1400" b="0" i="0" dirty="0">
                <a:effectLst/>
                <a:latin typeface="-apple-system"/>
              </a:rPr>
              <a:t> it an assignment. Please don’ t interrupt .</a:t>
            </a:r>
          </a:p>
          <a:p>
            <a:pPr algn="just"/>
            <a:r>
              <a:rPr lang="en-US" altLang="zh-CN" sz="1400" b="1" i="0" dirty="0">
                <a:effectLst/>
                <a:latin typeface="-apple-system"/>
              </a:rPr>
              <a:t>Student </a:t>
            </a:r>
            <a:r>
              <a:rPr lang="en-US" altLang="zh-CN" sz="1400" b="0" i="0" dirty="0">
                <a:effectLst/>
                <a:latin typeface="-apple-system"/>
              </a:rPr>
              <a:t> I’m sorry, sir. Please don’ t think I ’ m being rude. I just want to be certain</a:t>
            </a:r>
          </a:p>
          <a:p>
            <a:pPr algn="just"/>
            <a:r>
              <a:rPr lang="en-US" altLang="zh-CN" sz="1400" b="0" i="0" dirty="0">
                <a:effectLst/>
                <a:latin typeface="-apple-system"/>
              </a:rPr>
              <a:t>that I </a:t>
            </a:r>
            <a:r>
              <a:rPr lang="en-US" altLang="zh-CN" sz="1400" b="1" i="0" dirty="0">
                <a:effectLst/>
                <a:latin typeface="-apple-system"/>
              </a:rPr>
              <a:t>note</a:t>
            </a:r>
            <a:r>
              <a:rPr lang="en-US" altLang="zh-CN" sz="1400" b="0" i="0" dirty="0">
                <a:effectLst/>
                <a:latin typeface="-apple-system"/>
              </a:rPr>
              <a:t> down everything important.</a:t>
            </a:r>
          </a:p>
          <a:p>
            <a:pPr algn="just"/>
            <a:r>
              <a:rPr lang="en-US" altLang="zh-CN" sz="1400" b="1" i="0" dirty="0">
                <a:effectLst/>
                <a:latin typeface="-apple-system"/>
              </a:rPr>
              <a:t>Professor</a:t>
            </a:r>
            <a:r>
              <a:rPr lang="en-US" altLang="zh-CN" sz="1400" b="0" i="0" dirty="0">
                <a:effectLst/>
                <a:latin typeface="-apple-system"/>
              </a:rPr>
              <a:t>  All right, sorry for the misunderstanding. Still, I believe that each topic I cover is </a:t>
            </a:r>
            <a:r>
              <a:rPr lang="en-US" altLang="zh-CN" sz="1400" b="1" i="0" dirty="0">
                <a:effectLst/>
                <a:latin typeface="-apple-system"/>
              </a:rPr>
              <a:t>important</a:t>
            </a:r>
            <a:r>
              <a:rPr lang="en-US" altLang="zh-CN" sz="1400" b="0" i="0" dirty="0">
                <a:effectLst/>
                <a:latin typeface="-apple-system"/>
              </a:rPr>
              <a:t>.</a:t>
            </a:r>
          </a:p>
          <a:p>
            <a:pPr algn="just"/>
            <a:r>
              <a:rPr lang="en-US" altLang="zh-CN" sz="1400" b="1" i="0" dirty="0">
                <a:effectLst/>
                <a:latin typeface="-apple-system"/>
              </a:rPr>
              <a:t>Student </a:t>
            </a:r>
            <a:r>
              <a:rPr lang="en-US" altLang="zh-CN" sz="1400" b="0" i="0" dirty="0">
                <a:effectLst/>
                <a:latin typeface="-apple-system"/>
              </a:rPr>
              <a:t> </a:t>
            </a:r>
            <a:r>
              <a:rPr lang="en-US" altLang="zh-CN" sz="1400" b="1" i="0" dirty="0">
                <a:effectLst/>
                <a:latin typeface="-apple-system"/>
              </a:rPr>
              <a:t>Indeed</a:t>
            </a:r>
            <a:r>
              <a:rPr lang="en-US" altLang="zh-CN" sz="1400" b="0" i="0" dirty="0">
                <a:effectLst/>
                <a:latin typeface="-apple-system"/>
              </a:rPr>
              <a:t> that’ s true. Please continue.</a:t>
            </a:r>
          </a:p>
          <a:p>
            <a:pPr algn="just"/>
            <a:r>
              <a:rPr lang="en-US" altLang="zh-CN" sz="1400" b="1" i="0" dirty="0">
                <a:effectLst/>
                <a:latin typeface="-apple-system"/>
              </a:rPr>
              <a:t>Professor</a:t>
            </a:r>
            <a:r>
              <a:rPr lang="en-US" altLang="zh-CN" sz="1400" b="0" i="0" dirty="0">
                <a:effectLst/>
                <a:latin typeface="-apple-system"/>
              </a:rPr>
              <a:t>  Thank you! Now, </a:t>
            </a:r>
            <a:r>
              <a:rPr lang="en-US" altLang="zh-CN" sz="1400" b="1" i="0" dirty="0">
                <a:effectLst/>
                <a:latin typeface="-apple-system"/>
              </a:rPr>
              <a:t>needless to say</a:t>
            </a:r>
            <a:r>
              <a:rPr lang="en-US" altLang="zh-CN" sz="1400" b="0" i="0" dirty="0">
                <a:effectLst/>
                <a:latin typeface="-apple-system"/>
              </a:rPr>
              <a:t>, the development of pointed arches in the early Middle Ages...</a:t>
            </a:r>
          </a:p>
          <a:p>
            <a:pPr algn="just"/>
            <a:r>
              <a:rPr lang="en-US" altLang="zh-CN" sz="1400" b="1" i="0" dirty="0">
                <a:effectLst/>
                <a:latin typeface="-apple-system"/>
              </a:rPr>
              <a:t>Student</a:t>
            </a:r>
            <a:r>
              <a:rPr lang="en-US" altLang="zh-CN" sz="1400" b="0" i="0" dirty="0">
                <a:effectLst/>
                <a:latin typeface="-apple-system"/>
              </a:rPr>
              <a:t>  Sir, sorry to interrupt again, but I have one last question. Will you discuss this </a:t>
            </a:r>
            <a:r>
              <a:rPr lang="en-US" altLang="zh-CN" sz="1400" b="1" i="0" dirty="0">
                <a:effectLst/>
                <a:latin typeface="-apple-system"/>
              </a:rPr>
              <a:t>presentation</a:t>
            </a:r>
            <a:r>
              <a:rPr lang="en-US" altLang="zh-CN" sz="1400" b="0" i="0" dirty="0">
                <a:effectLst/>
                <a:latin typeface="-apple-system"/>
              </a:rPr>
              <a:t> again in your office hours?</a:t>
            </a:r>
          </a:p>
          <a:p>
            <a:pPr algn="just"/>
            <a:r>
              <a:rPr lang="en-US" altLang="zh-CN" sz="1400" b="1" i="0" dirty="0">
                <a:effectLst/>
                <a:latin typeface="-apple-system"/>
              </a:rPr>
              <a:t>Professor </a:t>
            </a:r>
            <a:r>
              <a:rPr lang="en-US" altLang="zh-CN" sz="1400" b="0" i="0" dirty="0">
                <a:effectLst/>
                <a:latin typeface="-apple-system"/>
              </a:rPr>
              <a:t> Yes, I will. </a:t>
            </a:r>
            <a:r>
              <a:rPr lang="en-US" altLang="zh-CN" sz="1400" b="1" i="0" dirty="0">
                <a:effectLst/>
                <a:latin typeface="-apple-system"/>
              </a:rPr>
              <a:t>Furthermore</a:t>
            </a:r>
            <a:r>
              <a:rPr lang="en-US" altLang="zh-CN" sz="1400" b="0" i="0" dirty="0">
                <a:effectLst/>
                <a:latin typeface="-apple-system"/>
              </a:rPr>
              <a:t>, I advise students to come to my office hours in general, as the material is complicated and may require some extra guidance.</a:t>
            </a:r>
          </a:p>
          <a:p>
            <a:pPr algn="just"/>
            <a:r>
              <a:rPr lang="en-US" altLang="zh-CN" sz="1400" b="1" i="0" dirty="0">
                <a:effectLst/>
                <a:latin typeface="-apple-system"/>
              </a:rPr>
              <a:t>Student</a:t>
            </a:r>
            <a:r>
              <a:rPr lang="en-US" altLang="zh-CN" sz="1400" b="0" i="0" dirty="0">
                <a:effectLst/>
                <a:latin typeface="-apple-system"/>
              </a:rPr>
              <a:t>  Awesome, I’ll be sure to </a:t>
            </a:r>
            <a:r>
              <a:rPr lang="en-US" altLang="zh-CN" sz="1400" b="1" i="0" dirty="0">
                <a:effectLst/>
                <a:latin typeface="-apple-system"/>
              </a:rPr>
              <a:t>heed</a:t>
            </a:r>
            <a:r>
              <a:rPr lang="en-US" altLang="zh-CN" sz="1400" b="0" i="0" dirty="0">
                <a:effectLst/>
                <a:latin typeface="-apple-system"/>
              </a:rPr>
              <a:t> your advice.</a:t>
            </a:r>
          </a:p>
          <a:p>
            <a:pPr algn="just"/>
            <a:r>
              <a:rPr lang="en-US" altLang="zh-CN" sz="1400" b="1" i="0" dirty="0">
                <a:effectLst/>
                <a:latin typeface="-apple-system"/>
              </a:rPr>
              <a:t>Professor </a:t>
            </a:r>
            <a:r>
              <a:rPr lang="en-US" altLang="zh-CN" sz="1400" b="0" i="0" dirty="0">
                <a:effectLst/>
                <a:latin typeface="-apple-system"/>
              </a:rPr>
              <a:t> </a:t>
            </a:r>
            <a:r>
              <a:rPr lang="en-US" altLang="zh-CN" sz="1400" b="1" i="0" dirty="0">
                <a:effectLst/>
                <a:latin typeface="-apple-system"/>
              </a:rPr>
              <a:t>Great</a:t>
            </a:r>
            <a:r>
              <a:rPr lang="en-US" altLang="zh-CN" sz="1400" b="0" i="0" dirty="0">
                <a:effectLst/>
                <a:latin typeface="-apple-system"/>
              </a:rPr>
              <a:t>. Now, the development of the pointed arch was associated with...</a:t>
            </a:r>
          </a:p>
          <a:p>
            <a:pPr algn="just"/>
            <a:r>
              <a:rPr lang="en-US" altLang="zh-CN" sz="1400" b="1" i="0" dirty="0">
                <a:effectLst/>
                <a:latin typeface="-apple-system"/>
              </a:rPr>
              <a:t>Student</a:t>
            </a:r>
            <a:r>
              <a:rPr lang="en-US" altLang="zh-CN" sz="1400" b="0" i="0" dirty="0">
                <a:effectLst/>
                <a:latin typeface="-apple-system"/>
              </a:rPr>
              <a:t>  </a:t>
            </a:r>
            <a:r>
              <a:rPr lang="en-US" altLang="zh-CN" sz="1400" b="1" i="0" dirty="0">
                <a:effectLst/>
                <a:latin typeface="-apple-system"/>
              </a:rPr>
              <a:t>In</a:t>
            </a:r>
            <a:r>
              <a:rPr lang="en-US" altLang="zh-CN" sz="1400" b="0" i="0" dirty="0">
                <a:effectLst/>
                <a:latin typeface="-apple-system"/>
              </a:rPr>
              <a:t> </a:t>
            </a:r>
            <a:r>
              <a:rPr lang="en-US" altLang="zh-CN" sz="1400" b="1" i="0" dirty="0">
                <a:effectLst/>
                <a:latin typeface="-apple-system"/>
              </a:rPr>
              <a:t>retrospect</a:t>
            </a:r>
            <a:r>
              <a:rPr lang="en-US" altLang="zh-CN" sz="1400" b="0" i="0" dirty="0">
                <a:effectLst/>
                <a:latin typeface="-apple-system"/>
              </a:rPr>
              <a:t>, I should have come to your office a long time ago. I just didn’t know how to approach you.</a:t>
            </a:r>
          </a:p>
          <a:p>
            <a:pPr algn="just"/>
            <a:r>
              <a:rPr lang="en-US" altLang="zh-CN" sz="1400" b="1" i="0" dirty="0">
                <a:effectLst/>
                <a:latin typeface="-apple-system"/>
              </a:rPr>
              <a:t>Professor</a:t>
            </a:r>
            <a:r>
              <a:rPr lang="en-US" altLang="zh-CN" sz="1400" b="0" i="0" dirty="0">
                <a:effectLst/>
                <a:latin typeface="-apple-system"/>
              </a:rPr>
              <a:t>  The course is definitely </a:t>
            </a:r>
            <a:r>
              <a:rPr lang="en-US" altLang="zh-CN" sz="1400" b="1" i="0" dirty="0">
                <a:effectLst/>
                <a:latin typeface="-apple-system"/>
              </a:rPr>
              <a:t>challenging</a:t>
            </a:r>
            <a:r>
              <a:rPr lang="en-US" altLang="zh-CN" sz="1400" b="0" i="0" dirty="0">
                <a:effectLst/>
                <a:latin typeface="-apple-system"/>
              </a:rPr>
              <a:t>, and you need to learn to put aside your fears and focus on the task at hand. But if you’ll excuse me, we need to get started.</a:t>
            </a:r>
          </a:p>
          <a:p>
            <a:pPr algn="just"/>
            <a:r>
              <a:rPr lang="en-US" altLang="zh-CN" sz="1400" b="1" i="0" dirty="0">
                <a:effectLst/>
                <a:latin typeface="-apple-system"/>
              </a:rPr>
              <a:t>Student </a:t>
            </a:r>
            <a:r>
              <a:rPr lang="en-US" altLang="zh-CN" sz="1400" b="0" i="0" dirty="0">
                <a:effectLst/>
                <a:latin typeface="-apple-system"/>
              </a:rPr>
              <a:t> I’ m sorry. I tend to ask too many questions </a:t>
            </a:r>
            <a:r>
              <a:rPr lang="en-US" altLang="zh-CN" sz="1400" b="1" i="0" dirty="0">
                <a:effectLst/>
                <a:latin typeface="-apple-system"/>
              </a:rPr>
              <a:t>on occasion</a:t>
            </a:r>
            <a:r>
              <a:rPr lang="en-US" altLang="zh-CN" sz="1400" b="0" i="0" dirty="0">
                <a:effectLst/>
                <a:latin typeface="-apple-system"/>
              </a:rPr>
              <a:t>.</a:t>
            </a:r>
          </a:p>
          <a:p>
            <a:pPr algn="just"/>
            <a:r>
              <a:rPr lang="en-US" altLang="zh-CN" sz="1400" b="1" i="0" dirty="0">
                <a:effectLst/>
                <a:latin typeface="-apple-system"/>
              </a:rPr>
              <a:t>Professor</a:t>
            </a:r>
            <a:r>
              <a:rPr lang="en-US" altLang="zh-CN" sz="1400" b="0" i="0" dirty="0">
                <a:effectLst/>
                <a:latin typeface="-apple-system"/>
              </a:rPr>
              <a:t>  It’s no problem. </a:t>
            </a:r>
            <a:r>
              <a:rPr lang="en-US" altLang="zh-CN" sz="1400" b="1" i="0" dirty="0">
                <a:effectLst/>
                <a:latin typeface="-apple-system"/>
              </a:rPr>
              <a:t>In</a:t>
            </a:r>
            <a:r>
              <a:rPr lang="en-US" altLang="zh-CN" sz="1400" b="0" i="0" dirty="0">
                <a:effectLst/>
                <a:latin typeface="-apple-system"/>
              </a:rPr>
              <a:t> </a:t>
            </a:r>
            <a:r>
              <a:rPr lang="en-US" altLang="zh-CN" sz="1400" b="1" i="0" dirty="0">
                <a:effectLst/>
                <a:latin typeface="-apple-system"/>
              </a:rPr>
              <a:t>any case</a:t>
            </a:r>
            <a:r>
              <a:rPr lang="en-US" altLang="zh-CN" sz="1400" b="0" i="0" dirty="0">
                <a:effectLst/>
                <a:latin typeface="-apple-system"/>
              </a:rPr>
              <a:t>, proper questions are necessary in class. Now, as soon as someone dims the light , we’ll get started with this presentation.</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0" y="779412"/>
            <a:ext cx="5240295" cy="5016758"/>
          </a:xfrm>
          <a:prstGeom prst="rect">
            <a:avLst/>
          </a:prstGeom>
          <a:noFill/>
        </p:spPr>
        <p:txBody>
          <a:bodyPr wrap="square" rtlCol="0">
            <a:spAutoFit/>
          </a:bodyPr>
          <a:lstStyle/>
          <a:p>
            <a:r>
              <a:rPr lang="en-US" altLang="zh-CN" sz="2000" b="0" i="0" dirty="0">
                <a:effectLst/>
                <a:latin typeface="-apple-system"/>
              </a:rPr>
              <a:t>In keeping with		</a:t>
            </a:r>
            <a:r>
              <a:rPr lang="en-US" altLang="zh-CN" sz="2000" b="0" i="0" dirty="0">
                <a:solidFill>
                  <a:srgbClr val="F35C70"/>
                </a:solidFill>
                <a:effectLst/>
                <a:latin typeface="-apple-system"/>
              </a:rPr>
              <a:t>Observing</a:t>
            </a:r>
          </a:p>
          <a:p>
            <a:r>
              <a:rPr lang="en-US" altLang="zh-CN" sz="2000" b="0" i="0" dirty="0">
                <a:effectLst/>
                <a:latin typeface="-apple-system"/>
              </a:rPr>
              <a:t>Assignment</a:t>
            </a:r>
            <a:r>
              <a:rPr lang="en-US" altLang="zh-CN" sz="2000" dirty="0">
                <a:solidFill>
                  <a:srgbClr val="F35C70"/>
                </a:solidFill>
                <a:latin typeface="-apple-system"/>
              </a:rPr>
              <a:t>		</a:t>
            </a:r>
            <a:r>
              <a:rPr lang="en-US" altLang="zh-CN" sz="2000" b="0" i="0" dirty="0">
                <a:solidFill>
                  <a:srgbClr val="F35C70"/>
                </a:solidFill>
                <a:effectLst/>
                <a:latin typeface="-apple-system"/>
              </a:rPr>
              <a:t>task</a:t>
            </a:r>
            <a:endParaRPr lang="en-US" altLang="zh-CN" sz="2000" dirty="0">
              <a:solidFill>
                <a:srgbClr val="F35C70"/>
              </a:solidFill>
              <a:latin typeface="-apple-system"/>
            </a:endParaRPr>
          </a:p>
          <a:p>
            <a:r>
              <a:rPr lang="en-US" altLang="zh-CN" sz="2000" b="0" i="0" dirty="0">
                <a:effectLst/>
                <a:latin typeface="-apple-system"/>
              </a:rPr>
              <a:t>Consider</a:t>
            </a:r>
            <a:r>
              <a:rPr lang="en-US" altLang="zh-CN" sz="2000" b="0" i="0" dirty="0">
                <a:solidFill>
                  <a:srgbClr val="F35C70"/>
                </a:solidFill>
                <a:effectLst/>
                <a:latin typeface="-apple-system"/>
              </a:rPr>
              <a:t>			deem</a:t>
            </a:r>
          </a:p>
          <a:p>
            <a:r>
              <a:rPr lang="en-US" altLang="zh-CN" sz="2000" b="0" i="0" dirty="0">
                <a:effectLst/>
                <a:latin typeface="-apple-system"/>
              </a:rPr>
              <a:t>Note</a:t>
            </a:r>
            <a:r>
              <a:rPr lang="en-US" altLang="zh-CN" sz="2000" dirty="0">
                <a:solidFill>
                  <a:srgbClr val="F35C70"/>
                </a:solidFill>
                <a:latin typeface="-apple-system"/>
              </a:rPr>
              <a:t>			</a:t>
            </a:r>
            <a:r>
              <a:rPr lang="en-US" altLang="zh-CN" sz="2000" b="0" i="0" dirty="0">
                <a:solidFill>
                  <a:srgbClr val="F35C70"/>
                </a:solidFill>
                <a:effectLst/>
                <a:latin typeface="-apple-system"/>
              </a:rPr>
              <a:t>record</a:t>
            </a:r>
          </a:p>
          <a:p>
            <a:r>
              <a:rPr lang="en-US" altLang="zh-CN" sz="2000" b="0" i="0" dirty="0">
                <a:effectLst/>
                <a:latin typeface="-apple-system"/>
              </a:rPr>
              <a:t>Important		</a:t>
            </a:r>
            <a:r>
              <a:rPr lang="en-US" altLang="zh-CN" sz="2000" b="0" i="0" dirty="0">
                <a:solidFill>
                  <a:srgbClr val="F35C70"/>
                </a:solidFill>
                <a:effectLst/>
                <a:latin typeface="-apple-system"/>
              </a:rPr>
              <a:t>essential</a:t>
            </a:r>
          </a:p>
          <a:p>
            <a:r>
              <a:rPr lang="en-US" altLang="zh-CN" sz="2000" b="0" i="0" dirty="0">
                <a:effectLst/>
                <a:latin typeface="-apple-system"/>
              </a:rPr>
              <a:t>Indeed			</a:t>
            </a:r>
            <a:r>
              <a:rPr lang="en-US" altLang="zh-CN" sz="2000" b="0" i="0" dirty="0">
                <a:solidFill>
                  <a:srgbClr val="F35C70"/>
                </a:solidFill>
                <a:effectLst/>
                <a:latin typeface="-apple-system"/>
              </a:rPr>
              <a:t>certainly</a:t>
            </a:r>
          </a:p>
          <a:p>
            <a:r>
              <a:rPr lang="en-US" altLang="zh-CN" sz="2000" b="0" i="0" dirty="0">
                <a:effectLst/>
                <a:latin typeface="-apple-system"/>
              </a:rPr>
              <a:t>needless to say		</a:t>
            </a:r>
            <a:r>
              <a:rPr lang="en-US" altLang="zh-CN" sz="2000" b="0" i="0" dirty="0">
                <a:solidFill>
                  <a:srgbClr val="F35C70"/>
                </a:solidFill>
                <a:effectLst/>
                <a:latin typeface="-apple-system"/>
              </a:rPr>
              <a:t>obviously</a:t>
            </a:r>
          </a:p>
          <a:p>
            <a:r>
              <a:rPr lang="en-US" altLang="zh-CN" sz="2000" b="0" i="0" dirty="0">
                <a:effectLst/>
                <a:latin typeface="-apple-system"/>
              </a:rPr>
              <a:t>Presentation</a:t>
            </a:r>
            <a:r>
              <a:rPr lang="en-US" altLang="zh-CN" sz="2000" dirty="0">
                <a:solidFill>
                  <a:srgbClr val="F35C70"/>
                </a:solidFill>
                <a:latin typeface="-apple-system"/>
              </a:rPr>
              <a:t>		</a:t>
            </a:r>
            <a:r>
              <a:rPr lang="en-US" altLang="zh-CN" sz="2000" b="0" i="0" dirty="0">
                <a:solidFill>
                  <a:srgbClr val="F35C70"/>
                </a:solidFill>
                <a:effectLst/>
                <a:latin typeface="-apple-system"/>
              </a:rPr>
              <a:t>lecture</a:t>
            </a:r>
            <a:endParaRPr lang="en-US" altLang="zh-CN" sz="2000" dirty="0">
              <a:solidFill>
                <a:srgbClr val="F35C70"/>
              </a:solidFill>
              <a:latin typeface="-apple-system"/>
            </a:endParaRPr>
          </a:p>
          <a:p>
            <a:r>
              <a:rPr lang="en-US" altLang="zh-CN" sz="2000" b="0" i="0" dirty="0">
                <a:effectLst/>
                <a:latin typeface="-apple-system"/>
              </a:rPr>
              <a:t>Furthermore</a:t>
            </a:r>
            <a:r>
              <a:rPr lang="en-US" altLang="zh-CN" sz="2000" b="0" i="0" dirty="0">
                <a:solidFill>
                  <a:srgbClr val="F35C70"/>
                </a:solidFill>
                <a:effectLst/>
                <a:latin typeface="-apple-system"/>
              </a:rPr>
              <a:t>		Additionally</a:t>
            </a:r>
          </a:p>
          <a:p>
            <a:r>
              <a:rPr lang="en-US" altLang="zh-CN" sz="2000" b="0" i="0" dirty="0">
                <a:effectLst/>
                <a:latin typeface="-apple-system"/>
              </a:rPr>
              <a:t>Heed			</a:t>
            </a:r>
            <a:r>
              <a:rPr lang="en-US" altLang="zh-CN" sz="2000" b="0" i="0" dirty="0">
                <a:solidFill>
                  <a:srgbClr val="F35C70"/>
                </a:solidFill>
                <a:effectLst/>
                <a:latin typeface="-apple-system"/>
              </a:rPr>
              <a:t>mind</a:t>
            </a:r>
          </a:p>
          <a:p>
            <a:r>
              <a:rPr lang="en-US" altLang="zh-CN" sz="2000" b="0" i="0" dirty="0">
                <a:effectLst/>
                <a:latin typeface="-apple-system"/>
              </a:rPr>
              <a:t>Great</a:t>
            </a:r>
            <a:r>
              <a:rPr lang="en-US" altLang="zh-CN" sz="2000" dirty="0">
                <a:solidFill>
                  <a:srgbClr val="F35C70"/>
                </a:solidFill>
                <a:latin typeface="-apple-system"/>
              </a:rPr>
              <a:t>			</a:t>
            </a:r>
            <a:r>
              <a:rPr lang="en-US" altLang="zh-CN" sz="2000" b="0" i="0" dirty="0">
                <a:solidFill>
                  <a:srgbClr val="F35C70"/>
                </a:solidFill>
                <a:effectLst/>
                <a:latin typeface="-apple-system"/>
              </a:rPr>
              <a:t>Wonderful</a:t>
            </a:r>
            <a:endParaRPr lang="en-US" altLang="zh-CN" sz="2000" dirty="0">
              <a:solidFill>
                <a:srgbClr val="F35C70"/>
              </a:solidFill>
              <a:latin typeface="-apple-system"/>
            </a:endParaRPr>
          </a:p>
          <a:p>
            <a:r>
              <a:rPr lang="en-US" altLang="zh-CN" sz="2000" b="0" i="0" dirty="0">
                <a:effectLst/>
                <a:latin typeface="-apple-system"/>
              </a:rPr>
              <a:t>In retrospect		</a:t>
            </a:r>
            <a:r>
              <a:rPr lang="en-US" altLang="zh-CN" sz="2000" b="0" i="0" dirty="0">
                <a:solidFill>
                  <a:srgbClr val="F35C70"/>
                </a:solidFill>
                <a:effectLst/>
                <a:latin typeface="-apple-system"/>
              </a:rPr>
              <a:t>On second thought</a:t>
            </a:r>
          </a:p>
          <a:p>
            <a:r>
              <a:rPr lang="en-US" altLang="zh-CN" sz="2000" b="0" i="0" dirty="0">
                <a:effectLst/>
                <a:latin typeface="-apple-system"/>
              </a:rPr>
              <a:t>Challenging</a:t>
            </a:r>
            <a:r>
              <a:rPr lang="en-US" altLang="zh-CN" sz="2000" dirty="0">
                <a:solidFill>
                  <a:srgbClr val="F35C70"/>
                </a:solidFill>
                <a:latin typeface="-apple-system"/>
              </a:rPr>
              <a:t>		</a:t>
            </a:r>
            <a:r>
              <a:rPr lang="en-US" altLang="zh-CN" sz="2000" b="0" i="0" dirty="0">
                <a:solidFill>
                  <a:srgbClr val="F35C70"/>
                </a:solidFill>
                <a:effectLst/>
                <a:latin typeface="-apple-system"/>
              </a:rPr>
              <a:t>demanding</a:t>
            </a:r>
            <a:endParaRPr lang="en-US" altLang="zh-CN" sz="2000" dirty="0">
              <a:solidFill>
                <a:srgbClr val="F35C70"/>
              </a:solidFill>
              <a:latin typeface="-apple-system"/>
            </a:endParaRPr>
          </a:p>
          <a:p>
            <a:r>
              <a:rPr lang="en-US" altLang="zh-CN" sz="2000" b="0" i="0" dirty="0">
                <a:effectLst/>
                <a:latin typeface="-apple-system"/>
              </a:rPr>
              <a:t>on occasion</a:t>
            </a:r>
            <a:r>
              <a:rPr lang="en-US" altLang="zh-CN" sz="2000" b="0" i="0" dirty="0">
                <a:solidFill>
                  <a:srgbClr val="F35C70"/>
                </a:solidFill>
                <a:effectLst/>
                <a:latin typeface="-apple-system"/>
              </a:rPr>
              <a:t>		periodically</a:t>
            </a:r>
          </a:p>
          <a:p>
            <a:r>
              <a:rPr lang="en-US" altLang="zh-CN" sz="2000" b="0" i="0" dirty="0">
                <a:effectLst/>
                <a:latin typeface="-apple-system"/>
              </a:rPr>
              <a:t>In any case</a:t>
            </a:r>
            <a:r>
              <a:rPr lang="en-US" altLang="zh-CN" sz="2000" dirty="0">
                <a:solidFill>
                  <a:srgbClr val="F35C70"/>
                </a:solidFill>
                <a:latin typeface="-apple-system"/>
              </a:rPr>
              <a:t>		</a:t>
            </a:r>
            <a:r>
              <a:rPr lang="en-US" altLang="zh-CN" sz="2000" b="0" i="0" dirty="0">
                <a:solidFill>
                  <a:srgbClr val="F35C70"/>
                </a:solidFill>
                <a:effectLst/>
                <a:latin typeface="-apple-system"/>
              </a:rPr>
              <a:t>Anyway</a:t>
            </a:r>
            <a:endParaRPr lang="en-US" altLang="zh-CN" sz="2000" dirty="0">
              <a:solidFill>
                <a:srgbClr val="F35C70"/>
              </a:solidFill>
              <a:latin typeface="-apple-system"/>
            </a:endParaRPr>
          </a:p>
          <a:p>
            <a:r>
              <a:rPr lang="en-US" altLang="zh-CN" sz="2000" dirty="0">
                <a:solidFill>
                  <a:srgbClr val="F35C70"/>
                </a:solidFill>
                <a:latin typeface="-apple-system"/>
              </a:rPr>
              <a:t>	</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4B</a:t>
            </a:r>
            <a:endParaRPr lang="zh-CN" altLang="en-US" dirty="0"/>
          </a:p>
        </p:txBody>
      </p:sp>
    </p:spTree>
    <p:extLst>
      <p:ext uri="{BB962C8B-B14F-4D97-AF65-F5344CB8AC3E}">
        <p14:creationId xmlns:p14="http://schemas.microsoft.com/office/powerpoint/2010/main" val="835934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6917787" cy="5909310"/>
          </a:xfrm>
          <a:prstGeom prst="rect">
            <a:avLst/>
          </a:prstGeom>
          <a:noFill/>
        </p:spPr>
        <p:txBody>
          <a:bodyPr wrap="square" rtlCol="0">
            <a:spAutoFit/>
          </a:bodyPr>
          <a:lstStyle/>
          <a:p>
            <a:pPr algn="just"/>
            <a:r>
              <a:rPr lang="en-US" altLang="zh-CN" sz="1400" b="1" i="0" dirty="0">
                <a:effectLst/>
                <a:latin typeface="-apple-system"/>
              </a:rPr>
              <a:t>Professor</a:t>
            </a:r>
            <a:r>
              <a:rPr lang="en-US" altLang="zh-CN" sz="1400" b="0" i="0" dirty="0">
                <a:effectLst/>
                <a:latin typeface="-apple-system"/>
              </a:rPr>
              <a:t>  Good Morning. </a:t>
            </a:r>
            <a:r>
              <a:rPr lang="en-US" altLang="zh-CN" sz="1400" b="1" i="0" dirty="0">
                <a:effectLst/>
                <a:latin typeface="-apple-system"/>
              </a:rPr>
              <a:t>In keeping with</a:t>
            </a:r>
            <a:r>
              <a:rPr lang="en-US" altLang="zh-CN" sz="1400" b="0" i="0" dirty="0">
                <a:effectLst/>
                <a:latin typeface="-apple-system"/>
              </a:rPr>
              <a:t> my promise to surprise you with new material, I’ll now, err, present some unexpected subject matter. Please dim the lights and I’ll begin my slideshow.</a:t>
            </a:r>
          </a:p>
          <a:p>
            <a:pPr algn="just"/>
            <a:r>
              <a:rPr lang="en-US" altLang="zh-CN" sz="1400" b="1" i="0" dirty="0">
                <a:effectLst/>
                <a:latin typeface="-apple-system"/>
              </a:rPr>
              <a:t>Student</a:t>
            </a:r>
            <a:r>
              <a:rPr lang="en-US" altLang="zh-CN" sz="1400" b="0" i="0" dirty="0">
                <a:effectLst/>
                <a:latin typeface="-apple-system"/>
              </a:rPr>
              <a:t>  Before you begin, could you tell us if this presentation represents a formal </a:t>
            </a:r>
            <a:r>
              <a:rPr lang="en-US" altLang="zh-CN" sz="1400" b="1" i="0" dirty="0">
                <a:effectLst/>
                <a:latin typeface="-apple-system"/>
              </a:rPr>
              <a:t>assignment</a:t>
            </a:r>
            <a:r>
              <a:rPr lang="en-US" altLang="zh-CN" sz="1400" b="0" i="0" dirty="0">
                <a:effectLst/>
                <a:latin typeface="-apple-system"/>
              </a:rPr>
              <a:t>?</a:t>
            </a:r>
          </a:p>
          <a:p>
            <a:pPr algn="just"/>
            <a:r>
              <a:rPr lang="en-US" altLang="zh-CN" sz="1400" b="1" i="0" dirty="0">
                <a:effectLst/>
                <a:latin typeface="-apple-system"/>
              </a:rPr>
              <a:t>Professor </a:t>
            </a:r>
            <a:r>
              <a:rPr lang="en-US" altLang="zh-CN" sz="1400" b="0" i="0" dirty="0">
                <a:effectLst/>
                <a:latin typeface="-apple-system"/>
              </a:rPr>
              <a:t> It was to be merely a lecture. But you can now </a:t>
            </a:r>
            <a:r>
              <a:rPr lang="en-US" altLang="zh-CN" sz="1400" b="1" i="0" dirty="0">
                <a:effectLst/>
                <a:latin typeface="-apple-system"/>
              </a:rPr>
              <a:t>consider</a:t>
            </a:r>
            <a:r>
              <a:rPr lang="en-US" altLang="zh-CN" sz="1400" b="0" i="0" dirty="0">
                <a:effectLst/>
                <a:latin typeface="-apple-system"/>
              </a:rPr>
              <a:t> it an assignment. Please don’ t interrupt .</a:t>
            </a:r>
          </a:p>
          <a:p>
            <a:pPr algn="just"/>
            <a:r>
              <a:rPr lang="en-US" altLang="zh-CN" sz="1400" b="1" i="0" dirty="0">
                <a:effectLst/>
                <a:latin typeface="-apple-system"/>
              </a:rPr>
              <a:t>Student </a:t>
            </a:r>
            <a:r>
              <a:rPr lang="en-US" altLang="zh-CN" sz="1400" b="0" i="0" dirty="0">
                <a:effectLst/>
                <a:latin typeface="-apple-system"/>
              </a:rPr>
              <a:t> I’m sorry, sir. Please don’ t think I ’ m being rude. I just want to be certain</a:t>
            </a:r>
          </a:p>
          <a:p>
            <a:pPr algn="just"/>
            <a:r>
              <a:rPr lang="en-US" altLang="zh-CN" sz="1400" b="0" i="0" dirty="0">
                <a:effectLst/>
                <a:latin typeface="-apple-system"/>
              </a:rPr>
              <a:t>that I </a:t>
            </a:r>
            <a:r>
              <a:rPr lang="en-US" altLang="zh-CN" sz="1400" b="1" i="0" dirty="0">
                <a:effectLst/>
                <a:latin typeface="-apple-system"/>
              </a:rPr>
              <a:t>note</a:t>
            </a:r>
            <a:r>
              <a:rPr lang="en-US" altLang="zh-CN" sz="1400" b="0" i="0" dirty="0">
                <a:effectLst/>
                <a:latin typeface="-apple-system"/>
              </a:rPr>
              <a:t> down everything important.</a:t>
            </a:r>
          </a:p>
          <a:p>
            <a:pPr algn="just"/>
            <a:r>
              <a:rPr lang="en-US" altLang="zh-CN" sz="1400" b="1" i="0" dirty="0">
                <a:effectLst/>
                <a:latin typeface="-apple-system"/>
              </a:rPr>
              <a:t>Professor</a:t>
            </a:r>
            <a:r>
              <a:rPr lang="en-US" altLang="zh-CN" sz="1400" b="0" i="0" dirty="0">
                <a:effectLst/>
                <a:latin typeface="-apple-system"/>
              </a:rPr>
              <a:t>  All right, sorry for the misunderstanding. Still, I believe that each topic I cover is </a:t>
            </a:r>
            <a:r>
              <a:rPr lang="en-US" altLang="zh-CN" sz="1400" b="1" i="0" dirty="0">
                <a:effectLst/>
                <a:latin typeface="-apple-system"/>
              </a:rPr>
              <a:t>important</a:t>
            </a:r>
            <a:r>
              <a:rPr lang="en-US" altLang="zh-CN" sz="1400" b="0" i="0" dirty="0">
                <a:effectLst/>
                <a:latin typeface="-apple-system"/>
              </a:rPr>
              <a:t>.</a:t>
            </a:r>
          </a:p>
          <a:p>
            <a:pPr algn="just"/>
            <a:r>
              <a:rPr lang="en-US" altLang="zh-CN" sz="1400" b="1" i="0" dirty="0">
                <a:effectLst/>
                <a:latin typeface="-apple-system"/>
              </a:rPr>
              <a:t>Student </a:t>
            </a:r>
            <a:r>
              <a:rPr lang="en-US" altLang="zh-CN" sz="1400" b="0" i="0" dirty="0">
                <a:effectLst/>
                <a:latin typeface="-apple-system"/>
              </a:rPr>
              <a:t> </a:t>
            </a:r>
            <a:r>
              <a:rPr lang="en-US" altLang="zh-CN" sz="1400" b="1" i="0" dirty="0">
                <a:effectLst/>
                <a:latin typeface="-apple-system"/>
              </a:rPr>
              <a:t>Indeed</a:t>
            </a:r>
            <a:r>
              <a:rPr lang="en-US" altLang="zh-CN" sz="1400" b="0" i="0" dirty="0">
                <a:effectLst/>
                <a:latin typeface="-apple-system"/>
              </a:rPr>
              <a:t> that’ s true. Please continue.</a:t>
            </a:r>
          </a:p>
          <a:p>
            <a:pPr algn="just"/>
            <a:r>
              <a:rPr lang="en-US" altLang="zh-CN" sz="1400" b="1" i="0" dirty="0">
                <a:effectLst/>
                <a:latin typeface="-apple-system"/>
              </a:rPr>
              <a:t>Professor</a:t>
            </a:r>
            <a:r>
              <a:rPr lang="en-US" altLang="zh-CN" sz="1400" b="0" i="0" dirty="0">
                <a:effectLst/>
                <a:latin typeface="-apple-system"/>
              </a:rPr>
              <a:t>  Thank you! Now, </a:t>
            </a:r>
            <a:r>
              <a:rPr lang="en-US" altLang="zh-CN" sz="1400" b="1" i="0" dirty="0">
                <a:effectLst/>
                <a:latin typeface="-apple-system"/>
              </a:rPr>
              <a:t>needless to say</a:t>
            </a:r>
            <a:r>
              <a:rPr lang="en-US" altLang="zh-CN" sz="1400" b="0" i="0" dirty="0">
                <a:effectLst/>
                <a:latin typeface="-apple-system"/>
              </a:rPr>
              <a:t>, the development of pointed arches in the early Middle Ages...</a:t>
            </a:r>
          </a:p>
          <a:p>
            <a:pPr algn="just"/>
            <a:r>
              <a:rPr lang="en-US" altLang="zh-CN" sz="1400" b="1" i="0" dirty="0">
                <a:effectLst/>
                <a:latin typeface="-apple-system"/>
              </a:rPr>
              <a:t>Student</a:t>
            </a:r>
            <a:r>
              <a:rPr lang="en-US" altLang="zh-CN" sz="1400" b="0" i="0" dirty="0">
                <a:effectLst/>
                <a:latin typeface="-apple-system"/>
              </a:rPr>
              <a:t>  Sir, sorry to interrupt again, but I have one last question. Will you discuss this </a:t>
            </a:r>
            <a:r>
              <a:rPr lang="en-US" altLang="zh-CN" sz="1400" b="1" i="0" dirty="0">
                <a:effectLst/>
                <a:latin typeface="-apple-system"/>
              </a:rPr>
              <a:t>presentation</a:t>
            </a:r>
            <a:r>
              <a:rPr lang="en-US" altLang="zh-CN" sz="1400" b="0" i="0" dirty="0">
                <a:effectLst/>
                <a:latin typeface="-apple-system"/>
              </a:rPr>
              <a:t> again in your office hours?</a:t>
            </a:r>
          </a:p>
          <a:p>
            <a:pPr algn="just"/>
            <a:r>
              <a:rPr lang="en-US" altLang="zh-CN" sz="1400" b="1" i="0" dirty="0">
                <a:effectLst/>
                <a:latin typeface="-apple-system"/>
              </a:rPr>
              <a:t>Professor </a:t>
            </a:r>
            <a:r>
              <a:rPr lang="en-US" altLang="zh-CN" sz="1400" b="0" i="0" dirty="0">
                <a:effectLst/>
                <a:latin typeface="-apple-system"/>
              </a:rPr>
              <a:t> Yes, I will. </a:t>
            </a:r>
            <a:r>
              <a:rPr lang="en-US" altLang="zh-CN" sz="1400" b="1" i="0" dirty="0">
                <a:effectLst/>
                <a:latin typeface="-apple-system"/>
              </a:rPr>
              <a:t>Furthermore</a:t>
            </a:r>
            <a:r>
              <a:rPr lang="en-US" altLang="zh-CN" sz="1400" b="0" i="0" dirty="0">
                <a:effectLst/>
                <a:latin typeface="-apple-system"/>
              </a:rPr>
              <a:t>, I advise students to come to my office hours in general, as the material is complicated and may require some extra guidance.</a:t>
            </a:r>
          </a:p>
          <a:p>
            <a:pPr algn="just"/>
            <a:r>
              <a:rPr lang="en-US" altLang="zh-CN" sz="1400" b="1" i="0" dirty="0">
                <a:effectLst/>
                <a:latin typeface="-apple-system"/>
              </a:rPr>
              <a:t>Student</a:t>
            </a:r>
            <a:r>
              <a:rPr lang="en-US" altLang="zh-CN" sz="1400" b="0" i="0" dirty="0">
                <a:effectLst/>
                <a:latin typeface="-apple-system"/>
              </a:rPr>
              <a:t>  Awesome, I’ll be sure to </a:t>
            </a:r>
            <a:r>
              <a:rPr lang="en-US" altLang="zh-CN" sz="1400" b="1" i="0" dirty="0">
                <a:effectLst/>
                <a:latin typeface="-apple-system"/>
              </a:rPr>
              <a:t>heed</a:t>
            </a:r>
            <a:r>
              <a:rPr lang="en-US" altLang="zh-CN" sz="1400" b="0" i="0" dirty="0">
                <a:effectLst/>
                <a:latin typeface="-apple-system"/>
              </a:rPr>
              <a:t> your advice.</a:t>
            </a:r>
          </a:p>
          <a:p>
            <a:pPr algn="just"/>
            <a:r>
              <a:rPr lang="en-US" altLang="zh-CN" sz="1400" b="1" i="0" dirty="0">
                <a:effectLst/>
                <a:latin typeface="-apple-system"/>
              </a:rPr>
              <a:t>Professor </a:t>
            </a:r>
            <a:r>
              <a:rPr lang="en-US" altLang="zh-CN" sz="1400" b="0" i="0" dirty="0">
                <a:effectLst/>
                <a:latin typeface="-apple-system"/>
              </a:rPr>
              <a:t> </a:t>
            </a:r>
            <a:r>
              <a:rPr lang="en-US" altLang="zh-CN" sz="1400" b="1" i="0" dirty="0">
                <a:effectLst/>
                <a:latin typeface="-apple-system"/>
              </a:rPr>
              <a:t>Great</a:t>
            </a:r>
            <a:r>
              <a:rPr lang="en-US" altLang="zh-CN" sz="1400" b="0" i="0" dirty="0">
                <a:effectLst/>
                <a:latin typeface="-apple-system"/>
              </a:rPr>
              <a:t>. Now, the development of the pointed arch was associated with...</a:t>
            </a:r>
          </a:p>
          <a:p>
            <a:pPr algn="just"/>
            <a:r>
              <a:rPr lang="en-US" altLang="zh-CN" sz="1400" b="1" i="0" dirty="0">
                <a:effectLst/>
                <a:latin typeface="-apple-system"/>
              </a:rPr>
              <a:t>Student</a:t>
            </a:r>
            <a:r>
              <a:rPr lang="en-US" altLang="zh-CN" sz="1400" b="0" i="0" dirty="0">
                <a:effectLst/>
                <a:latin typeface="-apple-system"/>
              </a:rPr>
              <a:t>  </a:t>
            </a:r>
            <a:r>
              <a:rPr lang="en-US" altLang="zh-CN" sz="1400" b="1" i="0" dirty="0">
                <a:effectLst/>
                <a:latin typeface="-apple-system"/>
              </a:rPr>
              <a:t>In</a:t>
            </a:r>
            <a:r>
              <a:rPr lang="en-US" altLang="zh-CN" sz="1400" b="0" i="0" dirty="0">
                <a:effectLst/>
                <a:latin typeface="-apple-system"/>
              </a:rPr>
              <a:t> </a:t>
            </a:r>
            <a:r>
              <a:rPr lang="en-US" altLang="zh-CN" sz="1400" b="1" i="0" dirty="0">
                <a:effectLst/>
                <a:latin typeface="-apple-system"/>
              </a:rPr>
              <a:t>retrospect</a:t>
            </a:r>
            <a:r>
              <a:rPr lang="en-US" altLang="zh-CN" sz="1400" b="0" i="0" dirty="0">
                <a:effectLst/>
                <a:latin typeface="-apple-system"/>
              </a:rPr>
              <a:t>, I should have come to your office a long time ago. I just didn’t know how to approach you.</a:t>
            </a:r>
          </a:p>
          <a:p>
            <a:pPr algn="just"/>
            <a:r>
              <a:rPr lang="en-US" altLang="zh-CN" sz="1400" b="1" i="0" dirty="0">
                <a:effectLst/>
                <a:latin typeface="-apple-system"/>
              </a:rPr>
              <a:t>Professor</a:t>
            </a:r>
            <a:r>
              <a:rPr lang="en-US" altLang="zh-CN" sz="1400" b="0" i="0" dirty="0">
                <a:effectLst/>
                <a:latin typeface="-apple-system"/>
              </a:rPr>
              <a:t>  The course is definitely </a:t>
            </a:r>
            <a:r>
              <a:rPr lang="en-US" altLang="zh-CN" sz="1400" b="1" i="0" dirty="0">
                <a:effectLst/>
                <a:latin typeface="-apple-system"/>
              </a:rPr>
              <a:t>challenging</a:t>
            </a:r>
            <a:r>
              <a:rPr lang="en-US" altLang="zh-CN" sz="1400" b="0" i="0" dirty="0">
                <a:effectLst/>
                <a:latin typeface="-apple-system"/>
              </a:rPr>
              <a:t>, and you need to learn to put aside your fears and focus on the task at hand. But if you’ll excuse me, we need to get started.</a:t>
            </a:r>
          </a:p>
          <a:p>
            <a:pPr algn="just"/>
            <a:r>
              <a:rPr lang="en-US" altLang="zh-CN" sz="1400" b="1" i="0" dirty="0">
                <a:effectLst/>
                <a:latin typeface="-apple-system"/>
              </a:rPr>
              <a:t>Student </a:t>
            </a:r>
            <a:r>
              <a:rPr lang="en-US" altLang="zh-CN" sz="1400" b="0" i="0" dirty="0">
                <a:effectLst/>
                <a:latin typeface="-apple-system"/>
              </a:rPr>
              <a:t> I’ m sorry. I tend to ask too many questions </a:t>
            </a:r>
            <a:r>
              <a:rPr lang="en-US" altLang="zh-CN" sz="1400" b="1" i="0" dirty="0">
                <a:effectLst/>
                <a:latin typeface="-apple-system"/>
              </a:rPr>
              <a:t>on occasion</a:t>
            </a:r>
            <a:r>
              <a:rPr lang="en-US" altLang="zh-CN" sz="1400" b="0" i="0" dirty="0">
                <a:effectLst/>
                <a:latin typeface="-apple-system"/>
              </a:rPr>
              <a:t>.</a:t>
            </a:r>
          </a:p>
          <a:p>
            <a:pPr algn="just"/>
            <a:r>
              <a:rPr lang="en-US" altLang="zh-CN" sz="1400" b="1" i="0" dirty="0">
                <a:effectLst/>
                <a:latin typeface="-apple-system"/>
              </a:rPr>
              <a:t>Professor</a:t>
            </a:r>
            <a:r>
              <a:rPr lang="en-US" altLang="zh-CN" sz="1400" b="0" i="0" dirty="0">
                <a:effectLst/>
                <a:latin typeface="-apple-system"/>
              </a:rPr>
              <a:t>  It’s no problem. </a:t>
            </a:r>
            <a:r>
              <a:rPr lang="en-US" altLang="zh-CN" sz="1400" b="1" i="0" dirty="0">
                <a:effectLst/>
                <a:latin typeface="-apple-system"/>
              </a:rPr>
              <a:t>In</a:t>
            </a:r>
            <a:r>
              <a:rPr lang="en-US" altLang="zh-CN" sz="1400" b="0" i="0" dirty="0">
                <a:effectLst/>
                <a:latin typeface="-apple-system"/>
              </a:rPr>
              <a:t> </a:t>
            </a:r>
            <a:r>
              <a:rPr lang="en-US" altLang="zh-CN" sz="1400" b="1" i="0" dirty="0">
                <a:effectLst/>
                <a:latin typeface="-apple-system"/>
              </a:rPr>
              <a:t>any case</a:t>
            </a:r>
            <a:r>
              <a:rPr lang="en-US" altLang="zh-CN" sz="1400" b="0" i="0" dirty="0">
                <a:effectLst/>
                <a:latin typeface="-apple-system"/>
              </a:rPr>
              <a:t>, proper questions are necessary in class. Now, as soon as someone dims the light , we’ll get started with this presentation.</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137558" y="533325"/>
            <a:ext cx="5240295" cy="5016758"/>
          </a:xfrm>
          <a:prstGeom prst="rect">
            <a:avLst/>
          </a:prstGeom>
          <a:noFill/>
        </p:spPr>
        <p:txBody>
          <a:bodyPr wrap="square" rtlCol="0">
            <a:spAutoFit/>
          </a:bodyPr>
          <a:lstStyle/>
          <a:p>
            <a:r>
              <a:rPr lang="en-US" altLang="zh-CN" sz="2000" b="0" i="0" dirty="0">
                <a:effectLst/>
                <a:latin typeface="-apple-system"/>
              </a:rPr>
              <a:t>In keeping with	</a:t>
            </a:r>
            <a:r>
              <a:rPr lang="zh-CN" altLang="en-US" sz="2000" dirty="0">
                <a:latin typeface="-apple-system"/>
              </a:rPr>
              <a:t>保持</a:t>
            </a:r>
            <a:r>
              <a:rPr lang="en-US" altLang="zh-CN" sz="2000" b="0" i="0" dirty="0">
                <a:effectLst/>
                <a:latin typeface="-apple-system"/>
              </a:rPr>
              <a:t>	</a:t>
            </a:r>
            <a:r>
              <a:rPr lang="en-US" altLang="zh-CN" sz="2000" b="0" i="0" dirty="0">
                <a:solidFill>
                  <a:srgbClr val="F35C70"/>
                </a:solidFill>
                <a:effectLst/>
                <a:latin typeface="-apple-system"/>
              </a:rPr>
              <a:t>Observing</a:t>
            </a:r>
          </a:p>
          <a:p>
            <a:r>
              <a:rPr lang="en-US" altLang="zh-CN" sz="2000" b="0" i="0" dirty="0">
                <a:effectLst/>
                <a:latin typeface="-apple-system"/>
              </a:rPr>
              <a:t>Assignment</a:t>
            </a:r>
            <a:r>
              <a:rPr lang="en-US" altLang="zh-CN" sz="2000" dirty="0">
                <a:solidFill>
                  <a:srgbClr val="F35C70"/>
                </a:solidFill>
                <a:latin typeface="-apple-system"/>
              </a:rPr>
              <a:t>	</a:t>
            </a:r>
            <a:r>
              <a:rPr lang="zh-CN" altLang="en-US" sz="2000" dirty="0">
                <a:latin typeface="-apple-system"/>
              </a:rPr>
              <a:t>任务</a:t>
            </a:r>
            <a:r>
              <a:rPr lang="en-US" altLang="zh-CN" sz="2000" dirty="0">
                <a:solidFill>
                  <a:srgbClr val="F35C70"/>
                </a:solidFill>
                <a:latin typeface="-apple-system"/>
              </a:rPr>
              <a:t>	</a:t>
            </a:r>
            <a:r>
              <a:rPr lang="en-US" altLang="zh-CN" sz="2000" b="0" i="0" dirty="0">
                <a:solidFill>
                  <a:srgbClr val="F35C70"/>
                </a:solidFill>
                <a:effectLst/>
                <a:latin typeface="-apple-system"/>
              </a:rPr>
              <a:t>task</a:t>
            </a:r>
            <a:endParaRPr lang="en-US" altLang="zh-CN" sz="2000" dirty="0">
              <a:solidFill>
                <a:srgbClr val="F35C70"/>
              </a:solidFill>
              <a:latin typeface="-apple-system"/>
            </a:endParaRPr>
          </a:p>
          <a:p>
            <a:r>
              <a:rPr lang="en-US" altLang="zh-CN" sz="2000" b="0" i="0" dirty="0">
                <a:effectLst/>
                <a:latin typeface="-apple-system"/>
              </a:rPr>
              <a:t>Consider</a:t>
            </a:r>
            <a:r>
              <a:rPr lang="en-US" altLang="zh-CN" sz="2000" b="0" i="0" dirty="0">
                <a:solidFill>
                  <a:srgbClr val="F35C70"/>
                </a:solidFill>
                <a:effectLst/>
                <a:latin typeface="-apple-system"/>
              </a:rPr>
              <a:t>		</a:t>
            </a:r>
            <a:r>
              <a:rPr lang="zh-CN" altLang="en-US" sz="2000" dirty="0">
                <a:latin typeface="-apple-system"/>
              </a:rPr>
              <a:t>考虑</a:t>
            </a:r>
            <a:r>
              <a:rPr lang="en-US" altLang="zh-CN" sz="2000" b="0" i="0" dirty="0">
                <a:solidFill>
                  <a:srgbClr val="F35C70"/>
                </a:solidFill>
                <a:effectLst/>
                <a:latin typeface="-apple-system"/>
              </a:rPr>
              <a:t>	deem</a:t>
            </a:r>
          </a:p>
          <a:p>
            <a:r>
              <a:rPr lang="en-US" altLang="zh-CN" sz="2000" b="0" i="0" dirty="0">
                <a:effectLst/>
                <a:latin typeface="-apple-system"/>
              </a:rPr>
              <a:t>Note</a:t>
            </a:r>
            <a:r>
              <a:rPr lang="en-US" altLang="zh-CN" sz="2000" dirty="0">
                <a:solidFill>
                  <a:srgbClr val="F35C70"/>
                </a:solidFill>
                <a:latin typeface="-apple-system"/>
              </a:rPr>
              <a:t>		</a:t>
            </a:r>
            <a:r>
              <a:rPr lang="zh-CN" altLang="en-US" sz="2000" dirty="0">
                <a:latin typeface="-apple-system"/>
              </a:rPr>
              <a:t>笔记</a:t>
            </a:r>
            <a:r>
              <a:rPr lang="en-US" altLang="zh-CN" sz="2000" dirty="0">
                <a:solidFill>
                  <a:srgbClr val="F35C70"/>
                </a:solidFill>
                <a:latin typeface="-apple-system"/>
              </a:rPr>
              <a:t>	</a:t>
            </a:r>
            <a:r>
              <a:rPr lang="en-US" altLang="zh-CN" sz="2000" b="0" i="0" dirty="0">
                <a:solidFill>
                  <a:srgbClr val="F35C70"/>
                </a:solidFill>
                <a:effectLst/>
                <a:latin typeface="-apple-system"/>
              </a:rPr>
              <a:t>record</a:t>
            </a:r>
          </a:p>
          <a:p>
            <a:r>
              <a:rPr lang="en-US" altLang="zh-CN" sz="2000" b="0" i="0" dirty="0">
                <a:effectLst/>
                <a:latin typeface="-apple-system"/>
              </a:rPr>
              <a:t>Important	</a:t>
            </a:r>
            <a:r>
              <a:rPr lang="zh-CN" altLang="en-US" sz="2000" dirty="0">
                <a:latin typeface="-apple-system"/>
              </a:rPr>
              <a:t>重要的</a:t>
            </a:r>
            <a:r>
              <a:rPr lang="en-US" altLang="zh-CN" sz="2000" b="0" i="0" dirty="0">
                <a:effectLst/>
                <a:latin typeface="-apple-system"/>
              </a:rPr>
              <a:t>	</a:t>
            </a:r>
            <a:r>
              <a:rPr lang="en-US" altLang="zh-CN" sz="2000" b="0" i="0" dirty="0">
                <a:solidFill>
                  <a:srgbClr val="F35C70"/>
                </a:solidFill>
                <a:effectLst/>
                <a:latin typeface="-apple-system"/>
              </a:rPr>
              <a:t>essential</a:t>
            </a:r>
          </a:p>
          <a:p>
            <a:r>
              <a:rPr lang="en-US" altLang="zh-CN" sz="2000" b="0" i="0" dirty="0">
                <a:effectLst/>
                <a:latin typeface="-apple-system"/>
              </a:rPr>
              <a:t>Indeed		</a:t>
            </a:r>
            <a:r>
              <a:rPr lang="zh-CN" altLang="en-US" sz="2000" dirty="0">
                <a:latin typeface="-apple-system"/>
              </a:rPr>
              <a:t>确实</a:t>
            </a:r>
            <a:r>
              <a:rPr lang="en-US" altLang="zh-CN" sz="2000" b="0" i="0" dirty="0">
                <a:effectLst/>
                <a:latin typeface="-apple-system"/>
              </a:rPr>
              <a:t>	</a:t>
            </a:r>
            <a:r>
              <a:rPr lang="en-US" altLang="zh-CN" sz="2000" b="0" i="0" dirty="0">
                <a:solidFill>
                  <a:srgbClr val="F35C70"/>
                </a:solidFill>
                <a:effectLst/>
                <a:latin typeface="-apple-system"/>
              </a:rPr>
              <a:t>certainly</a:t>
            </a:r>
          </a:p>
          <a:p>
            <a:r>
              <a:rPr lang="en-US" altLang="zh-CN" sz="2000" b="0" i="0" dirty="0">
                <a:effectLst/>
                <a:latin typeface="-apple-system"/>
              </a:rPr>
              <a:t>needless to say	</a:t>
            </a:r>
            <a:r>
              <a:rPr lang="zh-CN" altLang="en-US" sz="2000" dirty="0">
                <a:latin typeface="-apple-system"/>
              </a:rPr>
              <a:t>显然</a:t>
            </a:r>
            <a:r>
              <a:rPr lang="en-US" altLang="zh-CN" sz="2000" b="0" i="0" dirty="0">
                <a:effectLst/>
                <a:latin typeface="-apple-system"/>
              </a:rPr>
              <a:t>	</a:t>
            </a:r>
            <a:r>
              <a:rPr lang="en-US" altLang="zh-CN" sz="2000" b="0" i="0" dirty="0">
                <a:solidFill>
                  <a:srgbClr val="F35C70"/>
                </a:solidFill>
                <a:effectLst/>
                <a:latin typeface="-apple-system"/>
              </a:rPr>
              <a:t>obviously</a:t>
            </a:r>
          </a:p>
          <a:p>
            <a:r>
              <a:rPr lang="en-US" altLang="zh-CN" sz="2000" b="0" i="0" dirty="0">
                <a:effectLst/>
                <a:latin typeface="-apple-system"/>
              </a:rPr>
              <a:t>Presentation</a:t>
            </a:r>
            <a:r>
              <a:rPr lang="en-US" altLang="zh-CN" sz="2000" dirty="0">
                <a:solidFill>
                  <a:srgbClr val="F35C70"/>
                </a:solidFill>
                <a:latin typeface="-apple-system"/>
              </a:rPr>
              <a:t>	</a:t>
            </a:r>
            <a:r>
              <a:rPr lang="zh-CN" altLang="en-US" sz="2000" dirty="0">
                <a:latin typeface="-apple-system"/>
              </a:rPr>
              <a:t>演讲</a:t>
            </a:r>
            <a:r>
              <a:rPr lang="en-US" altLang="zh-CN" sz="2000" dirty="0">
                <a:solidFill>
                  <a:srgbClr val="F35C70"/>
                </a:solidFill>
                <a:latin typeface="-apple-system"/>
              </a:rPr>
              <a:t>	</a:t>
            </a:r>
            <a:r>
              <a:rPr lang="en-US" altLang="zh-CN" sz="2000" b="0" i="0" dirty="0">
                <a:solidFill>
                  <a:srgbClr val="F35C70"/>
                </a:solidFill>
                <a:effectLst/>
                <a:latin typeface="-apple-system"/>
              </a:rPr>
              <a:t>lecture</a:t>
            </a:r>
            <a:endParaRPr lang="en-US" altLang="zh-CN" sz="2000" dirty="0">
              <a:solidFill>
                <a:srgbClr val="F35C70"/>
              </a:solidFill>
              <a:latin typeface="-apple-system"/>
            </a:endParaRPr>
          </a:p>
          <a:p>
            <a:r>
              <a:rPr lang="en-US" altLang="zh-CN" sz="2000" b="0" i="0" dirty="0">
                <a:effectLst/>
                <a:latin typeface="-apple-system"/>
              </a:rPr>
              <a:t>Furthermore</a:t>
            </a:r>
            <a:r>
              <a:rPr lang="en-US" altLang="zh-CN" sz="2000" b="0" i="0" dirty="0">
                <a:solidFill>
                  <a:srgbClr val="F35C70"/>
                </a:solidFill>
                <a:effectLst/>
                <a:latin typeface="-apple-system"/>
              </a:rPr>
              <a:t>	</a:t>
            </a:r>
            <a:r>
              <a:rPr lang="zh-CN" altLang="en-US" sz="2000" dirty="0">
                <a:latin typeface="-apple-system"/>
              </a:rPr>
              <a:t>此外</a:t>
            </a:r>
            <a:r>
              <a:rPr lang="en-US" altLang="zh-CN" sz="2000" b="0" i="0" dirty="0">
                <a:solidFill>
                  <a:srgbClr val="F35C70"/>
                </a:solidFill>
                <a:effectLst/>
                <a:latin typeface="-apple-system"/>
              </a:rPr>
              <a:t>	Additionally</a:t>
            </a:r>
          </a:p>
          <a:p>
            <a:r>
              <a:rPr lang="en-US" altLang="zh-CN" sz="2000" b="0" i="0" dirty="0">
                <a:effectLst/>
                <a:latin typeface="-apple-system"/>
              </a:rPr>
              <a:t>Heed		</a:t>
            </a:r>
            <a:r>
              <a:rPr lang="zh-CN" altLang="en-US" sz="2000" dirty="0">
                <a:latin typeface="-apple-system"/>
              </a:rPr>
              <a:t>注意</a:t>
            </a:r>
            <a:r>
              <a:rPr lang="en-US" altLang="zh-CN" sz="2000" b="0" i="0" dirty="0">
                <a:effectLst/>
                <a:latin typeface="-apple-system"/>
              </a:rPr>
              <a:t>	</a:t>
            </a:r>
            <a:r>
              <a:rPr lang="en-US" altLang="zh-CN" sz="2000" b="0" i="0" dirty="0">
                <a:solidFill>
                  <a:srgbClr val="F35C70"/>
                </a:solidFill>
                <a:effectLst/>
                <a:latin typeface="-apple-system"/>
              </a:rPr>
              <a:t>mind</a:t>
            </a:r>
          </a:p>
          <a:p>
            <a:r>
              <a:rPr lang="en-US" altLang="zh-CN" sz="2000" b="0" i="0" dirty="0">
                <a:effectLst/>
                <a:latin typeface="-apple-system"/>
              </a:rPr>
              <a:t>Great</a:t>
            </a:r>
            <a:r>
              <a:rPr lang="en-US" altLang="zh-CN" sz="2000" dirty="0">
                <a:solidFill>
                  <a:srgbClr val="F35C70"/>
                </a:solidFill>
                <a:latin typeface="-apple-system"/>
              </a:rPr>
              <a:t>		</a:t>
            </a:r>
            <a:r>
              <a:rPr lang="zh-CN" altLang="en-US" sz="2000" dirty="0">
                <a:latin typeface="-apple-system"/>
              </a:rPr>
              <a:t>太棒了</a:t>
            </a:r>
            <a:r>
              <a:rPr lang="en-US" altLang="zh-CN" sz="2000" dirty="0">
                <a:solidFill>
                  <a:srgbClr val="F35C70"/>
                </a:solidFill>
                <a:latin typeface="-apple-system"/>
              </a:rPr>
              <a:t>	</a:t>
            </a:r>
            <a:r>
              <a:rPr lang="en-US" altLang="zh-CN" sz="2000" b="0" i="0" dirty="0">
                <a:solidFill>
                  <a:srgbClr val="F35C70"/>
                </a:solidFill>
                <a:effectLst/>
                <a:latin typeface="-apple-system"/>
              </a:rPr>
              <a:t>Wonderful</a:t>
            </a:r>
            <a:endParaRPr lang="en-US" altLang="zh-CN" sz="2000" dirty="0">
              <a:solidFill>
                <a:srgbClr val="F35C70"/>
              </a:solidFill>
              <a:latin typeface="-apple-system"/>
            </a:endParaRPr>
          </a:p>
          <a:p>
            <a:r>
              <a:rPr lang="en-US" altLang="zh-CN" sz="2000" b="0" i="0" dirty="0">
                <a:effectLst/>
                <a:latin typeface="-apple-system"/>
              </a:rPr>
              <a:t>In retrospect       </a:t>
            </a:r>
            <a:r>
              <a:rPr lang="zh-CN" altLang="en-US" sz="2000" dirty="0">
                <a:latin typeface="-apple-system"/>
              </a:rPr>
              <a:t>再想一想</a:t>
            </a:r>
            <a:r>
              <a:rPr lang="en-US" altLang="zh-CN" sz="2000" b="0" i="0" dirty="0">
                <a:effectLst/>
                <a:latin typeface="-apple-system"/>
              </a:rPr>
              <a:t>	</a:t>
            </a:r>
            <a:r>
              <a:rPr lang="en-US" altLang="zh-CN" sz="2000" b="0" i="0" dirty="0">
                <a:solidFill>
                  <a:srgbClr val="F35C70"/>
                </a:solidFill>
                <a:effectLst/>
                <a:latin typeface="-apple-system"/>
              </a:rPr>
              <a:t>On second thought</a:t>
            </a:r>
          </a:p>
          <a:p>
            <a:r>
              <a:rPr lang="en-US" altLang="zh-CN" sz="2000" b="0" i="0" dirty="0">
                <a:effectLst/>
                <a:latin typeface="-apple-system"/>
              </a:rPr>
              <a:t>Challenging</a:t>
            </a:r>
            <a:r>
              <a:rPr lang="en-US" altLang="zh-CN" sz="2000" dirty="0">
                <a:solidFill>
                  <a:srgbClr val="F35C70"/>
                </a:solidFill>
                <a:latin typeface="-apple-system"/>
              </a:rPr>
              <a:t>	</a:t>
            </a:r>
            <a:r>
              <a:rPr lang="zh-CN" altLang="en-US" sz="2000" dirty="0">
                <a:latin typeface="-apple-system"/>
              </a:rPr>
              <a:t>挑战性</a:t>
            </a:r>
            <a:r>
              <a:rPr lang="en-US" altLang="zh-CN" sz="2000" dirty="0">
                <a:solidFill>
                  <a:srgbClr val="F35C70"/>
                </a:solidFill>
                <a:latin typeface="-apple-system"/>
              </a:rPr>
              <a:t>	</a:t>
            </a:r>
            <a:r>
              <a:rPr lang="en-US" altLang="zh-CN" sz="2000" b="0" i="0" dirty="0">
                <a:solidFill>
                  <a:srgbClr val="F35C70"/>
                </a:solidFill>
                <a:effectLst/>
                <a:latin typeface="-apple-system"/>
              </a:rPr>
              <a:t>demanding</a:t>
            </a:r>
            <a:endParaRPr lang="en-US" altLang="zh-CN" sz="2000" dirty="0">
              <a:solidFill>
                <a:srgbClr val="F35C70"/>
              </a:solidFill>
              <a:latin typeface="-apple-system"/>
            </a:endParaRPr>
          </a:p>
          <a:p>
            <a:r>
              <a:rPr lang="en-US" altLang="zh-CN" sz="2000" b="0" i="0" dirty="0">
                <a:effectLst/>
                <a:latin typeface="-apple-system"/>
              </a:rPr>
              <a:t>on occasion</a:t>
            </a:r>
            <a:r>
              <a:rPr lang="en-US" altLang="zh-CN" sz="2000" b="0" i="0" dirty="0">
                <a:solidFill>
                  <a:srgbClr val="F35C70"/>
                </a:solidFill>
                <a:effectLst/>
                <a:latin typeface="-apple-system"/>
              </a:rPr>
              <a:t>	</a:t>
            </a:r>
            <a:r>
              <a:rPr lang="zh-CN" altLang="en-US" sz="2000" dirty="0">
                <a:latin typeface="-apple-system"/>
              </a:rPr>
              <a:t>定期</a:t>
            </a:r>
            <a:r>
              <a:rPr lang="en-US" altLang="zh-CN" sz="2000" b="0" i="0" dirty="0">
                <a:solidFill>
                  <a:srgbClr val="F35C70"/>
                </a:solidFill>
                <a:effectLst/>
                <a:latin typeface="-apple-system"/>
              </a:rPr>
              <a:t>	periodically</a:t>
            </a:r>
          </a:p>
          <a:p>
            <a:r>
              <a:rPr lang="en-US" altLang="zh-CN" sz="2000" b="0" i="0" dirty="0">
                <a:effectLst/>
                <a:latin typeface="-apple-system"/>
              </a:rPr>
              <a:t>In any case</a:t>
            </a:r>
            <a:r>
              <a:rPr lang="en-US" altLang="zh-CN" sz="2000" dirty="0">
                <a:latin typeface="-apple-system"/>
              </a:rPr>
              <a:t>         </a:t>
            </a:r>
            <a:r>
              <a:rPr lang="zh-CN" altLang="en-US" sz="2000" dirty="0">
                <a:latin typeface="-apple-system"/>
              </a:rPr>
              <a:t>无论如何</a:t>
            </a:r>
            <a:r>
              <a:rPr lang="en-US" altLang="zh-CN" sz="2000" dirty="0">
                <a:solidFill>
                  <a:srgbClr val="F35C70"/>
                </a:solidFill>
                <a:latin typeface="-apple-system"/>
              </a:rPr>
              <a:t>	</a:t>
            </a:r>
            <a:r>
              <a:rPr lang="en-US" altLang="zh-CN" sz="2000" b="0" i="0" dirty="0">
                <a:solidFill>
                  <a:srgbClr val="F35C70"/>
                </a:solidFill>
                <a:effectLst/>
                <a:latin typeface="-apple-system"/>
              </a:rPr>
              <a:t>Anyway</a:t>
            </a:r>
            <a:endParaRPr lang="en-US" altLang="zh-CN" sz="2000" dirty="0">
              <a:solidFill>
                <a:srgbClr val="F35C70"/>
              </a:solidFill>
              <a:latin typeface="-apple-system"/>
            </a:endParaRPr>
          </a:p>
          <a:p>
            <a:r>
              <a:rPr lang="en-US" altLang="zh-CN" sz="2000" dirty="0">
                <a:solidFill>
                  <a:srgbClr val="F35C70"/>
                </a:solidFill>
                <a:latin typeface="-apple-system"/>
              </a:rPr>
              <a:t>	</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4B</a:t>
            </a:r>
            <a:endParaRPr lang="zh-CN" altLang="en-US" dirty="0"/>
          </a:p>
        </p:txBody>
      </p:sp>
    </p:spTree>
    <p:extLst>
      <p:ext uri="{BB962C8B-B14F-4D97-AF65-F5344CB8AC3E}">
        <p14:creationId xmlns:p14="http://schemas.microsoft.com/office/powerpoint/2010/main" val="3888453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5958739" cy="6340197"/>
          </a:xfrm>
          <a:prstGeom prst="rect">
            <a:avLst/>
          </a:prstGeom>
          <a:noFill/>
        </p:spPr>
        <p:txBody>
          <a:bodyPr wrap="square" rtlCol="0">
            <a:spAutoFit/>
          </a:bodyPr>
          <a:lstStyle/>
          <a:p>
            <a:pPr algn="just"/>
            <a:r>
              <a:rPr lang="en-US" altLang="zh-CN" sz="1400" b="1" i="0" dirty="0">
                <a:effectLst/>
                <a:latin typeface="-apple-system"/>
              </a:rPr>
              <a:t>Student</a:t>
            </a:r>
            <a:r>
              <a:rPr lang="en-US" altLang="zh-CN" sz="1400" b="0" i="0" dirty="0">
                <a:effectLst/>
                <a:latin typeface="-apple-system"/>
              </a:rPr>
              <a:t>  I plan to live on campus. What do the students around here do in the way of </a:t>
            </a:r>
            <a:r>
              <a:rPr lang="en-US" altLang="zh-CN" sz="1400" b="1" i="0" dirty="0">
                <a:effectLst/>
                <a:latin typeface="-apple-system"/>
              </a:rPr>
              <a:t>entertainment</a:t>
            </a:r>
            <a:r>
              <a:rPr lang="en-US" altLang="zh-CN" sz="1400" b="0" i="0" dirty="0">
                <a:effectLst/>
                <a:latin typeface="-apple-system"/>
              </a:rPr>
              <a:t> ?</a:t>
            </a:r>
          </a:p>
          <a:p>
            <a:pPr algn="just"/>
            <a:r>
              <a:rPr lang="en-US" altLang="zh-CN" sz="1400" b="1" i="0" dirty="0">
                <a:effectLst/>
                <a:latin typeface="-apple-system"/>
              </a:rPr>
              <a:t>College Employee</a:t>
            </a:r>
            <a:r>
              <a:rPr lang="en-US" altLang="zh-CN" sz="1400" b="0" i="0" dirty="0">
                <a:effectLst/>
                <a:latin typeface="-apple-system"/>
              </a:rPr>
              <a:t>  Since this college is in a rural area, so your options are </a:t>
            </a:r>
            <a:r>
              <a:rPr lang="en-US" altLang="zh-CN" sz="1400" b="1" i="0" dirty="0">
                <a:effectLst/>
                <a:latin typeface="-apple-system"/>
              </a:rPr>
              <a:t>limited</a:t>
            </a:r>
            <a:r>
              <a:rPr lang="en-US" altLang="zh-CN" sz="1400" b="0" i="0" dirty="0">
                <a:effectLst/>
                <a:latin typeface="-apple-system"/>
              </a:rPr>
              <a:t> to the entertainment offered on campus.</a:t>
            </a:r>
          </a:p>
          <a:p>
            <a:pPr algn="just"/>
            <a:r>
              <a:rPr lang="en-US" altLang="zh-CN" sz="1400" b="1" i="0" dirty="0">
                <a:effectLst/>
                <a:latin typeface="-apple-system"/>
              </a:rPr>
              <a:t>Student</a:t>
            </a:r>
            <a:r>
              <a:rPr lang="en-US" altLang="zh-CN" sz="1400" b="0" i="0" dirty="0">
                <a:effectLst/>
                <a:latin typeface="-apple-system"/>
              </a:rPr>
              <a:t>  OK, but how about something beyond the general </a:t>
            </a:r>
            <a:r>
              <a:rPr lang="en-US" altLang="zh-CN" sz="1400" b="1" i="0" dirty="0">
                <a:effectLst/>
                <a:latin typeface="-apple-system"/>
              </a:rPr>
              <a:t>locale</a:t>
            </a:r>
            <a:r>
              <a:rPr lang="en-US" altLang="zh-CN" sz="1400" b="0" i="0" dirty="0">
                <a:effectLst/>
                <a:latin typeface="-apple-system"/>
              </a:rPr>
              <a:t> ? I have a car, so transportation is not a problem.</a:t>
            </a:r>
          </a:p>
          <a:p>
            <a:pPr algn="just"/>
            <a:r>
              <a:rPr lang="en-US" altLang="zh-CN" sz="1400" b="1" i="0" dirty="0">
                <a:effectLst/>
                <a:latin typeface="-apple-system"/>
              </a:rPr>
              <a:t>College Employee</a:t>
            </a:r>
            <a:r>
              <a:rPr lang="en-US" altLang="zh-CN" sz="1400" b="0" i="0" dirty="0">
                <a:effectLst/>
                <a:latin typeface="-apple-system"/>
              </a:rPr>
              <a:t>  There is town 30 miles away, but I must warn you to steer clear of any </a:t>
            </a:r>
            <a:r>
              <a:rPr lang="en-US" altLang="zh-CN" sz="1400" b="1" i="0" dirty="0">
                <a:effectLst/>
                <a:latin typeface="-apple-system"/>
              </a:rPr>
              <a:t>illicit</a:t>
            </a:r>
            <a:r>
              <a:rPr lang="en-US" altLang="zh-CN" sz="1400" b="0" i="0" dirty="0">
                <a:effectLst/>
                <a:latin typeface="-apple-system"/>
              </a:rPr>
              <a:t> activity. This is a quiet college town and the police frown on trouble.</a:t>
            </a:r>
          </a:p>
          <a:p>
            <a:pPr algn="just"/>
            <a:r>
              <a:rPr lang="en-US" altLang="zh-CN" sz="1400" b="1" i="0" dirty="0">
                <a:effectLst/>
                <a:latin typeface="-apple-system"/>
              </a:rPr>
              <a:t>Student</a:t>
            </a:r>
            <a:r>
              <a:rPr lang="en-US" altLang="zh-CN" sz="1400" b="0" i="0" dirty="0">
                <a:effectLst/>
                <a:latin typeface="-apple-system"/>
              </a:rPr>
              <a:t>  Oh no - don’ t misunderstand me! I certainly don’t want to be involved in an </a:t>
            </a:r>
            <a:r>
              <a:rPr lang="en-US" altLang="zh-CN" sz="1400" b="1" i="0" dirty="0">
                <a:effectLst/>
                <a:latin typeface="-apple-system"/>
              </a:rPr>
              <a:t>inappropriate</a:t>
            </a:r>
            <a:r>
              <a:rPr lang="en-US" altLang="zh-CN" sz="1400" b="0" i="0" dirty="0">
                <a:effectLst/>
                <a:latin typeface="-apple-system"/>
              </a:rPr>
              <a:t> activity.</a:t>
            </a:r>
          </a:p>
          <a:p>
            <a:pPr algn="just"/>
            <a:r>
              <a:rPr lang="en-US" altLang="zh-CN" sz="1400" b="1" i="0" dirty="0">
                <a:effectLst/>
                <a:latin typeface="-apple-system"/>
              </a:rPr>
              <a:t>College Employee</a:t>
            </a:r>
            <a:r>
              <a:rPr lang="en-US" altLang="zh-CN" sz="1400" b="0" i="0" dirty="0">
                <a:effectLst/>
                <a:latin typeface="-apple-system"/>
              </a:rPr>
              <a:t>  Of course...There’s...there’s a ski </a:t>
            </a:r>
            <a:r>
              <a:rPr lang="en-US" altLang="zh-CN" sz="1400" b="1" i="0" dirty="0">
                <a:effectLst/>
                <a:latin typeface="-apple-system"/>
              </a:rPr>
              <a:t>lodge</a:t>
            </a:r>
            <a:r>
              <a:rPr lang="en-US" altLang="zh-CN" sz="1400" b="0" i="0" dirty="0">
                <a:effectLst/>
                <a:latin typeface="-apple-system"/>
              </a:rPr>
              <a:t> in the next town where they play live music, and there are several restaurants downtown.</a:t>
            </a:r>
          </a:p>
          <a:p>
            <a:pPr algn="just"/>
            <a:r>
              <a:rPr lang="en-US" altLang="zh-CN" sz="1400" b="1" i="0" dirty="0">
                <a:effectLst/>
                <a:latin typeface="-apple-system"/>
              </a:rPr>
              <a:t>Student</a:t>
            </a:r>
            <a:r>
              <a:rPr lang="en-US" altLang="zh-CN" sz="1400" b="0" i="0" dirty="0">
                <a:effectLst/>
                <a:latin typeface="-apple-system"/>
              </a:rPr>
              <a:t>  I also need some information on room and board here at the college. I’ m trying to figure out if boarding is still </a:t>
            </a:r>
            <a:r>
              <a:rPr lang="en-US" altLang="zh-CN" sz="1400" b="1" i="0" dirty="0">
                <a:effectLst/>
                <a:latin typeface="-apple-system"/>
              </a:rPr>
              <a:t>affordable</a:t>
            </a:r>
            <a:r>
              <a:rPr lang="en-US" altLang="zh-CN" sz="1400" b="0" i="0" dirty="0">
                <a:effectLst/>
                <a:latin typeface="-apple-system"/>
              </a:rPr>
              <a:t> with the new fees that have been added on over the summer.</a:t>
            </a:r>
          </a:p>
          <a:p>
            <a:pPr algn="just"/>
            <a:r>
              <a:rPr lang="en-US" altLang="zh-CN" sz="1400" b="1" i="0" dirty="0">
                <a:effectLst/>
                <a:latin typeface="-apple-system"/>
              </a:rPr>
              <a:t>College Employee</a:t>
            </a:r>
            <a:r>
              <a:rPr lang="en-US" altLang="zh-CN" sz="1400" b="0" i="0" dirty="0">
                <a:effectLst/>
                <a:latin typeface="-apple-system"/>
              </a:rPr>
              <a:t>  I’m </a:t>
            </a:r>
            <a:r>
              <a:rPr lang="en-US" altLang="zh-CN" sz="1400" b="1" i="0" dirty="0">
                <a:effectLst/>
                <a:latin typeface="-apple-system"/>
              </a:rPr>
              <a:t>reluctant</a:t>
            </a:r>
            <a:r>
              <a:rPr lang="en-US" altLang="zh-CN" sz="1400" b="0" i="0" dirty="0">
                <a:effectLst/>
                <a:latin typeface="-apple-system"/>
              </a:rPr>
              <a:t> to quote numbers but I can get someone in the financial aid department to help you.</a:t>
            </a:r>
          </a:p>
          <a:p>
            <a:pPr algn="just"/>
            <a:r>
              <a:rPr lang="en-US" altLang="zh-CN" sz="1400" b="1" i="0" dirty="0">
                <a:effectLst/>
                <a:latin typeface="-apple-system"/>
              </a:rPr>
              <a:t>Student</a:t>
            </a:r>
            <a:r>
              <a:rPr lang="en-US" altLang="zh-CN" sz="1400" b="0" i="0" dirty="0">
                <a:effectLst/>
                <a:latin typeface="-apple-system"/>
              </a:rPr>
              <a:t>  I feel </a:t>
            </a:r>
            <a:r>
              <a:rPr lang="en-US" altLang="zh-CN" sz="1400" b="1" i="0" dirty="0">
                <a:effectLst/>
                <a:latin typeface="-apple-system"/>
              </a:rPr>
              <a:t>slightly</a:t>
            </a:r>
            <a:r>
              <a:rPr lang="en-US" altLang="zh-CN" sz="1400" b="0" i="0" dirty="0">
                <a:effectLst/>
                <a:latin typeface="-apple-system"/>
              </a:rPr>
              <a:t> better, but I’ll feel more comfortable after I see the total financial aid package, including scholarships. Whatever the case, this school has a lot of </a:t>
            </a:r>
            <a:r>
              <a:rPr lang="en-US" altLang="zh-CN" sz="1400" b="1" i="0" dirty="0">
                <a:effectLst/>
                <a:latin typeface="-apple-system"/>
              </a:rPr>
              <a:t>acclaim</a:t>
            </a:r>
            <a:r>
              <a:rPr lang="en-US" altLang="zh-CN" sz="1400" b="0" i="0" dirty="0">
                <a:effectLst/>
                <a:latin typeface="-apple-system"/>
              </a:rPr>
              <a:t> for its generous financial programs, so things should be fine. Oh, one last thing. Can you </a:t>
            </a:r>
            <a:r>
              <a:rPr lang="en-US" altLang="zh-CN" sz="1400" b="1" i="0" dirty="0">
                <a:effectLst/>
                <a:latin typeface="-apple-system"/>
              </a:rPr>
              <a:t>mark</a:t>
            </a:r>
            <a:r>
              <a:rPr lang="en-US" altLang="zh-CN" sz="1400" b="0" i="0" dirty="0">
                <a:effectLst/>
                <a:latin typeface="-apple-system"/>
              </a:rPr>
              <a:t> the location of the different available dorms and townhouses on my map for first years?</a:t>
            </a:r>
          </a:p>
          <a:p>
            <a:pPr algn="just"/>
            <a:r>
              <a:rPr lang="en-US" altLang="zh-CN" sz="1400" b="1" i="0" dirty="0">
                <a:effectLst/>
                <a:latin typeface="-apple-system"/>
              </a:rPr>
              <a:t>College Employee</a:t>
            </a:r>
            <a:r>
              <a:rPr lang="en-US" altLang="zh-CN" sz="1400" b="0" i="0" dirty="0">
                <a:effectLst/>
                <a:latin typeface="-apple-system"/>
              </a:rPr>
              <a:t>  Sure. If you’re </a:t>
            </a:r>
            <a:r>
              <a:rPr lang="en-US" altLang="zh-CN" sz="1400" b="1" i="0" dirty="0">
                <a:effectLst/>
                <a:latin typeface="-apple-system"/>
              </a:rPr>
              <a:t>nocturnal</a:t>
            </a:r>
            <a:r>
              <a:rPr lang="en-US" altLang="zh-CN" sz="1400" b="0" i="0" dirty="0">
                <a:effectLst/>
                <a:latin typeface="-apple-system"/>
              </a:rPr>
              <a:t>, there’s a 24-hour laundromat and soda shop on the northeast corner of campus. I’ll mark that for you, too.</a:t>
            </a:r>
          </a:p>
          <a:p>
            <a:pPr algn="just"/>
            <a:r>
              <a:rPr lang="en-US" altLang="zh-CN" sz="1400" b="1" i="0" dirty="0">
                <a:effectLst/>
                <a:latin typeface="-apple-system"/>
              </a:rPr>
              <a:t>Student</a:t>
            </a:r>
            <a:r>
              <a:rPr lang="en-US" altLang="zh-CN" sz="1400" b="0" i="0" dirty="0">
                <a:effectLst/>
                <a:latin typeface="-apple-system"/>
              </a:rPr>
              <a:t>  I’m </a:t>
            </a:r>
            <a:r>
              <a:rPr lang="en-US" altLang="zh-CN" sz="1400" b="1" i="0" dirty="0">
                <a:effectLst/>
                <a:latin typeface="-apple-system"/>
              </a:rPr>
              <a:t>originally</a:t>
            </a:r>
            <a:r>
              <a:rPr lang="en-US" altLang="zh-CN" sz="1400" b="0" i="0" dirty="0">
                <a:effectLst/>
                <a:latin typeface="-apple-system"/>
              </a:rPr>
              <a:t> from New York City , so I am used to staying up late.</a:t>
            </a:r>
          </a:p>
          <a:p>
            <a:pPr algn="just"/>
            <a:r>
              <a:rPr lang="en-US" altLang="zh-CN" sz="1400" b="1" i="0" dirty="0">
                <a:effectLst/>
                <a:latin typeface="-apple-system"/>
              </a:rPr>
              <a:t>College Employee </a:t>
            </a:r>
            <a:r>
              <a:rPr lang="en-US" altLang="zh-CN" sz="1400" b="0" i="0" dirty="0">
                <a:effectLst/>
                <a:latin typeface="-apple-system"/>
              </a:rPr>
              <a:t> If you choose to live off campus, it’s </a:t>
            </a:r>
            <a:r>
              <a:rPr lang="en-US" altLang="zh-CN" sz="1400" b="1" i="0" dirty="0">
                <a:effectLst/>
                <a:latin typeface="-apple-system"/>
              </a:rPr>
              <a:t>essential</a:t>
            </a:r>
            <a:r>
              <a:rPr lang="en-US" altLang="zh-CN" sz="1400" b="0" i="0" dirty="0">
                <a:effectLst/>
                <a:latin typeface="-apple-system"/>
              </a:rPr>
              <a:t> to get a lease.</a:t>
            </a:r>
          </a:p>
          <a:p>
            <a:pPr algn="just"/>
            <a:r>
              <a:rPr lang="en-US" altLang="zh-CN" sz="1400" b="1" i="0" dirty="0">
                <a:effectLst/>
                <a:latin typeface="-apple-system"/>
              </a:rPr>
              <a:t>Student</a:t>
            </a:r>
            <a:r>
              <a:rPr lang="en-US" altLang="zh-CN" sz="1400" b="0" i="0" dirty="0">
                <a:effectLst/>
                <a:latin typeface="-apple-system"/>
              </a:rPr>
              <a:t>  Heh, that won’t be a problem. My parents were very </a:t>
            </a:r>
            <a:r>
              <a:rPr lang="en-US" altLang="zh-CN" sz="1400" b="1" i="0" dirty="0">
                <a:effectLst/>
                <a:latin typeface="-apple-system"/>
              </a:rPr>
              <a:t>explicit</a:t>
            </a:r>
            <a:r>
              <a:rPr lang="en-US" altLang="zh-CN" sz="1400" b="0" i="0" dirty="0">
                <a:effectLst/>
                <a:latin typeface="-apple-system"/>
              </a:rPr>
              <a:t> on that point, but thank you for reminding me.</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1" y="779412"/>
            <a:ext cx="5021302" cy="4708981"/>
          </a:xfrm>
          <a:prstGeom prst="rect">
            <a:avLst/>
          </a:prstGeom>
          <a:noFill/>
        </p:spPr>
        <p:txBody>
          <a:bodyPr wrap="square" rtlCol="0">
            <a:spAutoFit/>
          </a:bodyPr>
          <a:lstStyle/>
          <a:p>
            <a:r>
              <a:rPr lang="en-US" altLang="zh-CN" sz="2000" b="0" i="0" dirty="0">
                <a:effectLst/>
                <a:latin typeface="-apple-system"/>
              </a:rPr>
              <a:t>entertainment		</a:t>
            </a:r>
            <a:r>
              <a:rPr lang="en-US" altLang="zh-CN" sz="2000" b="0" i="0" dirty="0">
                <a:solidFill>
                  <a:srgbClr val="F35C70"/>
                </a:solidFill>
                <a:effectLst/>
                <a:latin typeface="-apple-system"/>
              </a:rPr>
              <a:t>amusement</a:t>
            </a:r>
          </a:p>
          <a:p>
            <a:r>
              <a:rPr lang="en-US" altLang="zh-CN" sz="2000" b="0" i="0" dirty="0">
                <a:effectLst/>
                <a:latin typeface="-apple-system"/>
              </a:rPr>
              <a:t>Limited			</a:t>
            </a:r>
            <a:r>
              <a:rPr lang="en-US" altLang="zh-CN" sz="2000" b="0" i="0" dirty="0">
                <a:solidFill>
                  <a:srgbClr val="F35C70"/>
                </a:solidFill>
                <a:effectLst/>
                <a:latin typeface="-apple-system"/>
              </a:rPr>
              <a:t>restricted</a:t>
            </a:r>
          </a:p>
          <a:p>
            <a:r>
              <a:rPr lang="en-US" altLang="zh-CN" sz="2000" b="0" i="0" dirty="0">
                <a:effectLst/>
                <a:latin typeface="-apple-system"/>
              </a:rPr>
              <a:t>Locale</a:t>
            </a:r>
            <a:r>
              <a:rPr lang="en-US" altLang="zh-CN" sz="2000" dirty="0">
                <a:solidFill>
                  <a:srgbClr val="F35C70"/>
                </a:solidFill>
                <a:latin typeface="-apple-system"/>
              </a:rPr>
              <a:t>			</a:t>
            </a:r>
            <a:r>
              <a:rPr lang="en-US" altLang="zh-CN" sz="2000" b="0" i="0" dirty="0">
                <a:solidFill>
                  <a:srgbClr val="F35C70"/>
                </a:solidFill>
                <a:effectLst/>
                <a:latin typeface="-apple-system"/>
              </a:rPr>
              <a:t>area</a:t>
            </a:r>
            <a:endParaRPr lang="en-US" altLang="zh-CN" sz="2000" dirty="0">
              <a:solidFill>
                <a:srgbClr val="F35C70"/>
              </a:solidFill>
              <a:latin typeface="-apple-system"/>
            </a:endParaRPr>
          </a:p>
          <a:p>
            <a:r>
              <a:rPr lang="en-US" altLang="zh-CN" sz="2000" b="0" i="0" dirty="0">
                <a:effectLst/>
                <a:latin typeface="-apple-system"/>
              </a:rPr>
              <a:t>Illicit			</a:t>
            </a:r>
            <a:r>
              <a:rPr lang="en-US" altLang="zh-CN" sz="2000" b="0" i="0" dirty="0">
                <a:solidFill>
                  <a:srgbClr val="F35C70"/>
                </a:solidFill>
                <a:effectLst/>
                <a:latin typeface="-apple-system"/>
              </a:rPr>
              <a:t>prohibited</a:t>
            </a:r>
          </a:p>
          <a:p>
            <a:r>
              <a:rPr lang="en-US" altLang="zh-CN" sz="2000" b="0" i="0" dirty="0">
                <a:effectLst/>
                <a:latin typeface="-apple-system"/>
              </a:rPr>
              <a:t>Inappropriate</a:t>
            </a:r>
            <a:r>
              <a:rPr lang="en-US" altLang="zh-CN" sz="2000" dirty="0">
                <a:solidFill>
                  <a:srgbClr val="F35C70"/>
                </a:solidFill>
                <a:latin typeface="-apple-system"/>
              </a:rPr>
              <a:t>		</a:t>
            </a:r>
            <a:r>
              <a:rPr lang="en-US" altLang="zh-CN" sz="2000" b="0" i="0" dirty="0">
                <a:solidFill>
                  <a:srgbClr val="F35C70"/>
                </a:solidFill>
                <a:effectLst/>
                <a:latin typeface="-apple-system"/>
              </a:rPr>
              <a:t>improper</a:t>
            </a:r>
          </a:p>
          <a:p>
            <a:r>
              <a:rPr lang="en-US" altLang="zh-CN" sz="2000" b="0" i="0" dirty="0">
                <a:effectLst/>
                <a:latin typeface="-apple-system"/>
              </a:rPr>
              <a:t>Lodge</a:t>
            </a:r>
            <a:r>
              <a:rPr lang="en-US" altLang="zh-CN" sz="2000" dirty="0">
                <a:solidFill>
                  <a:srgbClr val="F35C70"/>
                </a:solidFill>
                <a:latin typeface="-apple-system"/>
              </a:rPr>
              <a:t>			</a:t>
            </a:r>
            <a:r>
              <a:rPr lang="en-US" altLang="zh-CN" sz="2000" b="0" i="0" dirty="0">
                <a:solidFill>
                  <a:srgbClr val="F35C70"/>
                </a:solidFill>
                <a:effectLst/>
                <a:latin typeface="-apple-system"/>
              </a:rPr>
              <a:t>cabin</a:t>
            </a:r>
            <a:endParaRPr lang="en-US" altLang="zh-CN" sz="2000" dirty="0">
              <a:solidFill>
                <a:srgbClr val="F35C70"/>
              </a:solidFill>
              <a:latin typeface="-apple-system"/>
            </a:endParaRPr>
          </a:p>
          <a:p>
            <a:r>
              <a:rPr lang="en-US" altLang="zh-CN" sz="2000" b="0" i="0" dirty="0">
                <a:effectLst/>
                <a:latin typeface="-apple-system"/>
              </a:rPr>
              <a:t>Affordable</a:t>
            </a:r>
            <a:r>
              <a:rPr lang="en-US" altLang="zh-CN" sz="2000" b="0" i="0" dirty="0">
                <a:solidFill>
                  <a:srgbClr val="F35C70"/>
                </a:solidFill>
                <a:effectLst/>
                <a:latin typeface="-apple-system"/>
              </a:rPr>
              <a:t>		inexpensive</a:t>
            </a:r>
          </a:p>
          <a:p>
            <a:r>
              <a:rPr lang="en-US" altLang="zh-CN" sz="2000" b="0" i="0" dirty="0">
                <a:effectLst/>
                <a:latin typeface="-apple-system"/>
              </a:rPr>
              <a:t>Reluctant</a:t>
            </a:r>
            <a:r>
              <a:rPr lang="en-US" altLang="zh-CN" sz="2000" dirty="0">
                <a:solidFill>
                  <a:srgbClr val="F35C70"/>
                </a:solidFill>
                <a:latin typeface="-apple-system"/>
              </a:rPr>
              <a:t>		</a:t>
            </a:r>
            <a:r>
              <a:rPr lang="en-US" altLang="zh-CN" sz="2000" b="0" i="0" dirty="0">
                <a:solidFill>
                  <a:srgbClr val="F35C70"/>
                </a:solidFill>
                <a:effectLst/>
                <a:latin typeface="-apple-system"/>
              </a:rPr>
              <a:t>hesitant</a:t>
            </a:r>
            <a:endParaRPr lang="en-US" altLang="zh-CN" sz="2000" dirty="0">
              <a:solidFill>
                <a:srgbClr val="F35C70"/>
              </a:solidFill>
              <a:latin typeface="-apple-system"/>
            </a:endParaRPr>
          </a:p>
          <a:p>
            <a:r>
              <a:rPr lang="en-US" altLang="zh-CN" sz="2000" b="0" i="0" dirty="0">
                <a:effectLst/>
                <a:latin typeface="-apple-system"/>
              </a:rPr>
              <a:t>Slightly</a:t>
            </a:r>
            <a:r>
              <a:rPr lang="en-US" altLang="zh-CN" sz="2000" b="0" i="0" dirty="0">
                <a:solidFill>
                  <a:srgbClr val="F35C70"/>
                </a:solidFill>
                <a:effectLst/>
                <a:latin typeface="-apple-system"/>
              </a:rPr>
              <a:t>			somewhat</a:t>
            </a:r>
          </a:p>
          <a:p>
            <a:r>
              <a:rPr lang="en-US" altLang="zh-CN" sz="2000" b="0" i="0" dirty="0">
                <a:effectLst/>
                <a:latin typeface="-apple-system"/>
              </a:rPr>
              <a:t>Acclaim</a:t>
            </a:r>
            <a:r>
              <a:rPr lang="en-US" altLang="zh-CN" sz="2000" dirty="0">
                <a:solidFill>
                  <a:srgbClr val="F35C70"/>
                </a:solidFill>
                <a:latin typeface="-apple-system"/>
              </a:rPr>
              <a:t>			</a:t>
            </a:r>
            <a:r>
              <a:rPr lang="en-US" altLang="zh-CN" sz="2000" b="0" i="0" dirty="0">
                <a:solidFill>
                  <a:srgbClr val="F35C70"/>
                </a:solidFill>
                <a:effectLst/>
                <a:latin typeface="-apple-system"/>
              </a:rPr>
              <a:t>fame</a:t>
            </a:r>
            <a:endParaRPr lang="en-US" altLang="zh-CN" sz="2000" dirty="0">
              <a:solidFill>
                <a:srgbClr val="F35C70"/>
              </a:solidFill>
              <a:latin typeface="-apple-system"/>
            </a:endParaRPr>
          </a:p>
          <a:p>
            <a:r>
              <a:rPr lang="en-US" altLang="zh-CN" sz="2000" b="0" i="0" dirty="0">
                <a:effectLst/>
                <a:latin typeface="-apple-system"/>
              </a:rPr>
              <a:t>Mark</a:t>
            </a:r>
            <a:r>
              <a:rPr lang="en-US" altLang="zh-CN" sz="2000" b="0" i="0" dirty="0">
                <a:solidFill>
                  <a:srgbClr val="F35C70"/>
                </a:solidFill>
                <a:effectLst/>
                <a:latin typeface="-apple-system"/>
              </a:rPr>
              <a:t>			indicate</a:t>
            </a:r>
          </a:p>
          <a:p>
            <a:r>
              <a:rPr lang="en-US" altLang="zh-CN" sz="2000" b="0" i="0" dirty="0">
                <a:effectLst/>
                <a:latin typeface="-apple-system"/>
              </a:rPr>
              <a:t>Nocturnal</a:t>
            </a:r>
            <a:r>
              <a:rPr lang="en-US" altLang="zh-CN" sz="2000" dirty="0">
                <a:solidFill>
                  <a:srgbClr val="F35C70"/>
                </a:solidFill>
                <a:latin typeface="-apple-system"/>
              </a:rPr>
              <a:t>		</a:t>
            </a:r>
            <a:r>
              <a:rPr lang="en-US" altLang="zh-CN" sz="2000" b="0" i="0" dirty="0">
                <a:solidFill>
                  <a:srgbClr val="F35C70"/>
                </a:solidFill>
                <a:effectLst/>
                <a:latin typeface="-apple-system"/>
              </a:rPr>
              <a:t>night</a:t>
            </a:r>
            <a:endParaRPr lang="en-US" altLang="zh-CN" sz="2000" dirty="0">
              <a:solidFill>
                <a:srgbClr val="F35C70"/>
              </a:solidFill>
              <a:latin typeface="-apple-system"/>
            </a:endParaRPr>
          </a:p>
          <a:p>
            <a:r>
              <a:rPr lang="en-US" altLang="zh-CN" sz="2000" b="0" i="0" dirty="0">
                <a:effectLst/>
                <a:latin typeface="-apple-system"/>
              </a:rPr>
              <a:t>Originally</a:t>
            </a:r>
            <a:r>
              <a:rPr lang="en-US" altLang="zh-CN" sz="2000" b="0" i="0" dirty="0">
                <a:solidFill>
                  <a:srgbClr val="F35C70"/>
                </a:solidFill>
                <a:effectLst/>
                <a:latin typeface="-apple-system"/>
              </a:rPr>
              <a:t>		formerly</a:t>
            </a:r>
          </a:p>
          <a:p>
            <a:r>
              <a:rPr lang="en-US" altLang="zh-CN" sz="2000" b="0" i="0" dirty="0">
                <a:effectLst/>
                <a:latin typeface="-apple-system"/>
              </a:rPr>
              <a:t>Essential</a:t>
            </a:r>
            <a:r>
              <a:rPr lang="en-US" altLang="zh-CN" sz="2000" dirty="0">
                <a:solidFill>
                  <a:srgbClr val="F35C70"/>
                </a:solidFill>
                <a:latin typeface="-apple-system"/>
              </a:rPr>
              <a:t>			</a:t>
            </a:r>
            <a:r>
              <a:rPr lang="en-US" altLang="zh-CN" sz="2000" b="0" i="0" dirty="0">
                <a:solidFill>
                  <a:srgbClr val="F35C70"/>
                </a:solidFill>
                <a:effectLst/>
                <a:latin typeface="-apple-system"/>
              </a:rPr>
              <a:t>crucial</a:t>
            </a:r>
            <a:endParaRPr lang="en-US" altLang="zh-CN" sz="2000" dirty="0">
              <a:solidFill>
                <a:srgbClr val="F35C70"/>
              </a:solidFill>
              <a:latin typeface="-apple-system"/>
            </a:endParaRPr>
          </a:p>
          <a:p>
            <a:r>
              <a:rPr lang="en-US" altLang="zh-CN" sz="2000" b="0" i="0" dirty="0">
                <a:effectLst/>
                <a:latin typeface="-apple-system"/>
              </a:rPr>
              <a:t>Explicit</a:t>
            </a:r>
            <a:r>
              <a:rPr lang="en-US" altLang="zh-CN" sz="2000" b="0" i="0" dirty="0">
                <a:solidFill>
                  <a:srgbClr val="F35C70"/>
                </a:solidFill>
                <a:effectLst/>
                <a:latin typeface="-apple-system"/>
              </a:rPr>
              <a:t>		</a:t>
            </a:r>
            <a:r>
              <a:rPr lang="en-US" altLang="zh-CN" sz="2000" dirty="0">
                <a:solidFill>
                  <a:srgbClr val="F35C70"/>
                </a:solidFill>
                <a:latin typeface="-apple-system"/>
              </a:rPr>
              <a:t>	clear</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5A</a:t>
            </a:r>
            <a:endParaRPr lang="zh-CN" altLang="en-US" dirty="0"/>
          </a:p>
        </p:txBody>
      </p:sp>
    </p:spTree>
    <p:extLst>
      <p:ext uri="{BB962C8B-B14F-4D97-AF65-F5344CB8AC3E}">
        <p14:creationId xmlns:p14="http://schemas.microsoft.com/office/powerpoint/2010/main" val="820900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5958739" cy="6340197"/>
          </a:xfrm>
          <a:prstGeom prst="rect">
            <a:avLst/>
          </a:prstGeom>
          <a:noFill/>
        </p:spPr>
        <p:txBody>
          <a:bodyPr wrap="square" rtlCol="0">
            <a:spAutoFit/>
          </a:bodyPr>
          <a:lstStyle/>
          <a:p>
            <a:pPr algn="just"/>
            <a:r>
              <a:rPr lang="en-US" altLang="zh-CN" sz="1400" b="1" i="0" dirty="0">
                <a:effectLst/>
                <a:latin typeface="-apple-system"/>
              </a:rPr>
              <a:t>Student</a:t>
            </a:r>
            <a:r>
              <a:rPr lang="en-US" altLang="zh-CN" sz="1400" b="0" i="0" dirty="0">
                <a:effectLst/>
                <a:latin typeface="-apple-system"/>
              </a:rPr>
              <a:t>  I plan to live on campus. What do the students around here do in the way of </a:t>
            </a:r>
            <a:r>
              <a:rPr lang="en-US" altLang="zh-CN" sz="1400" b="1" i="0" dirty="0">
                <a:effectLst/>
                <a:latin typeface="-apple-system"/>
              </a:rPr>
              <a:t>entertainment</a:t>
            </a:r>
            <a:r>
              <a:rPr lang="en-US" altLang="zh-CN" sz="1400" b="0" i="0" dirty="0">
                <a:effectLst/>
                <a:latin typeface="-apple-system"/>
              </a:rPr>
              <a:t> ?</a:t>
            </a:r>
          </a:p>
          <a:p>
            <a:pPr algn="just"/>
            <a:r>
              <a:rPr lang="en-US" altLang="zh-CN" sz="1400" b="1" i="0" dirty="0">
                <a:effectLst/>
                <a:latin typeface="-apple-system"/>
              </a:rPr>
              <a:t>College Employee</a:t>
            </a:r>
            <a:r>
              <a:rPr lang="en-US" altLang="zh-CN" sz="1400" b="0" i="0" dirty="0">
                <a:effectLst/>
                <a:latin typeface="-apple-system"/>
              </a:rPr>
              <a:t>  Since this college is in a rural area, so your options are </a:t>
            </a:r>
            <a:r>
              <a:rPr lang="en-US" altLang="zh-CN" sz="1400" b="1" i="0" dirty="0">
                <a:effectLst/>
                <a:latin typeface="-apple-system"/>
              </a:rPr>
              <a:t>limited</a:t>
            </a:r>
            <a:r>
              <a:rPr lang="en-US" altLang="zh-CN" sz="1400" b="0" i="0" dirty="0">
                <a:effectLst/>
                <a:latin typeface="-apple-system"/>
              </a:rPr>
              <a:t> to the entertainment offered on campus.</a:t>
            </a:r>
          </a:p>
          <a:p>
            <a:pPr algn="just"/>
            <a:r>
              <a:rPr lang="en-US" altLang="zh-CN" sz="1400" b="1" i="0" dirty="0">
                <a:effectLst/>
                <a:latin typeface="-apple-system"/>
              </a:rPr>
              <a:t>Student</a:t>
            </a:r>
            <a:r>
              <a:rPr lang="en-US" altLang="zh-CN" sz="1400" b="0" i="0" dirty="0">
                <a:effectLst/>
                <a:latin typeface="-apple-system"/>
              </a:rPr>
              <a:t>  OK, but how about something beyond the general </a:t>
            </a:r>
            <a:r>
              <a:rPr lang="en-US" altLang="zh-CN" sz="1400" b="1" i="0" dirty="0">
                <a:effectLst/>
                <a:latin typeface="-apple-system"/>
              </a:rPr>
              <a:t>locale</a:t>
            </a:r>
            <a:r>
              <a:rPr lang="en-US" altLang="zh-CN" sz="1400" b="0" i="0" dirty="0">
                <a:effectLst/>
                <a:latin typeface="-apple-system"/>
              </a:rPr>
              <a:t> ? I have a car, so transportation is not a problem.</a:t>
            </a:r>
          </a:p>
          <a:p>
            <a:pPr algn="just"/>
            <a:r>
              <a:rPr lang="en-US" altLang="zh-CN" sz="1400" b="1" i="0" dirty="0">
                <a:effectLst/>
                <a:latin typeface="-apple-system"/>
              </a:rPr>
              <a:t>College Employee</a:t>
            </a:r>
            <a:r>
              <a:rPr lang="en-US" altLang="zh-CN" sz="1400" b="0" i="0" dirty="0">
                <a:effectLst/>
                <a:latin typeface="-apple-system"/>
              </a:rPr>
              <a:t>  There is town 30 miles away, but I must warn you to steer clear of any </a:t>
            </a:r>
            <a:r>
              <a:rPr lang="en-US" altLang="zh-CN" sz="1400" b="1" i="0" dirty="0">
                <a:effectLst/>
                <a:latin typeface="-apple-system"/>
              </a:rPr>
              <a:t>illicit</a:t>
            </a:r>
            <a:r>
              <a:rPr lang="en-US" altLang="zh-CN" sz="1400" b="0" i="0" dirty="0">
                <a:effectLst/>
                <a:latin typeface="-apple-system"/>
              </a:rPr>
              <a:t> activity. This is a quiet college town and the police frown on trouble.</a:t>
            </a:r>
          </a:p>
          <a:p>
            <a:pPr algn="just"/>
            <a:r>
              <a:rPr lang="en-US" altLang="zh-CN" sz="1400" b="1" i="0" dirty="0">
                <a:effectLst/>
                <a:latin typeface="-apple-system"/>
              </a:rPr>
              <a:t>Student</a:t>
            </a:r>
            <a:r>
              <a:rPr lang="en-US" altLang="zh-CN" sz="1400" b="0" i="0" dirty="0">
                <a:effectLst/>
                <a:latin typeface="-apple-system"/>
              </a:rPr>
              <a:t>  Oh no - don’ t misunderstand me! I certainly don’t want to be involved in an </a:t>
            </a:r>
            <a:r>
              <a:rPr lang="en-US" altLang="zh-CN" sz="1400" b="1" i="0" dirty="0">
                <a:effectLst/>
                <a:latin typeface="-apple-system"/>
              </a:rPr>
              <a:t>inappropriate</a:t>
            </a:r>
            <a:r>
              <a:rPr lang="en-US" altLang="zh-CN" sz="1400" b="0" i="0" dirty="0">
                <a:effectLst/>
                <a:latin typeface="-apple-system"/>
              </a:rPr>
              <a:t> activity.</a:t>
            </a:r>
          </a:p>
          <a:p>
            <a:pPr algn="just"/>
            <a:r>
              <a:rPr lang="en-US" altLang="zh-CN" sz="1400" b="1" i="0" dirty="0">
                <a:effectLst/>
                <a:latin typeface="-apple-system"/>
              </a:rPr>
              <a:t>College Employee</a:t>
            </a:r>
            <a:r>
              <a:rPr lang="en-US" altLang="zh-CN" sz="1400" b="0" i="0" dirty="0">
                <a:effectLst/>
                <a:latin typeface="-apple-system"/>
              </a:rPr>
              <a:t>  Of course...There’s...there’s a ski </a:t>
            </a:r>
            <a:r>
              <a:rPr lang="en-US" altLang="zh-CN" sz="1400" b="1" i="0" dirty="0">
                <a:effectLst/>
                <a:latin typeface="-apple-system"/>
              </a:rPr>
              <a:t>lodge</a:t>
            </a:r>
            <a:r>
              <a:rPr lang="en-US" altLang="zh-CN" sz="1400" b="0" i="0" dirty="0">
                <a:effectLst/>
                <a:latin typeface="-apple-system"/>
              </a:rPr>
              <a:t> in the next town where they play live music, and there are several restaurants downtown.</a:t>
            </a:r>
          </a:p>
          <a:p>
            <a:pPr algn="just"/>
            <a:r>
              <a:rPr lang="en-US" altLang="zh-CN" sz="1400" b="1" i="0" dirty="0">
                <a:effectLst/>
                <a:latin typeface="-apple-system"/>
              </a:rPr>
              <a:t>Student</a:t>
            </a:r>
            <a:r>
              <a:rPr lang="en-US" altLang="zh-CN" sz="1400" b="0" i="0" dirty="0">
                <a:effectLst/>
                <a:latin typeface="-apple-system"/>
              </a:rPr>
              <a:t>  I also need some information on room and board here at the college. I’ m trying to figure out if boarding is still </a:t>
            </a:r>
            <a:r>
              <a:rPr lang="en-US" altLang="zh-CN" sz="1400" b="1" i="0" dirty="0">
                <a:effectLst/>
                <a:latin typeface="-apple-system"/>
              </a:rPr>
              <a:t>affordable</a:t>
            </a:r>
            <a:r>
              <a:rPr lang="en-US" altLang="zh-CN" sz="1400" b="0" i="0" dirty="0">
                <a:effectLst/>
                <a:latin typeface="-apple-system"/>
              </a:rPr>
              <a:t> with the new fees that have been added on over the summer.</a:t>
            </a:r>
          </a:p>
          <a:p>
            <a:pPr algn="just"/>
            <a:r>
              <a:rPr lang="en-US" altLang="zh-CN" sz="1400" b="1" i="0" dirty="0">
                <a:effectLst/>
                <a:latin typeface="-apple-system"/>
              </a:rPr>
              <a:t>College Employee</a:t>
            </a:r>
            <a:r>
              <a:rPr lang="en-US" altLang="zh-CN" sz="1400" b="0" i="0" dirty="0">
                <a:effectLst/>
                <a:latin typeface="-apple-system"/>
              </a:rPr>
              <a:t>  I’m </a:t>
            </a:r>
            <a:r>
              <a:rPr lang="en-US" altLang="zh-CN" sz="1400" b="1" i="0" dirty="0">
                <a:effectLst/>
                <a:latin typeface="-apple-system"/>
              </a:rPr>
              <a:t>reluctant</a:t>
            </a:r>
            <a:r>
              <a:rPr lang="en-US" altLang="zh-CN" sz="1400" b="0" i="0" dirty="0">
                <a:effectLst/>
                <a:latin typeface="-apple-system"/>
              </a:rPr>
              <a:t> to quote numbers but I can get someone in the financial aid department to help you.</a:t>
            </a:r>
          </a:p>
          <a:p>
            <a:pPr algn="just"/>
            <a:r>
              <a:rPr lang="en-US" altLang="zh-CN" sz="1400" b="1" i="0" dirty="0">
                <a:effectLst/>
                <a:latin typeface="-apple-system"/>
              </a:rPr>
              <a:t>Student</a:t>
            </a:r>
            <a:r>
              <a:rPr lang="en-US" altLang="zh-CN" sz="1400" b="0" i="0" dirty="0">
                <a:effectLst/>
                <a:latin typeface="-apple-system"/>
              </a:rPr>
              <a:t>  I feel </a:t>
            </a:r>
            <a:r>
              <a:rPr lang="en-US" altLang="zh-CN" sz="1400" b="1" i="0" dirty="0">
                <a:effectLst/>
                <a:latin typeface="-apple-system"/>
              </a:rPr>
              <a:t>slightly</a:t>
            </a:r>
            <a:r>
              <a:rPr lang="en-US" altLang="zh-CN" sz="1400" b="0" i="0" dirty="0">
                <a:effectLst/>
                <a:latin typeface="-apple-system"/>
              </a:rPr>
              <a:t> better, but I’ll feel more comfortable after I see the total financial aid package, including scholarships. Whatever the case, this school has a lot of </a:t>
            </a:r>
            <a:r>
              <a:rPr lang="en-US" altLang="zh-CN" sz="1400" b="1" i="0" dirty="0">
                <a:effectLst/>
                <a:latin typeface="-apple-system"/>
              </a:rPr>
              <a:t>acclaim</a:t>
            </a:r>
            <a:r>
              <a:rPr lang="en-US" altLang="zh-CN" sz="1400" b="0" i="0" dirty="0">
                <a:effectLst/>
                <a:latin typeface="-apple-system"/>
              </a:rPr>
              <a:t> for its generous financial programs, so things should be fine. Oh, one last thing. Can you </a:t>
            </a:r>
            <a:r>
              <a:rPr lang="en-US" altLang="zh-CN" sz="1400" b="1" i="0" dirty="0">
                <a:effectLst/>
                <a:latin typeface="-apple-system"/>
              </a:rPr>
              <a:t>mark</a:t>
            </a:r>
            <a:r>
              <a:rPr lang="en-US" altLang="zh-CN" sz="1400" b="0" i="0" dirty="0">
                <a:effectLst/>
                <a:latin typeface="-apple-system"/>
              </a:rPr>
              <a:t> the location of the different available dorms and townhouses on my map for first years?</a:t>
            </a:r>
          </a:p>
          <a:p>
            <a:pPr algn="just"/>
            <a:r>
              <a:rPr lang="en-US" altLang="zh-CN" sz="1400" b="1" i="0" dirty="0">
                <a:effectLst/>
                <a:latin typeface="-apple-system"/>
              </a:rPr>
              <a:t>College Employee</a:t>
            </a:r>
            <a:r>
              <a:rPr lang="en-US" altLang="zh-CN" sz="1400" b="0" i="0" dirty="0">
                <a:effectLst/>
                <a:latin typeface="-apple-system"/>
              </a:rPr>
              <a:t>  Sure. If you’re </a:t>
            </a:r>
            <a:r>
              <a:rPr lang="en-US" altLang="zh-CN" sz="1400" b="1" i="0" dirty="0">
                <a:effectLst/>
                <a:latin typeface="-apple-system"/>
              </a:rPr>
              <a:t>nocturnal</a:t>
            </a:r>
            <a:r>
              <a:rPr lang="en-US" altLang="zh-CN" sz="1400" b="0" i="0" dirty="0">
                <a:effectLst/>
                <a:latin typeface="-apple-system"/>
              </a:rPr>
              <a:t>, there’s a 24-hour laundromat and soda shop on the northeast corner of campus. I’ll mark that for you, too.</a:t>
            </a:r>
          </a:p>
          <a:p>
            <a:pPr algn="just"/>
            <a:r>
              <a:rPr lang="en-US" altLang="zh-CN" sz="1400" b="1" i="0" dirty="0">
                <a:effectLst/>
                <a:latin typeface="-apple-system"/>
              </a:rPr>
              <a:t>Student</a:t>
            </a:r>
            <a:r>
              <a:rPr lang="en-US" altLang="zh-CN" sz="1400" b="0" i="0" dirty="0">
                <a:effectLst/>
                <a:latin typeface="-apple-system"/>
              </a:rPr>
              <a:t>  I’m </a:t>
            </a:r>
            <a:r>
              <a:rPr lang="en-US" altLang="zh-CN" sz="1400" b="1" i="0" dirty="0">
                <a:effectLst/>
                <a:latin typeface="-apple-system"/>
              </a:rPr>
              <a:t>originally</a:t>
            </a:r>
            <a:r>
              <a:rPr lang="en-US" altLang="zh-CN" sz="1400" b="0" i="0" dirty="0">
                <a:effectLst/>
                <a:latin typeface="-apple-system"/>
              </a:rPr>
              <a:t> from New York City , so I am used to staying up late.</a:t>
            </a:r>
          </a:p>
          <a:p>
            <a:pPr algn="just"/>
            <a:r>
              <a:rPr lang="en-US" altLang="zh-CN" sz="1400" b="1" i="0" dirty="0">
                <a:effectLst/>
                <a:latin typeface="-apple-system"/>
              </a:rPr>
              <a:t>College Employee </a:t>
            </a:r>
            <a:r>
              <a:rPr lang="en-US" altLang="zh-CN" sz="1400" b="0" i="0" dirty="0">
                <a:effectLst/>
                <a:latin typeface="-apple-system"/>
              </a:rPr>
              <a:t> If you choose to live off campus, it’s </a:t>
            </a:r>
            <a:r>
              <a:rPr lang="en-US" altLang="zh-CN" sz="1400" b="1" i="0" dirty="0">
                <a:effectLst/>
                <a:latin typeface="-apple-system"/>
              </a:rPr>
              <a:t>essential</a:t>
            </a:r>
            <a:r>
              <a:rPr lang="en-US" altLang="zh-CN" sz="1400" b="0" i="0" dirty="0">
                <a:effectLst/>
                <a:latin typeface="-apple-system"/>
              </a:rPr>
              <a:t> to get a lease.</a:t>
            </a:r>
          </a:p>
          <a:p>
            <a:pPr algn="just"/>
            <a:r>
              <a:rPr lang="en-US" altLang="zh-CN" sz="1400" b="1" i="0" dirty="0">
                <a:effectLst/>
                <a:latin typeface="-apple-system"/>
              </a:rPr>
              <a:t>Student</a:t>
            </a:r>
            <a:r>
              <a:rPr lang="en-US" altLang="zh-CN" sz="1400" b="0" i="0" dirty="0">
                <a:effectLst/>
                <a:latin typeface="-apple-system"/>
              </a:rPr>
              <a:t>  Heh, that won’t be a problem. My parents were very </a:t>
            </a:r>
            <a:r>
              <a:rPr lang="en-US" altLang="zh-CN" sz="1400" b="1" i="0" dirty="0">
                <a:effectLst/>
                <a:latin typeface="-apple-system"/>
              </a:rPr>
              <a:t>explicit</a:t>
            </a:r>
            <a:r>
              <a:rPr lang="en-US" altLang="zh-CN" sz="1400" b="0" i="0" dirty="0">
                <a:effectLst/>
                <a:latin typeface="-apple-system"/>
              </a:rPr>
              <a:t> on that point, but thank you for reminding me.</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0" y="779412"/>
            <a:ext cx="4831417" cy="4708981"/>
          </a:xfrm>
          <a:prstGeom prst="rect">
            <a:avLst/>
          </a:prstGeom>
          <a:noFill/>
        </p:spPr>
        <p:txBody>
          <a:bodyPr wrap="square" rtlCol="0">
            <a:spAutoFit/>
          </a:bodyPr>
          <a:lstStyle/>
          <a:p>
            <a:r>
              <a:rPr lang="en-US" altLang="zh-CN" sz="2000" b="0" i="0" dirty="0">
                <a:effectLst/>
                <a:latin typeface="-apple-system"/>
              </a:rPr>
              <a:t>entertainment	</a:t>
            </a:r>
            <a:r>
              <a:rPr lang="zh-CN" altLang="en-US" sz="2000" dirty="0">
                <a:latin typeface="-apple-system"/>
              </a:rPr>
              <a:t>娱乐</a:t>
            </a:r>
            <a:r>
              <a:rPr lang="en-US" altLang="zh-CN" sz="2000" b="0" i="0" dirty="0">
                <a:effectLst/>
                <a:latin typeface="-apple-system"/>
              </a:rPr>
              <a:t>	</a:t>
            </a:r>
            <a:r>
              <a:rPr lang="en-US" altLang="zh-CN" sz="2000" b="0" i="0" dirty="0">
                <a:solidFill>
                  <a:srgbClr val="F35C70"/>
                </a:solidFill>
                <a:effectLst/>
                <a:latin typeface="-apple-system"/>
              </a:rPr>
              <a:t>amusement</a:t>
            </a:r>
          </a:p>
          <a:p>
            <a:r>
              <a:rPr lang="en-US" altLang="zh-CN" sz="2000" b="0" i="0" dirty="0">
                <a:effectLst/>
                <a:latin typeface="-apple-system"/>
              </a:rPr>
              <a:t>Limited		</a:t>
            </a:r>
            <a:r>
              <a:rPr lang="zh-CN" altLang="en-US" sz="2000" dirty="0">
                <a:latin typeface="-apple-system"/>
              </a:rPr>
              <a:t>限制</a:t>
            </a:r>
            <a:r>
              <a:rPr lang="en-US" altLang="zh-CN" sz="2000" b="0" i="0" dirty="0">
                <a:effectLst/>
                <a:latin typeface="-apple-system"/>
              </a:rPr>
              <a:t>	</a:t>
            </a:r>
            <a:r>
              <a:rPr lang="en-US" altLang="zh-CN" sz="2000" b="0" i="0" dirty="0">
                <a:solidFill>
                  <a:srgbClr val="F35C70"/>
                </a:solidFill>
                <a:effectLst/>
                <a:latin typeface="-apple-system"/>
              </a:rPr>
              <a:t>restricted</a:t>
            </a:r>
          </a:p>
          <a:p>
            <a:r>
              <a:rPr lang="en-US" altLang="zh-CN" sz="2000" b="0" i="0" dirty="0">
                <a:effectLst/>
                <a:latin typeface="-apple-system"/>
              </a:rPr>
              <a:t>Locale</a:t>
            </a:r>
            <a:r>
              <a:rPr lang="en-US" altLang="zh-CN" sz="2000" dirty="0">
                <a:solidFill>
                  <a:srgbClr val="F35C70"/>
                </a:solidFill>
                <a:latin typeface="-apple-system"/>
              </a:rPr>
              <a:t>		</a:t>
            </a:r>
            <a:r>
              <a:rPr lang="zh-CN" altLang="en-US" sz="2000" dirty="0">
                <a:latin typeface="-apple-system"/>
              </a:rPr>
              <a:t>区域</a:t>
            </a:r>
            <a:r>
              <a:rPr lang="en-US" altLang="zh-CN" sz="2000" dirty="0">
                <a:solidFill>
                  <a:srgbClr val="F35C70"/>
                </a:solidFill>
                <a:latin typeface="-apple-system"/>
              </a:rPr>
              <a:t>	</a:t>
            </a:r>
            <a:r>
              <a:rPr lang="en-US" altLang="zh-CN" sz="2000" b="0" i="0" dirty="0">
                <a:solidFill>
                  <a:srgbClr val="F35C70"/>
                </a:solidFill>
                <a:effectLst/>
                <a:latin typeface="-apple-system"/>
              </a:rPr>
              <a:t>area</a:t>
            </a:r>
            <a:endParaRPr lang="en-US" altLang="zh-CN" sz="2000" dirty="0">
              <a:solidFill>
                <a:srgbClr val="F35C70"/>
              </a:solidFill>
              <a:latin typeface="-apple-system"/>
            </a:endParaRPr>
          </a:p>
          <a:p>
            <a:r>
              <a:rPr lang="en-US" altLang="zh-CN" sz="2000" b="0" i="0" dirty="0">
                <a:effectLst/>
                <a:latin typeface="-apple-system"/>
              </a:rPr>
              <a:t>Illicit		</a:t>
            </a:r>
            <a:r>
              <a:rPr lang="zh-CN" altLang="en-US" sz="2000" dirty="0">
                <a:latin typeface="-apple-system"/>
              </a:rPr>
              <a:t>非法</a:t>
            </a:r>
            <a:r>
              <a:rPr lang="en-US" altLang="zh-CN" sz="2000" b="0" i="0" dirty="0">
                <a:effectLst/>
                <a:latin typeface="-apple-system"/>
              </a:rPr>
              <a:t>	</a:t>
            </a:r>
            <a:r>
              <a:rPr lang="en-US" altLang="zh-CN" sz="2000" b="0" i="0" dirty="0">
                <a:solidFill>
                  <a:srgbClr val="F35C70"/>
                </a:solidFill>
                <a:effectLst/>
                <a:latin typeface="-apple-system"/>
              </a:rPr>
              <a:t>prohibited</a:t>
            </a:r>
          </a:p>
          <a:p>
            <a:r>
              <a:rPr lang="en-US" altLang="zh-CN" sz="2000" b="0" i="0" dirty="0">
                <a:effectLst/>
                <a:latin typeface="-apple-system"/>
              </a:rPr>
              <a:t>Inappropriate</a:t>
            </a:r>
            <a:r>
              <a:rPr lang="en-US" altLang="zh-CN" sz="2000" dirty="0">
                <a:solidFill>
                  <a:srgbClr val="F35C70"/>
                </a:solidFill>
                <a:latin typeface="-apple-system"/>
              </a:rPr>
              <a:t>	</a:t>
            </a:r>
            <a:r>
              <a:rPr lang="zh-CN" altLang="en-US" sz="2000" dirty="0">
                <a:latin typeface="-apple-system"/>
              </a:rPr>
              <a:t>不恰当 </a:t>
            </a:r>
            <a:r>
              <a:rPr lang="en-US" altLang="zh-CN" sz="2000" dirty="0">
                <a:solidFill>
                  <a:srgbClr val="F35C70"/>
                </a:solidFill>
                <a:latin typeface="-apple-system"/>
              </a:rPr>
              <a:t>	</a:t>
            </a:r>
            <a:r>
              <a:rPr lang="en-US" altLang="zh-CN" sz="2000" b="0" i="0" dirty="0">
                <a:solidFill>
                  <a:srgbClr val="F35C70"/>
                </a:solidFill>
                <a:effectLst/>
                <a:latin typeface="-apple-system"/>
              </a:rPr>
              <a:t>improper</a:t>
            </a:r>
          </a:p>
          <a:p>
            <a:r>
              <a:rPr lang="en-US" altLang="zh-CN" sz="2000" b="0" i="0" dirty="0">
                <a:effectLst/>
                <a:latin typeface="-apple-system"/>
              </a:rPr>
              <a:t>Lodge</a:t>
            </a:r>
            <a:r>
              <a:rPr lang="en-US" altLang="zh-CN" sz="2000" dirty="0">
                <a:solidFill>
                  <a:srgbClr val="F35C70"/>
                </a:solidFill>
                <a:latin typeface="-apple-system"/>
              </a:rPr>
              <a:t>		</a:t>
            </a:r>
            <a:r>
              <a:rPr lang="zh-CN" altLang="en-US" sz="2000" dirty="0">
                <a:latin typeface="-apple-system"/>
              </a:rPr>
              <a:t>小屋</a:t>
            </a:r>
            <a:r>
              <a:rPr lang="en-US" altLang="zh-CN" sz="2000" dirty="0">
                <a:solidFill>
                  <a:srgbClr val="F35C70"/>
                </a:solidFill>
                <a:latin typeface="-apple-system"/>
              </a:rPr>
              <a:t>	</a:t>
            </a:r>
            <a:r>
              <a:rPr lang="en-US" altLang="zh-CN" sz="2000" b="0" i="0" dirty="0">
                <a:solidFill>
                  <a:srgbClr val="F35C70"/>
                </a:solidFill>
                <a:effectLst/>
                <a:latin typeface="-apple-system"/>
              </a:rPr>
              <a:t>cabin</a:t>
            </a:r>
            <a:endParaRPr lang="en-US" altLang="zh-CN" sz="2000" dirty="0">
              <a:solidFill>
                <a:srgbClr val="F35C70"/>
              </a:solidFill>
              <a:latin typeface="-apple-system"/>
            </a:endParaRPr>
          </a:p>
          <a:p>
            <a:r>
              <a:rPr lang="en-US" altLang="zh-CN" sz="2000" b="0" i="0" dirty="0">
                <a:effectLst/>
                <a:latin typeface="-apple-system"/>
              </a:rPr>
              <a:t>Affordable</a:t>
            </a:r>
            <a:r>
              <a:rPr lang="en-US" altLang="zh-CN" sz="2000" dirty="0">
                <a:solidFill>
                  <a:srgbClr val="F35C70"/>
                </a:solidFill>
                <a:latin typeface="-apple-system"/>
              </a:rPr>
              <a:t>        </a:t>
            </a:r>
            <a:r>
              <a:rPr lang="zh-CN" altLang="en-US" sz="2000" dirty="0">
                <a:latin typeface="-apple-system"/>
              </a:rPr>
              <a:t>经济实惠</a:t>
            </a:r>
            <a:r>
              <a:rPr lang="en-US" altLang="zh-CN" sz="2000" b="0" i="0" dirty="0">
                <a:solidFill>
                  <a:srgbClr val="F35C70"/>
                </a:solidFill>
                <a:effectLst/>
                <a:latin typeface="-apple-system"/>
              </a:rPr>
              <a:t>	inexpensive</a:t>
            </a:r>
          </a:p>
          <a:p>
            <a:r>
              <a:rPr lang="en-US" altLang="zh-CN" sz="2000" b="0" i="0" dirty="0">
                <a:effectLst/>
                <a:latin typeface="-apple-system"/>
              </a:rPr>
              <a:t>Reluctant</a:t>
            </a:r>
            <a:r>
              <a:rPr lang="en-US" altLang="zh-CN" sz="2000" dirty="0">
                <a:solidFill>
                  <a:srgbClr val="F35C70"/>
                </a:solidFill>
                <a:latin typeface="-apple-system"/>
              </a:rPr>
              <a:t>	</a:t>
            </a:r>
            <a:r>
              <a:rPr lang="zh-CN" altLang="en-US" sz="2000" dirty="0">
                <a:latin typeface="-apple-system"/>
              </a:rPr>
              <a:t>犹豫</a:t>
            </a:r>
            <a:r>
              <a:rPr lang="en-US" altLang="zh-CN" sz="2000" dirty="0">
                <a:solidFill>
                  <a:srgbClr val="F35C70"/>
                </a:solidFill>
                <a:latin typeface="-apple-system"/>
              </a:rPr>
              <a:t>	</a:t>
            </a:r>
            <a:r>
              <a:rPr lang="en-US" altLang="zh-CN" sz="2000" b="0" i="0" dirty="0">
                <a:solidFill>
                  <a:srgbClr val="F35C70"/>
                </a:solidFill>
                <a:effectLst/>
                <a:latin typeface="-apple-system"/>
              </a:rPr>
              <a:t>hesitant</a:t>
            </a:r>
            <a:endParaRPr lang="en-US" altLang="zh-CN" sz="2000" dirty="0">
              <a:solidFill>
                <a:srgbClr val="F35C70"/>
              </a:solidFill>
              <a:latin typeface="-apple-system"/>
            </a:endParaRPr>
          </a:p>
          <a:p>
            <a:r>
              <a:rPr lang="en-US" altLang="zh-CN" sz="2000" b="0" i="0" dirty="0">
                <a:effectLst/>
                <a:latin typeface="-apple-system"/>
              </a:rPr>
              <a:t>Slightly</a:t>
            </a:r>
            <a:r>
              <a:rPr lang="en-US" altLang="zh-CN" sz="2000" b="0" i="0" dirty="0">
                <a:solidFill>
                  <a:srgbClr val="F35C70"/>
                </a:solidFill>
                <a:effectLst/>
                <a:latin typeface="-apple-system"/>
              </a:rPr>
              <a:t>		</a:t>
            </a:r>
            <a:r>
              <a:rPr lang="zh-CN" altLang="en-US" sz="2000" dirty="0">
                <a:latin typeface="-apple-system"/>
              </a:rPr>
              <a:t>稍微</a:t>
            </a:r>
            <a:r>
              <a:rPr lang="en-US" altLang="zh-CN" sz="2000" b="0" i="0" dirty="0">
                <a:solidFill>
                  <a:srgbClr val="F35C70"/>
                </a:solidFill>
                <a:effectLst/>
                <a:latin typeface="-apple-system"/>
              </a:rPr>
              <a:t>	somewhat</a:t>
            </a:r>
          </a:p>
          <a:p>
            <a:r>
              <a:rPr lang="en-US" altLang="zh-CN" sz="2000" b="0" i="0" dirty="0">
                <a:effectLst/>
                <a:latin typeface="-apple-system"/>
              </a:rPr>
              <a:t>Acclaim</a:t>
            </a:r>
            <a:r>
              <a:rPr lang="en-US" altLang="zh-CN" sz="2000" dirty="0">
                <a:solidFill>
                  <a:srgbClr val="F35C70"/>
                </a:solidFill>
                <a:latin typeface="-apple-system"/>
              </a:rPr>
              <a:t>	          </a:t>
            </a:r>
            <a:r>
              <a:rPr lang="zh-CN" altLang="en-US" sz="2000" dirty="0">
                <a:latin typeface="-apple-system"/>
              </a:rPr>
              <a:t>声名鹊起</a:t>
            </a:r>
            <a:r>
              <a:rPr lang="en-US" altLang="zh-CN" sz="2000" dirty="0">
                <a:solidFill>
                  <a:srgbClr val="F35C70"/>
                </a:solidFill>
                <a:latin typeface="-apple-system"/>
              </a:rPr>
              <a:t>	</a:t>
            </a:r>
            <a:r>
              <a:rPr lang="en-US" altLang="zh-CN" sz="2000" b="0" i="0" dirty="0">
                <a:solidFill>
                  <a:srgbClr val="F35C70"/>
                </a:solidFill>
                <a:effectLst/>
                <a:latin typeface="-apple-system"/>
              </a:rPr>
              <a:t>fame</a:t>
            </a:r>
            <a:endParaRPr lang="en-US" altLang="zh-CN" sz="2000" dirty="0">
              <a:solidFill>
                <a:srgbClr val="F35C70"/>
              </a:solidFill>
              <a:latin typeface="-apple-system"/>
            </a:endParaRPr>
          </a:p>
          <a:p>
            <a:r>
              <a:rPr lang="en-US" altLang="zh-CN" sz="2000" b="0" i="0" dirty="0">
                <a:effectLst/>
                <a:latin typeface="-apple-system"/>
              </a:rPr>
              <a:t>Mark</a:t>
            </a:r>
            <a:r>
              <a:rPr lang="en-US" altLang="zh-CN" sz="2000" b="0" i="0" dirty="0">
                <a:solidFill>
                  <a:srgbClr val="F35C70"/>
                </a:solidFill>
                <a:effectLst/>
                <a:latin typeface="-apple-system"/>
              </a:rPr>
              <a:t>		</a:t>
            </a:r>
            <a:r>
              <a:rPr lang="zh-CN" altLang="en-US" sz="2000" dirty="0">
                <a:latin typeface="-apple-system"/>
              </a:rPr>
              <a:t>标记</a:t>
            </a:r>
            <a:r>
              <a:rPr lang="en-US" altLang="zh-CN" sz="2000" b="0" i="0" dirty="0">
                <a:solidFill>
                  <a:srgbClr val="F35C70"/>
                </a:solidFill>
                <a:effectLst/>
                <a:latin typeface="-apple-system"/>
              </a:rPr>
              <a:t>	indicate</a:t>
            </a:r>
          </a:p>
          <a:p>
            <a:r>
              <a:rPr lang="en-US" altLang="zh-CN" sz="2000" b="0" i="0" dirty="0">
                <a:effectLst/>
                <a:latin typeface="-apple-system"/>
              </a:rPr>
              <a:t>Nocturnal</a:t>
            </a:r>
            <a:r>
              <a:rPr lang="en-US" altLang="zh-CN" sz="2000" dirty="0">
                <a:solidFill>
                  <a:srgbClr val="F35C70"/>
                </a:solidFill>
                <a:latin typeface="-apple-system"/>
              </a:rPr>
              <a:t>	</a:t>
            </a:r>
            <a:r>
              <a:rPr lang="zh-CN" altLang="en-US" sz="2000" dirty="0">
                <a:latin typeface="-apple-system"/>
              </a:rPr>
              <a:t>夜间</a:t>
            </a:r>
            <a:r>
              <a:rPr lang="en-US" altLang="zh-CN" sz="2000" dirty="0">
                <a:solidFill>
                  <a:srgbClr val="F35C70"/>
                </a:solidFill>
                <a:latin typeface="-apple-system"/>
              </a:rPr>
              <a:t>	</a:t>
            </a:r>
            <a:r>
              <a:rPr lang="en-US" altLang="zh-CN" sz="2000" b="0" i="0" dirty="0">
                <a:solidFill>
                  <a:srgbClr val="F35C70"/>
                </a:solidFill>
                <a:effectLst/>
                <a:latin typeface="-apple-system"/>
              </a:rPr>
              <a:t>night</a:t>
            </a:r>
            <a:endParaRPr lang="en-US" altLang="zh-CN" sz="2000" dirty="0">
              <a:solidFill>
                <a:srgbClr val="F35C70"/>
              </a:solidFill>
              <a:latin typeface="-apple-system"/>
            </a:endParaRPr>
          </a:p>
          <a:p>
            <a:r>
              <a:rPr lang="en-US" altLang="zh-CN" sz="2000" b="0" i="0" dirty="0">
                <a:effectLst/>
                <a:latin typeface="-apple-system"/>
              </a:rPr>
              <a:t>Originally</a:t>
            </a:r>
            <a:r>
              <a:rPr lang="en-US" altLang="zh-CN" sz="2000" b="0" i="0" dirty="0">
                <a:solidFill>
                  <a:srgbClr val="F35C70"/>
                </a:solidFill>
                <a:effectLst/>
                <a:latin typeface="-apple-system"/>
              </a:rPr>
              <a:t>	</a:t>
            </a:r>
            <a:r>
              <a:rPr lang="zh-CN" altLang="en-US" sz="2000" dirty="0">
                <a:latin typeface="-apple-system"/>
              </a:rPr>
              <a:t>原本</a:t>
            </a:r>
            <a:r>
              <a:rPr lang="en-US" altLang="zh-CN" sz="2000" b="0" i="0" dirty="0">
                <a:solidFill>
                  <a:srgbClr val="F35C70"/>
                </a:solidFill>
                <a:effectLst/>
                <a:latin typeface="-apple-system"/>
              </a:rPr>
              <a:t>	formerly</a:t>
            </a:r>
          </a:p>
          <a:p>
            <a:r>
              <a:rPr lang="en-US" altLang="zh-CN" sz="2000" b="0" i="0" dirty="0">
                <a:effectLst/>
                <a:latin typeface="-apple-system"/>
              </a:rPr>
              <a:t>Essential</a:t>
            </a:r>
            <a:r>
              <a:rPr lang="en-US" altLang="zh-CN" sz="2000" dirty="0">
                <a:solidFill>
                  <a:srgbClr val="F35C70"/>
                </a:solidFill>
                <a:latin typeface="-apple-system"/>
              </a:rPr>
              <a:t>		</a:t>
            </a:r>
            <a:r>
              <a:rPr lang="zh-CN" altLang="en-US" sz="2000" dirty="0">
                <a:latin typeface="-apple-system"/>
              </a:rPr>
              <a:t>基本</a:t>
            </a:r>
            <a:r>
              <a:rPr lang="en-US" altLang="zh-CN" sz="2000" dirty="0">
                <a:solidFill>
                  <a:srgbClr val="F35C70"/>
                </a:solidFill>
                <a:latin typeface="-apple-system"/>
              </a:rPr>
              <a:t>	</a:t>
            </a:r>
            <a:r>
              <a:rPr lang="en-US" altLang="zh-CN" sz="2000" b="0" i="0" dirty="0">
                <a:solidFill>
                  <a:srgbClr val="F35C70"/>
                </a:solidFill>
                <a:effectLst/>
                <a:latin typeface="-apple-system"/>
              </a:rPr>
              <a:t>crucial</a:t>
            </a:r>
            <a:endParaRPr lang="en-US" altLang="zh-CN" sz="2000" dirty="0">
              <a:solidFill>
                <a:srgbClr val="F35C70"/>
              </a:solidFill>
              <a:latin typeface="-apple-system"/>
            </a:endParaRPr>
          </a:p>
          <a:p>
            <a:r>
              <a:rPr lang="en-US" altLang="zh-CN" sz="2000" b="0" i="0" dirty="0">
                <a:effectLst/>
                <a:latin typeface="-apple-system"/>
              </a:rPr>
              <a:t>Explicit		</a:t>
            </a:r>
            <a:r>
              <a:rPr lang="zh-CN" altLang="en-US" sz="2000" b="0" i="0" dirty="0">
                <a:effectLst/>
                <a:latin typeface="-apple-system"/>
              </a:rPr>
              <a:t>清楚</a:t>
            </a:r>
            <a:r>
              <a:rPr lang="en-US" altLang="zh-CN" sz="2000" b="0" i="0" dirty="0">
                <a:solidFill>
                  <a:srgbClr val="F35C70"/>
                </a:solidFill>
                <a:effectLst/>
                <a:latin typeface="-apple-system"/>
              </a:rPr>
              <a:t>	</a:t>
            </a:r>
            <a:r>
              <a:rPr lang="en-US" altLang="zh-CN" sz="2000" dirty="0">
                <a:solidFill>
                  <a:srgbClr val="F35C70"/>
                </a:solidFill>
                <a:latin typeface="-apple-system"/>
              </a:rPr>
              <a:t>clear</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5A</a:t>
            </a:r>
            <a:endParaRPr lang="zh-CN" altLang="en-US" dirty="0"/>
          </a:p>
        </p:txBody>
      </p:sp>
    </p:spTree>
    <p:extLst>
      <p:ext uri="{BB962C8B-B14F-4D97-AF65-F5344CB8AC3E}">
        <p14:creationId xmlns:p14="http://schemas.microsoft.com/office/powerpoint/2010/main" val="3356092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5958739" cy="6340197"/>
          </a:xfrm>
          <a:prstGeom prst="rect">
            <a:avLst/>
          </a:prstGeom>
          <a:noFill/>
        </p:spPr>
        <p:txBody>
          <a:bodyPr wrap="square" rtlCol="0">
            <a:spAutoFit/>
          </a:bodyPr>
          <a:lstStyle/>
          <a:p>
            <a:pPr algn="just"/>
            <a:r>
              <a:rPr lang="en-US" altLang="zh-CN" sz="1400" b="0" i="0" dirty="0">
                <a:effectLst/>
                <a:latin typeface="-apple-system"/>
              </a:rPr>
              <a:t>While the Renaissance is considered a period that gave birth to a major European artistic movement, fewer individuals </a:t>
            </a:r>
            <a:r>
              <a:rPr lang="en-US" altLang="zh-CN" sz="1400" b="1" i="0" dirty="0">
                <a:effectLst/>
                <a:latin typeface="-apple-system"/>
              </a:rPr>
              <a:t>appreciate</a:t>
            </a:r>
            <a:r>
              <a:rPr lang="en-US" altLang="zh-CN" sz="1400" b="0" i="0" dirty="0">
                <a:effectLst/>
                <a:latin typeface="-apple-system"/>
              </a:rPr>
              <a:t> the importance of medieval art. In fact, without the Middle Ages, the </a:t>
            </a:r>
            <a:r>
              <a:rPr lang="en-US" altLang="zh-CN" sz="1400" b="1" i="0" dirty="0">
                <a:effectLst/>
                <a:latin typeface="-apple-system"/>
              </a:rPr>
              <a:t>advent</a:t>
            </a:r>
            <a:r>
              <a:rPr lang="en-US" altLang="zh-CN" sz="1400" b="0" i="0" dirty="0">
                <a:effectLst/>
                <a:latin typeface="-apple-system"/>
              </a:rPr>
              <a:t> of the Renaissance would have been virtually impossible. Today, historians are increasingly willing to question why the Renaissance has traditionally been more </a:t>
            </a:r>
            <a:r>
              <a:rPr lang="en-US" altLang="zh-CN" sz="1400" b="1" i="0" dirty="0">
                <a:effectLst/>
                <a:latin typeface="-apple-system"/>
              </a:rPr>
              <a:t>celebrated</a:t>
            </a:r>
            <a:r>
              <a:rPr lang="en-US" altLang="zh-CN" sz="1400" b="0" i="0" dirty="0">
                <a:effectLst/>
                <a:latin typeface="-apple-system"/>
              </a:rPr>
              <a:t> than the Middle Ages. One </a:t>
            </a:r>
            <a:r>
              <a:rPr lang="en-US" altLang="zh-CN" sz="1400" b="1" i="0" dirty="0">
                <a:effectLst/>
                <a:latin typeface="-apple-system"/>
              </a:rPr>
              <a:t>logical</a:t>
            </a:r>
            <a:r>
              <a:rPr lang="en-US" altLang="zh-CN" sz="1400" b="0" i="0" dirty="0">
                <a:effectLst/>
                <a:latin typeface="-apple-system"/>
              </a:rPr>
              <a:t> reason is the development of artistic techniques, such as perspective and shadow, essential characteristics of both Renaissance art and later art. However, artists working in the Middle Ages were already taking </a:t>
            </a:r>
            <a:r>
              <a:rPr lang="en-US" altLang="zh-CN" sz="1400" b="1" i="0" dirty="0">
                <a:effectLst/>
                <a:latin typeface="-apple-system"/>
              </a:rPr>
              <a:t>impressive</a:t>
            </a:r>
            <a:r>
              <a:rPr lang="en-US" altLang="zh-CN" sz="1400" b="0" i="0" dirty="0">
                <a:effectLst/>
                <a:latin typeface="-apple-system"/>
              </a:rPr>
              <a:t> steps towards these techniques as early as in the 13th century. For instance, the painter Simone Martini, whose </a:t>
            </a:r>
            <a:r>
              <a:rPr lang="en-US" altLang="zh-CN" sz="1400" b="1" i="0" dirty="0">
                <a:effectLst/>
                <a:latin typeface="-apple-system"/>
              </a:rPr>
              <a:t>patron</a:t>
            </a:r>
            <a:r>
              <a:rPr lang="en-US" altLang="zh-CN" sz="1400" b="0" i="0" dirty="0">
                <a:effectLst/>
                <a:latin typeface="-apple-system"/>
              </a:rPr>
              <a:t> was the Catholic Church, incorporated architectural details into many of his works. He was </a:t>
            </a:r>
            <a:r>
              <a:rPr lang="en-US" altLang="zh-CN" sz="1400" b="1" i="0" dirty="0">
                <a:effectLst/>
                <a:latin typeface="-apple-system"/>
              </a:rPr>
              <a:t>especially</a:t>
            </a:r>
            <a:r>
              <a:rPr lang="en-US" altLang="zh-CN" sz="1400" b="0" i="0" dirty="0">
                <a:effectLst/>
                <a:latin typeface="-apple-system"/>
              </a:rPr>
              <a:t> known for his gracefully painted frescoes and his use of three-dimensional perspective. </a:t>
            </a:r>
            <a:r>
              <a:rPr lang="en-US" altLang="zh-CN" sz="1400" b="0" i="0" dirty="0" err="1">
                <a:effectLst/>
                <a:latin typeface="-apple-system"/>
              </a:rPr>
              <a:t>Duccio</a:t>
            </a:r>
            <a:r>
              <a:rPr lang="en-US" altLang="zh-CN" sz="1400" b="0" i="0" dirty="0">
                <a:effectLst/>
                <a:latin typeface="-apple-system"/>
              </a:rPr>
              <a:t> di </a:t>
            </a:r>
            <a:r>
              <a:rPr lang="en-US" altLang="zh-CN" sz="1400" b="0" i="0" dirty="0" err="1">
                <a:effectLst/>
                <a:latin typeface="-apple-system"/>
              </a:rPr>
              <a:t>Buoninsegna</a:t>
            </a:r>
            <a:r>
              <a:rPr lang="en-US" altLang="zh-CN" sz="1400" b="0" i="0" dirty="0">
                <a:effectLst/>
                <a:latin typeface="-apple-system"/>
              </a:rPr>
              <a:t>, another Sienese painter, is also a </a:t>
            </a:r>
            <a:r>
              <a:rPr lang="en-US" altLang="zh-CN" sz="1400" b="1" i="0" dirty="0">
                <a:effectLst/>
                <a:latin typeface="-apple-system"/>
              </a:rPr>
              <a:t>memorable</a:t>
            </a:r>
            <a:r>
              <a:rPr lang="en-US" altLang="zh-CN" sz="1400" b="0" i="0" dirty="0">
                <a:effectLst/>
                <a:latin typeface="-apple-system"/>
              </a:rPr>
              <a:t> figure in medieval art history. His paintings of religious figures would forever </a:t>
            </a:r>
            <a:r>
              <a:rPr lang="en-US" altLang="zh-CN" sz="1400" b="1" i="0" dirty="0">
                <a:effectLst/>
                <a:latin typeface="-apple-system"/>
              </a:rPr>
              <a:t>alter</a:t>
            </a:r>
            <a:r>
              <a:rPr lang="en-US" altLang="zh-CN" sz="1400" b="0" i="0" dirty="0">
                <a:effectLst/>
                <a:latin typeface="-apple-system"/>
              </a:rPr>
              <a:t> the way Biblical stories were visually presented. Although the artistic achievements of the Middle Ages may seem </a:t>
            </a:r>
            <a:r>
              <a:rPr lang="en-US" altLang="zh-CN" sz="1400" b="1" i="0" dirty="0">
                <a:effectLst/>
                <a:latin typeface="-apple-system"/>
              </a:rPr>
              <a:t>subtle</a:t>
            </a:r>
            <a:r>
              <a:rPr lang="en-US" altLang="zh-CN" sz="1400" b="0" i="0" dirty="0">
                <a:effectLst/>
                <a:latin typeface="-apple-system"/>
              </a:rPr>
              <a:t> in comparison to those of the Renaissance, the connection between the two eras is undeniable. The Renaissance also heralded the </a:t>
            </a:r>
            <a:r>
              <a:rPr lang="en-US" altLang="zh-CN" sz="1400" b="1" i="0" dirty="0">
                <a:effectLst/>
                <a:latin typeface="-apple-system"/>
              </a:rPr>
              <a:t>arrival</a:t>
            </a:r>
            <a:r>
              <a:rPr lang="en-US" altLang="zh-CN" sz="1400" b="0" i="0" dirty="0">
                <a:effectLst/>
                <a:latin typeface="-apple-system"/>
              </a:rPr>
              <a:t> of highly realistic linear perspective as part of wider trends towards realism in the arts. Beginning in Italy, and spreading to the rest of Europe, Renaissance thinkers were in fact </a:t>
            </a:r>
            <a:r>
              <a:rPr lang="en-US" altLang="zh-CN" sz="1400" b="1" i="0" dirty="0">
                <a:effectLst/>
                <a:latin typeface="-apple-system"/>
              </a:rPr>
              <a:t>pioneers</a:t>
            </a:r>
            <a:r>
              <a:rPr lang="en-US" altLang="zh-CN" sz="1400" b="0" i="0" dirty="0">
                <a:effectLst/>
                <a:latin typeface="-apple-system"/>
              </a:rPr>
              <a:t> in virtually every aspect of intellectual inquiry. One significant achievement to </a:t>
            </a:r>
            <a:r>
              <a:rPr lang="en-US" altLang="zh-CN" sz="1400" b="1" i="0" dirty="0">
                <a:effectLst/>
                <a:latin typeface="-apple-system"/>
              </a:rPr>
              <a:t>emerge</a:t>
            </a:r>
            <a:r>
              <a:rPr lang="en-US" altLang="zh-CN" sz="1400" b="0" i="0" dirty="0">
                <a:effectLst/>
                <a:latin typeface="-apple-system"/>
              </a:rPr>
              <a:t> from this period was a sudden revival of ancient techniques among painters, poets, and other artists. Renaissance </a:t>
            </a:r>
            <a:r>
              <a:rPr lang="en-US" altLang="zh-CN" sz="1400" b="1" i="0" dirty="0">
                <a:effectLst/>
                <a:latin typeface="-apple-system"/>
              </a:rPr>
              <a:t>autobiographies</a:t>
            </a:r>
            <a:r>
              <a:rPr lang="en-US" altLang="zh-CN" sz="1400" b="0" i="0" dirty="0">
                <a:effectLst/>
                <a:latin typeface="-apple-system"/>
              </a:rPr>
              <a:t>, for example, lacked the sense of introspection found in modern works; instead, like their Roman models, they focused on universal principles and the cultivation of a public persona. The autobiographical accounts of Petrarch and Alberti, two humanists who celebrated ancient artistic values, were </a:t>
            </a:r>
            <a:r>
              <a:rPr lang="en-US" altLang="zh-CN" sz="1400" b="1" i="0" dirty="0">
                <a:effectLst/>
                <a:latin typeface="-apple-system"/>
              </a:rPr>
              <a:t>prone</a:t>
            </a:r>
            <a:r>
              <a:rPr lang="en-US" altLang="zh-CN" sz="1400" b="0" i="0" dirty="0">
                <a:effectLst/>
                <a:latin typeface="-apple-system"/>
              </a:rPr>
              <a:t> to describing highly idealized lives.</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1" y="779412"/>
            <a:ext cx="4967940" cy="5324535"/>
          </a:xfrm>
          <a:prstGeom prst="rect">
            <a:avLst/>
          </a:prstGeom>
          <a:noFill/>
        </p:spPr>
        <p:txBody>
          <a:bodyPr wrap="square" rtlCol="0">
            <a:spAutoFit/>
          </a:bodyPr>
          <a:lstStyle/>
          <a:p>
            <a:r>
              <a:rPr lang="en-US" altLang="zh-CN" sz="2000" b="0" i="0" dirty="0" err="1">
                <a:effectLst/>
                <a:latin typeface="-apple-system"/>
              </a:rPr>
              <a:t>apprecaite</a:t>
            </a:r>
            <a:r>
              <a:rPr lang="en-US" altLang="zh-CN" sz="2000" b="0" i="0" dirty="0">
                <a:effectLst/>
                <a:latin typeface="-apple-system"/>
              </a:rPr>
              <a:t>		</a:t>
            </a:r>
            <a:r>
              <a:rPr lang="en-US" altLang="zh-CN" sz="2000" b="0" i="0" dirty="0">
                <a:solidFill>
                  <a:srgbClr val="F35C70"/>
                </a:solidFill>
                <a:effectLst/>
                <a:latin typeface="-apple-system"/>
              </a:rPr>
              <a:t>value</a:t>
            </a:r>
          </a:p>
          <a:p>
            <a:r>
              <a:rPr lang="en-US" altLang="zh-CN" sz="2000" b="0" i="0" dirty="0">
                <a:effectLst/>
                <a:latin typeface="-apple-system"/>
              </a:rPr>
              <a:t>Advent</a:t>
            </a:r>
            <a:r>
              <a:rPr lang="en-US" altLang="zh-CN" sz="2000" dirty="0">
                <a:solidFill>
                  <a:srgbClr val="F35C70"/>
                </a:solidFill>
                <a:latin typeface="-apple-system"/>
              </a:rPr>
              <a:t>			</a:t>
            </a:r>
            <a:r>
              <a:rPr lang="en-US" altLang="zh-CN" sz="2000" b="0" i="0" dirty="0">
                <a:solidFill>
                  <a:srgbClr val="F35C70"/>
                </a:solidFill>
                <a:effectLst/>
                <a:latin typeface="-apple-system"/>
              </a:rPr>
              <a:t>arrival</a:t>
            </a:r>
            <a:endParaRPr lang="en-US" altLang="zh-CN" sz="2000" dirty="0">
              <a:solidFill>
                <a:srgbClr val="F35C70"/>
              </a:solidFill>
              <a:latin typeface="-apple-system"/>
            </a:endParaRPr>
          </a:p>
          <a:p>
            <a:r>
              <a:rPr lang="en-US" altLang="zh-CN" sz="2000" b="0" i="0" dirty="0">
                <a:effectLst/>
                <a:latin typeface="-apple-system"/>
              </a:rPr>
              <a:t>Celebrated</a:t>
            </a:r>
            <a:r>
              <a:rPr lang="en-US" altLang="zh-CN" sz="2000" b="0" i="0" dirty="0">
                <a:solidFill>
                  <a:srgbClr val="F35C70"/>
                </a:solidFill>
                <a:effectLst/>
                <a:latin typeface="-apple-system"/>
              </a:rPr>
              <a:t>		renowned</a:t>
            </a:r>
          </a:p>
          <a:p>
            <a:r>
              <a:rPr lang="en-US" altLang="zh-CN" sz="2000" b="0" i="0" dirty="0">
                <a:effectLst/>
                <a:latin typeface="-apple-system"/>
              </a:rPr>
              <a:t>Logical			</a:t>
            </a:r>
            <a:r>
              <a:rPr lang="en-US" altLang="zh-CN" sz="2000" b="0" i="0" dirty="0">
                <a:solidFill>
                  <a:srgbClr val="F35C70"/>
                </a:solidFill>
                <a:effectLst/>
                <a:latin typeface="-apple-system"/>
              </a:rPr>
              <a:t>reasonable</a:t>
            </a:r>
            <a:endParaRPr lang="en-US" altLang="zh-CN" sz="2000" dirty="0">
              <a:solidFill>
                <a:srgbClr val="F35C70"/>
              </a:solidFill>
              <a:latin typeface="-apple-system"/>
            </a:endParaRPr>
          </a:p>
          <a:p>
            <a:r>
              <a:rPr lang="en-US" altLang="zh-CN" sz="2000" b="0" i="0" dirty="0">
                <a:effectLst/>
                <a:latin typeface="-apple-system"/>
              </a:rPr>
              <a:t>Impressive		</a:t>
            </a:r>
            <a:r>
              <a:rPr lang="en-US" altLang="zh-CN" sz="2000" b="0" i="0" dirty="0">
                <a:solidFill>
                  <a:srgbClr val="F35C70"/>
                </a:solidFill>
                <a:effectLst/>
                <a:latin typeface="-apple-system"/>
              </a:rPr>
              <a:t>remarkable	</a:t>
            </a:r>
            <a:endParaRPr lang="en-US" altLang="zh-CN" sz="2000" dirty="0">
              <a:solidFill>
                <a:srgbClr val="F35C70"/>
              </a:solidFill>
              <a:latin typeface="-apple-system"/>
            </a:endParaRPr>
          </a:p>
          <a:p>
            <a:r>
              <a:rPr lang="en-US" altLang="zh-CN" sz="2000" b="0" i="0" dirty="0">
                <a:effectLst/>
                <a:latin typeface="-apple-system"/>
              </a:rPr>
              <a:t>Patron			</a:t>
            </a:r>
            <a:r>
              <a:rPr lang="en-US" altLang="zh-CN" sz="2000" b="0" i="0" dirty="0">
                <a:solidFill>
                  <a:srgbClr val="F35C70"/>
                </a:solidFill>
                <a:effectLst/>
                <a:latin typeface="-apple-system"/>
              </a:rPr>
              <a:t>sponsor</a:t>
            </a:r>
          </a:p>
          <a:p>
            <a:r>
              <a:rPr lang="en-US" altLang="zh-CN" sz="2000" b="0" i="0" dirty="0">
                <a:effectLst/>
                <a:latin typeface="-apple-system"/>
              </a:rPr>
              <a:t>Especially</a:t>
            </a:r>
            <a:r>
              <a:rPr lang="en-US" altLang="zh-CN" sz="2000" dirty="0">
                <a:solidFill>
                  <a:srgbClr val="F35C70"/>
                </a:solidFill>
                <a:latin typeface="-apple-system"/>
              </a:rPr>
              <a:t>		</a:t>
            </a:r>
            <a:r>
              <a:rPr lang="en-US" altLang="zh-CN" sz="2000" b="0" i="0" dirty="0">
                <a:solidFill>
                  <a:srgbClr val="F35C70"/>
                </a:solidFill>
                <a:effectLst/>
                <a:latin typeface="-apple-system"/>
              </a:rPr>
              <a:t>particularly</a:t>
            </a:r>
            <a:endParaRPr lang="en-US" altLang="zh-CN" sz="2000" dirty="0">
              <a:solidFill>
                <a:srgbClr val="F35C70"/>
              </a:solidFill>
              <a:latin typeface="-apple-system"/>
            </a:endParaRPr>
          </a:p>
          <a:p>
            <a:r>
              <a:rPr lang="en-US" altLang="zh-CN" sz="2000" b="0" i="0" dirty="0">
                <a:effectLst/>
                <a:latin typeface="-apple-system"/>
              </a:rPr>
              <a:t>Memorable</a:t>
            </a:r>
            <a:r>
              <a:rPr lang="en-US" altLang="zh-CN" sz="2000" b="0" i="0" dirty="0">
                <a:solidFill>
                  <a:srgbClr val="F35C70"/>
                </a:solidFill>
                <a:effectLst/>
                <a:latin typeface="-apple-system"/>
              </a:rPr>
              <a:t>		unforgettable</a:t>
            </a:r>
          </a:p>
          <a:p>
            <a:r>
              <a:rPr lang="en-US" altLang="zh-CN" sz="2000" b="0" i="0" dirty="0">
                <a:effectLst/>
                <a:latin typeface="-apple-system"/>
              </a:rPr>
              <a:t>Alter</a:t>
            </a:r>
            <a:r>
              <a:rPr lang="en-US" altLang="zh-CN" sz="2000" dirty="0">
                <a:solidFill>
                  <a:srgbClr val="F35C70"/>
                </a:solidFill>
                <a:latin typeface="-apple-system"/>
              </a:rPr>
              <a:t>			</a:t>
            </a:r>
            <a:r>
              <a:rPr lang="en-US" altLang="zh-CN" sz="2000" b="0" i="0" dirty="0">
                <a:solidFill>
                  <a:srgbClr val="F35C70"/>
                </a:solidFill>
                <a:effectLst/>
                <a:latin typeface="-apple-system"/>
              </a:rPr>
              <a:t>change</a:t>
            </a:r>
            <a:endParaRPr lang="en-US" altLang="zh-CN" sz="2000" dirty="0">
              <a:solidFill>
                <a:srgbClr val="F35C70"/>
              </a:solidFill>
              <a:latin typeface="-apple-system"/>
            </a:endParaRPr>
          </a:p>
          <a:p>
            <a:r>
              <a:rPr lang="en-US" altLang="zh-CN" sz="2000" b="0" i="0" dirty="0">
                <a:effectLst/>
                <a:latin typeface="-apple-system"/>
              </a:rPr>
              <a:t>Subtle</a:t>
            </a:r>
            <a:r>
              <a:rPr lang="en-US" altLang="zh-CN" sz="2000" b="0" i="0" dirty="0">
                <a:solidFill>
                  <a:srgbClr val="F35C70"/>
                </a:solidFill>
                <a:effectLst/>
                <a:latin typeface="-apple-system"/>
              </a:rPr>
              <a:t>			understated</a:t>
            </a:r>
          </a:p>
          <a:p>
            <a:r>
              <a:rPr lang="en-US" altLang="zh-CN" sz="2000" b="0" i="0" dirty="0">
                <a:effectLst/>
                <a:latin typeface="-apple-system"/>
              </a:rPr>
              <a:t>Arrival</a:t>
            </a:r>
            <a:r>
              <a:rPr lang="en-US" altLang="zh-CN" sz="2000" dirty="0">
                <a:solidFill>
                  <a:srgbClr val="F35C70"/>
                </a:solidFill>
                <a:latin typeface="-apple-system"/>
              </a:rPr>
              <a:t>			</a:t>
            </a:r>
            <a:r>
              <a:rPr lang="en-US" altLang="zh-CN" sz="2000" b="0" i="0" dirty="0">
                <a:solidFill>
                  <a:srgbClr val="F35C70"/>
                </a:solidFill>
                <a:effectLst/>
                <a:latin typeface="-apple-system"/>
              </a:rPr>
              <a:t>emergence</a:t>
            </a:r>
            <a:endParaRPr lang="en-US" altLang="zh-CN" sz="2000" dirty="0">
              <a:solidFill>
                <a:srgbClr val="F35C70"/>
              </a:solidFill>
              <a:latin typeface="-apple-system"/>
            </a:endParaRPr>
          </a:p>
          <a:p>
            <a:r>
              <a:rPr lang="en-US" altLang="zh-CN" sz="2000" b="0" i="0" dirty="0">
                <a:effectLst/>
                <a:latin typeface="-apple-system"/>
              </a:rPr>
              <a:t>Pioneers</a:t>
            </a:r>
            <a:r>
              <a:rPr lang="en-US" altLang="zh-CN" sz="2000" b="0" i="0" dirty="0">
                <a:solidFill>
                  <a:srgbClr val="F35C70"/>
                </a:solidFill>
                <a:effectLst/>
                <a:latin typeface="-apple-system"/>
              </a:rPr>
              <a:t>			innovators</a:t>
            </a:r>
          </a:p>
          <a:p>
            <a:r>
              <a:rPr lang="en-US" altLang="zh-CN" sz="2000" b="0" i="0" dirty="0">
                <a:effectLst/>
                <a:latin typeface="-apple-system"/>
              </a:rPr>
              <a:t>Emerge</a:t>
            </a:r>
            <a:r>
              <a:rPr lang="en-US" altLang="zh-CN" sz="2000" dirty="0">
                <a:solidFill>
                  <a:srgbClr val="F35C70"/>
                </a:solidFill>
                <a:latin typeface="-apple-system"/>
              </a:rPr>
              <a:t>			</a:t>
            </a:r>
            <a:r>
              <a:rPr lang="en-US" altLang="zh-CN" sz="2000" b="0" i="0" dirty="0">
                <a:solidFill>
                  <a:srgbClr val="F35C70"/>
                </a:solidFill>
                <a:effectLst/>
                <a:latin typeface="-apple-system"/>
              </a:rPr>
              <a:t>surface</a:t>
            </a:r>
            <a:endParaRPr lang="en-US" altLang="zh-CN" sz="2000" dirty="0">
              <a:solidFill>
                <a:srgbClr val="F35C70"/>
              </a:solidFill>
              <a:latin typeface="-apple-system"/>
            </a:endParaRPr>
          </a:p>
          <a:p>
            <a:r>
              <a:rPr lang="en-US" altLang="zh-CN" sz="2000" b="0" i="0" dirty="0">
                <a:effectLst/>
                <a:latin typeface="-apple-system"/>
              </a:rPr>
              <a:t>Autobiographies		</a:t>
            </a:r>
            <a:r>
              <a:rPr lang="en-US" altLang="zh-CN" sz="2000" b="0" i="0" dirty="0">
                <a:solidFill>
                  <a:srgbClr val="F35C70"/>
                </a:solidFill>
                <a:effectLst/>
                <a:latin typeface="-apple-system"/>
              </a:rPr>
              <a:t>personal histories</a:t>
            </a:r>
          </a:p>
          <a:p>
            <a:r>
              <a:rPr lang="en-US" altLang="zh-CN" sz="2000" b="0" i="0" dirty="0">
                <a:effectLst/>
                <a:latin typeface="-apple-system"/>
              </a:rPr>
              <a:t>Prone</a:t>
            </a:r>
            <a:r>
              <a:rPr lang="en-US" altLang="zh-CN" sz="2000" dirty="0">
                <a:solidFill>
                  <a:srgbClr val="F35C70"/>
                </a:solidFill>
                <a:latin typeface="-apple-system"/>
              </a:rPr>
              <a:t>			</a:t>
            </a:r>
            <a:r>
              <a:rPr lang="en-US" altLang="zh-CN" sz="2000" b="0" i="0" dirty="0">
                <a:solidFill>
                  <a:srgbClr val="F35C70"/>
                </a:solidFill>
                <a:effectLst/>
                <a:latin typeface="-apple-system"/>
              </a:rPr>
              <a:t>inclined</a:t>
            </a:r>
            <a:endParaRPr lang="en-US" altLang="zh-CN" sz="2000" dirty="0">
              <a:solidFill>
                <a:srgbClr val="F35C70"/>
              </a:solidFill>
              <a:latin typeface="-apple-system"/>
            </a:endParaRPr>
          </a:p>
          <a:p>
            <a:endParaRPr lang="en-US" altLang="zh-CN" sz="2000" dirty="0">
              <a:solidFill>
                <a:srgbClr val="F35C70"/>
              </a:solidFill>
              <a:latin typeface="-apple-system"/>
            </a:endParaRPr>
          </a:p>
          <a:p>
            <a:r>
              <a:rPr lang="en-US" altLang="zh-CN" sz="2000" dirty="0">
                <a:solidFill>
                  <a:srgbClr val="F35C70"/>
                </a:solidFill>
                <a:latin typeface="-apple-system"/>
              </a:rPr>
              <a:t>	</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5B</a:t>
            </a:r>
            <a:endParaRPr lang="zh-CN" altLang="en-US" dirty="0"/>
          </a:p>
        </p:txBody>
      </p:sp>
    </p:spTree>
    <p:extLst>
      <p:ext uri="{BB962C8B-B14F-4D97-AF65-F5344CB8AC3E}">
        <p14:creationId xmlns:p14="http://schemas.microsoft.com/office/powerpoint/2010/main" val="3031457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5958739" cy="6340197"/>
          </a:xfrm>
          <a:prstGeom prst="rect">
            <a:avLst/>
          </a:prstGeom>
          <a:noFill/>
        </p:spPr>
        <p:txBody>
          <a:bodyPr wrap="square" rtlCol="0">
            <a:spAutoFit/>
          </a:bodyPr>
          <a:lstStyle/>
          <a:p>
            <a:pPr algn="just"/>
            <a:r>
              <a:rPr lang="en-US" altLang="zh-CN" sz="1400" b="0" i="0" dirty="0">
                <a:effectLst/>
                <a:latin typeface="-apple-system"/>
              </a:rPr>
              <a:t>While the Renaissance is considered a period that gave birth to a major European artistic movement, fewer individuals </a:t>
            </a:r>
            <a:r>
              <a:rPr lang="en-US" altLang="zh-CN" sz="1400" b="1" i="0" dirty="0">
                <a:effectLst/>
                <a:latin typeface="-apple-system"/>
              </a:rPr>
              <a:t>appreciate</a:t>
            </a:r>
            <a:r>
              <a:rPr lang="en-US" altLang="zh-CN" sz="1400" b="0" i="0" dirty="0">
                <a:effectLst/>
                <a:latin typeface="-apple-system"/>
              </a:rPr>
              <a:t> the importance of medieval art. In fact, without the Middle Ages, the </a:t>
            </a:r>
            <a:r>
              <a:rPr lang="en-US" altLang="zh-CN" sz="1400" b="1" i="0" dirty="0">
                <a:effectLst/>
                <a:latin typeface="-apple-system"/>
              </a:rPr>
              <a:t>advent</a:t>
            </a:r>
            <a:r>
              <a:rPr lang="en-US" altLang="zh-CN" sz="1400" b="0" i="0" dirty="0">
                <a:effectLst/>
                <a:latin typeface="-apple-system"/>
              </a:rPr>
              <a:t> of the Renaissance would have been virtually impossible. Today, historians are increasingly willing to question why the Renaissance has traditionally been more </a:t>
            </a:r>
            <a:r>
              <a:rPr lang="en-US" altLang="zh-CN" sz="1400" b="1" i="0" dirty="0">
                <a:effectLst/>
                <a:latin typeface="-apple-system"/>
              </a:rPr>
              <a:t>celebrated</a:t>
            </a:r>
            <a:r>
              <a:rPr lang="en-US" altLang="zh-CN" sz="1400" b="0" i="0" dirty="0">
                <a:effectLst/>
                <a:latin typeface="-apple-system"/>
              </a:rPr>
              <a:t> than the Middle Ages. One </a:t>
            </a:r>
            <a:r>
              <a:rPr lang="en-US" altLang="zh-CN" sz="1400" b="1" i="0" dirty="0">
                <a:effectLst/>
                <a:latin typeface="-apple-system"/>
              </a:rPr>
              <a:t>logical</a:t>
            </a:r>
            <a:r>
              <a:rPr lang="en-US" altLang="zh-CN" sz="1400" b="0" i="0" dirty="0">
                <a:effectLst/>
                <a:latin typeface="-apple-system"/>
              </a:rPr>
              <a:t> reason is the development of artistic techniques, such as perspective and shadow, essential characteristics of both Renaissance art and later art. However, artists working in the Middle Ages were already taking </a:t>
            </a:r>
            <a:r>
              <a:rPr lang="en-US" altLang="zh-CN" sz="1400" b="1" i="0" dirty="0">
                <a:effectLst/>
                <a:latin typeface="-apple-system"/>
              </a:rPr>
              <a:t>impressive</a:t>
            </a:r>
            <a:r>
              <a:rPr lang="en-US" altLang="zh-CN" sz="1400" b="0" i="0" dirty="0">
                <a:effectLst/>
                <a:latin typeface="-apple-system"/>
              </a:rPr>
              <a:t> steps towards these techniques as early as in the 13th century. For instance, the painter Simone Martini, whose </a:t>
            </a:r>
            <a:r>
              <a:rPr lang="en-US" altLang="zh-CN" sz="1400" b="1" i="0" dirty="0">
                <a:effectLst/>
                <a:latin typeface="-apple-system"/>
              </a:rPr>
              <a:t>patron</a:t>
            </a:r>
            <a:r>
              <a:rPr lang="en-US" altLang="zh-CN" sz="1400" b="0" i="0" dirty="0">
                <a:effectLst/>
                <a:latin typeface="-apple-system"/>
              </a:rPr>
              <a:t> was the Catholic Church, incorporated architectural details into many of his works. He was </a:t>
            </a:r>
            <a:r>
              <a:rPr lang="en-US" altLang="zh-CN" sz="1400" b="1" i="0" dirty="0">
                <a:effectLst/>
                <a:latin typeface="-apple-system"/>
              </a:rPr>
              <a:t>especially</a:t>
            </a:r>
            <a:r>
              <a:rPr lang="en-US" altLang="zh-CN" sz="1400" b="0" i="0" dirty="0">
                <a:effectLst/>
                <a:latin typeface="-apple-system"/>
              </a:rPr>
              <a:t> known for his gracefully painted frescoes and his use of three-dimensional perspective. </a:t>
            </a:r>
            <a:r>
              <a:rPr lang="en-US" altLang="zh-CN" sz="1400" b="0" i="0" dirty="0" err="1">
                <a:effectLst/>
                <a:latin typeface="-apple-system"/>
              </a:rPr>
              <a:t>Duccio</a:t>
            </a:r>
            <a:r>
              <a:rPr lang="en-US" altLang="zh-CN" sz="1400" b="0" i="0" dirty="0">
                <a:effectLst/>
                <a:latin typeface="-apple-system"/>
              </a:rPr>
              <a:t> di </a:t>
            </a:r>
            <a:r>
              <a:rPr lang="en-US" altLang="zh-CN" sz="1400" b="0" i="0" dirty="0" err="1">
                <a:effectLst/>
                <a:latin typeface="-apple-system"/>
              </a:rPr>
              <a:t>Buoninsegna</a:t>
            </a:r>
            <a:r>
              <a:rPr lang="en-US" altLang="zh-CN" sz="1400" b="0" i="0" dirty="0">
                <a:effectLst/>
                <a:latin typeface="-apple-system"/>
              </a:rPr>
              <a:t>, another Sienese painter, is also a </a:t>
            </a:r>
            <a:r>
              <a:rPr lang="en-US" altLang="zh-CN" sz="1400" b="1" i="0" dirty="0">
                <a:effectLst/>
                <a:latin typeface="-apple-system"/>
              </a:rPr>
              <a:t>memorable</a:t>
            </a:r>
            <a:r>
              <a:rPr lang="en-US" altLang="zh-CN" sz="1400" b="0" i="0" dirty="0">
                <a:effectLst/>
                <a:latin typeface="-apple-system"/>
              </a:rPr>
              <a:t> figure in medieval art history. His paintings of religious figures would forever </a:t>
            </a:r>
            <a:r>
              <a:rPr lang="en-US" altLang="zh-CN" sz="1400" b="1" i="0" dirty="0">
                <a:effectLst/>
                <a:latin typeface="-apple-system"/>
              </a:rPr>
              <a:t>alter</a:t>
            </a:r>
            <a:r>
              <a:rPr lang="en-US" altLang="zh-CN" sz="1400" b="0" i="0" dirty="0">
                <a:effectLst/>
                <a:latin typeface="-apple-system"/>
              </a:rPr>
              <a:t> the way Biblical stories were visually presented. Although the artistic achievements of the Middle Ages may seem </a:t>
            </a:r>
            <a:r>
              <a:rPr lang="en-US" altLang="zh-CN" sz="1400" b="1" i="0" dirty="0">
                <a:effectLst/>
                <a:latin typeface="-apple-system"/>
              </a:rPr>
              <a:t>subtle</a:t>
            </a:r>
            <a:r>
              <a:rPr lang="en-US" altLang="zh-CN" sz="1400" b="0" i="0" dirty="0">
                <a:effectLst/>
                <a:latin typeface="-apple-system"/>
              </a:rPr>
              <a:t> in comparison to those of the Renaissance, the connection between the two eras is undeniable. The Renaissance also heralded the </a:t>
            </a:r>
            <a:r>
              <a:rPr lang="en-US" altLang="zh-CN" sz="1400" b="1" i="0" dirty="0">
                <a:effectLst/>
                <a:latin typeface="-apple-system"/>
              </a:rPr>
              <a:t>arrival</a:t>
            </a:r>
            <a:r>
              <a:rPr lang="en-US" altLang="zh-CN" sz="1400" b="0" i="0" dirty="0">
                <a:effectLst/>
                <a:latin typeface="-apple-system"/>
              </a:rPr>
              <a:t> of highly realistic linear perspective as part of wider trends towards realism in the arts. Beginning in Italy, and spreading to the rest of Europe, Renaissance thinkers were in fact </a:t>
            </a:r>
            <a:r>
              <a:rPr lang="en-US" altLang="zh-CN" sz="1400" b="1" i="0" dirty="0">
                <a:effectLst/>
                <a:latin typeface="-apple-system"/>
              </a:rPr>
              <a:t>pioneers</a:t>
            </a:r>
            <a:r>
              <a:rPr lang="en-US" altLang="zh-CN" sz="1400" b="0" i="0" dirty="0">
                <a:effectLst/>
                <a:latin typeface="-apple-system"/>
              </a:rPr>
              <a:t> in virtually every aspect of intellectual inquiry. One significant achievement to </a:t>
            </a:r>
            <a:r>
              <a:rPr lang="en-US" altLang="zh-CN" sz="1400" b="1" i="0" dirty="0">
                <a:effectLst/>
                <a:latin typeface="-apple-system"/>
              </a:rPr>
              <a:t>emerge</a:t>
            </a:r>
            <a:r>
              <a:rPr lang="en-US" altLang="zh-CN" sz="1400" b="0" i="0" dirty="0">
                <a:effectLst/>
                <a:latin typeface="-apple-system"/>
              </a:rPr>
              <a:t> from this period was a sudden revival of ancient techniques among painters, poets, and other artists. Renaissance </a:t>
            </a:r>
            <a:r>
              <a:rPr lang="en-US" altLang="zh-CN" sz="1400" b="1" i="0" dirty="0">
                <a:effectLst/>
                <a:latin typeface="-apple-system"/>
              </a:rPr>
              <a:t>autobiographies</a:t>
            </a:r>
            <a:r>
              <a:rPr lang="en-US" altLang="zh-CN" sz="1400" b="0" i="0" dirty="0">
                <a:effectLst/>
                <a:latin typeface="-apple-system"/>
              </a:rPr>
              <a:t>, for example, lacked the sense of introspection found in modern works; instead, like their Roman models, they focused on universal principles and the cultivation of a public persona. The autobiographical accounts of Petrarch and Alberti, two humanists who celebrated ancient artistic values, were </a:t>
            </a:r>
            <a:r>
              <a:rPr lang="en-US" altLang="zh-CN" sz="1400" b="1" i="0" dirty="0">
                <a:effectLst/>
                <a:latin typeface="-apple-system"/>
              </a:rPr>
              <a:t>prone</a:t>
            </a:r>
            <a:r>
              <a:rPr lang="en-US" altLang="zh-CN" sz="1400" b="0" i="0" dirty="0">
                <a:effectLst/>
                <a:latin typeface="-apple-system"/>
              </a:rPr>
              <a:t> to describing highly idealized lives.</a:t>
            </a:r>
          </a:p>
        </p:txBody>
      </p:sp>
      <p:sp>
        <p:nvSpPr>
          <p:cNvPr id="5" name="文本框 4">
            <a:extLst>
              <a:ext uri="{FF2B5EF4-FFF2-40B4-BE49-F238E27FC236}">
                <a16:creationId xmlns:a16="http://schemas.microsoft.com/office/drawing/2014/main" id="{CB289E3A-941A-01E5-C04B-2510F1CB3EAF}"/>
              </a:ext>
            </a:extLst>
          </p:cNvPr>
          <p:cNvSpPr txBox="1"/>
          <p:nvPr/>
        </p:nvSpPr>
        <p:spPr>
          <a:xfrm>
            <a:off x="7070650" y="779412"/>
            <a:ext cx="5225427" cy="5324535"/>
          </a:xfrm>
          <a:prstGeom prst="rect">
            <a:avLst/>
          </a:prstGeom>
          <a:noFill/>
        </p:spPr>
        <p:txBody>
          <a:bodyPr wrap="square" rtlCol="0">
            <a:spAutoFit/>
          </a:bodyPr>
          <a:lstStyle/>
          <a:p>
            <a:r>
              <a:rPr lang="en-US" altLang="zh-CN" sz="2000" b="0" i="0" dirty="0" err="1">
                <a:effectLst/>
                <a:latin typeface="-apple-system"/>
              </a:rPr>
              <a:t>apprecaite</a:t>
            </a:r>
            <a:r>
              <a:rPr lang="en-US" altLang="zh-CN" sz="2000" b="0" i="0" dirty="0">
                <a:effectLst/>
                <a:latin typeface="-apple-system"/>
              </a:rPr>
              <a:t>	</a:t>
            </a:r>
            <a:r>
              <a:rPr lang="zh-CN" altLang="en-US" sz="2000" dirty="0">
                <a:latin typeface="-apple-system"/>
              </a:rPr>
              <a:t>理解</a:t>
            </a:r>
            <a:r>
              <a:rPr lang="en-US" altLang="zh-CN" sz="2000" b="0" i="0" dirty="0">
                <a:effectLst/>
                <a:latin typeface="-apple-system"/>
              </a:rPr>
              <a:t>	</a:t>
            </a:r>
            <a:r>
              <a:rPr lang="en-US" altLang="zh-CN" sz="2000" b="0" i="0" dirty="0">
                <a:solidFill>
                  <a:srgbClr val="F35C70"/>
                </a:solidFill>
                <a:effectLst/>
                <a:latin typeface="-apple-system"/>
              </a:rPr>
              <a:t>value</a:t>
            </a:r>
          </a:p>
          <a:p>
            <a:r>
              <a:rPr lang="en-US" altLang="zh-CN" sz="2000" b="0" i="0" dirty="0">
                <a:effectLst/>
                <a:latin typeface="-apple-system"/>
              </a:rPr>
              <a:t>Advent</a:t>
            </a:r>
            <a:r>
              <a:rPr lang="en-US" altLang="zh-CN" sz="2000" dirty="0">
                <a:solidFill>
                  <a:srgbClr val="F35C70"/>
                </a:solidFill>
                <a:latin typeface="-apple-system"/>
              </a:rPr>
              <a:t>		</a:t>
            </a:r>
            <a:r>
              <a:rPr lang="zh-CN" altLang="en-US" sz="2000" dirty="0">
                <a:latin typeface="-apple-system"/>
              </a:rPr>
              <a:t>降临</a:t>
            </a:r>
            <a:r>
              <a:rPr lang="en-US" altLang="zh-CN" sz="2000" dirty="0">
                <a:solidFill>
                  <a:srgbClr val="F35C70"/>
                </a:solidFill>
                <a:latin typeface="-apple-system"/>
              </a:rPr>
              <a:t>	</a:t>
            </a:r>
            <a:r>
              <a:rPr lang="en-US" altLang="zh-CN" sz="2000" b="0" i="0" dirty="0">
                <a:solidFill>
                  <a:srgbClr val="F35C70"/>
                </a:solidFill>
                <a:effectLst/>
                <a:latin typeface="-apple-system"/>
              </a:rPr>
              <a:t>arrival</a:t>
            </a:r>
            <a:endParaRPr lang="en-US" altLang="zh-CN" sz="2000" dirty="0">
              <a:solidFill>
                <a:srgbClr val="F35C70"/>
              </a:solidFill>
              <a:latin typeface="-apple-system"/>
            </a:endParaRPr>
          </a:p>
          <a:p>
            <a:r>
              <a:rPr lang="en-US" altLang="zh-CN" sz="2000" b="0" i="0" dirty="0">
                <a:effectLst/>
                <a:latin typeface="-apple-system"/>
              </a:rPr>
              <a:t>Celebrated</a:t>
            </a:r>
            <a:r>
              <a:rPr lang="en-US" altLang="zh-CN" sz="2000" b="0" i="0" dirty="0">
                <a:solidFill>
                  <a:srgbClr val="F35C70"/>
                </a:solidFill>
                <a:effectLst/>
                <a:latin typeface="-apple-system"/>
              </a:rPr>
              <a:t>	</a:t>
            </a:r>
            <a:r>
              <a:rPr lang="zh-CN" altLang="en-US" sz="2000" dirty="0">
                <a:latin typeface="-apple-system"/>
              </a:rPr>
              <a:t>闻名</a:t>
            </a:r>
            <a:r>
              <a:rPr lang="en-US" altLang="zh-CN" sz="2000" b="0" i="0" dirty="0">
                <a:solidFill>
                  <a:srgbClr val="F35C70"/>
                </a:solidFill>
                <a:effectLst/>
                <a:latin typeface="-apple-system"/>
              </a:rPr>
              <a:t>	renowned</a:t>
            </a:r>
          </a:p>
          <a:p>
            <a:r>
              <a:rPr lang="en-US" altLang="zh-CN" sz="2000" b="0" i="0" dirty="0">
                <a:effectLst/>
                <a:latin typeface="-apple-system"/>
              </a:rPr>
              <a:t>Logical		</a:t>
            </a:r>
            <a:r>
              <a:rPr lang="zh-CN" altLang="en-US" sz="2000" dirty="0">
                <a:latin typeface="-apple-system"/>
              </a:rPr>
              <a:t>合理</a:t>
            </a:r>
            <a:r>
              <a:rPr lang="en-US" altLang="zh-CN" sz="2000" b="0" i="0" dirty="0">
                <a:effectLst/>
                <a:latin typeface="-apple-system"/>
              </a:rPr>
              <a:t>	</a:t>
            </a:r>
            <a:r>
              <a:rPr lang="en-US" altLang="zh-CN" sz="2000" b="0" i="0" dirty="0">
                <a:solidFill>
                  <a:srgbClr val="F35C70"/>
                </a:solidFill>
                <a:effectLst/>
                <a:latin typeface="-apple-system"/>
              </a:rPr>
              <a:t>reasonable</a:t>
            </a:r>
            <a:endParaRPr lang="en-US" altLang="zh-CN" sz="2000" dirty="0">
              <a:solidFill>
                <a:srgbClr val="F35C70"/>
              </a:solidFill>
              <a:latin typeface="-apple-system"/>
            </a:endParaRPr>
          </a:p>
          <a:p>
            <a:r>
              <a:rPr lang="en-US" altLang="zh-CN" sz="2000" b="0" i="0" dirty="0">
                <a:effectLst/>
                <a:latin typeface="-apple-system"/>
              </a:rPr>
              <a:t>Impressive         </a:t>
            </a:r>
            <a:r>
              <a:rPr lang="zh-CN" altLang="en-US" sz="2000" dirty="0">
                <a:latin typeface="-apple-system"/>
              </a:rPr>
              <a:t>印象深刻</a:t>
            </a:r>
            <a:r>
              <a:rPr lang="en-US" altLang="zh-CN" sz="2000" b="0" i="0" dirty="0">
                <a:effectLst/>
                <a:latin typeface="-apple-system"/>
              </a:rPr>
              <a:t>	</a:t>
            </a:r>
            <a:r>
              <a:rPr lang="en-US" altLang="zh-CN" sz="2000" b="0" i="0" dirty="0">
                <a:solidFill>
                  <a:srgbClr val="F35C70"/>
                </a:solidFill>
                <a:effectLst/>
                <a:latin typeface="-apple-system"/>
              </a:rPr>
              <a:t>remarkable	</a:t>
            </a:r>
            <a:endParaRPr lang="en-US" altLang="zh-CN" sz="2000" dirty="0">
              <a:solidFill>
                <a:srgbClr val="F35C70"/>
              </a:solidFill>
              <a:latin typeface="-apple-system"/>
            </a:endParaRPr>
          </a:p>
          <a:p>
            <a:r>
              <a:rPr lang="en-US" altLang="zh-CN" sz="2000" b="0" i="0" dirty="0">
                <a:effectLst/>
                <a:latin typeface="-apple-system"/>
              </a:rPr>
              <a:t>Patron		</a:t>
            </a:r>
            <a:r>
              <a:rPr lang="zh-CN" altLang="en-US" sz="2000" dirty="0">
                <a:latin typeface="-apple-system"/>
              </a:rPr>
              <a:t>赞助商</a:t>
            </a:r>
            <a:r>
              <a:rPr lang="en-US" altLang="zh-CN" sz="2000" b="0" i="0" dirty="0">
                <a:effectLst/>
                <a:latin typeface="-apple-system"/>
              </a:rPr>
              <a:t>	</a:t>
            </a:r>
            <a:r>
              <a:rPr lang="en-US" altLang="zh-CN" sz="2000" b="0" i="0" dirty="0">
                <a:solidFill>
                  <a:srgbClr val="F35C70"/>
                </a:solidFill>
                <a:effectLst/>
                <a:latin typeface="-apple-system"/>
              </a:rPr>
              <a:t>sponsor</a:t>
            </a:r>
          </a:p>
          <a:p>
            <a:r>
              <a:rPr lang="en-US" altLang="zh-CN" sz="2000" b="0" i="0" dirty="0">
                <a:effectLst/>
                <a:latin typeface="-apple-system"/>
              </a:rPr>
              <a:t>Especially</a:t>
            </a:r>
            <a:r>
              <a:rPr lang="en-US" altLang="zh-CN" sz="2000" dirty="0">
                <a:solidFill>
                  <a:srgbClr val="F35C70"/>
                </a:solidFill>
                <a:latin typeface="-apple-system"/>
              </a:rPr>
              <a:t>	</a:t>
            </a:r>
            <a:r>
              <a:rPr lang="zh-CN" altLang="en-US" sz="2000" dirty="0">
                <a:latin typeface="-apple-system"/>
              </a:rPr>
              <a:t>特别</a:t>
            </a:r>
            <a:r>
              <a:rPr lang="en-US" altLang="zh-CN" sz="2000" dirty="0">
                <a:solidFill>
                  <a:srgbClr val="F35C70"/>
                </a:solidFill>
                <a:latin typeface="-apple-system"/>
              </a:rPr>
              <a:t>	</a:t>
            </a:r>
            <a:r>
              <a:rPr lang="en-US" altLang="zh-CN" sz="2000" b="0" i="0" dirty="0">
                <a:solidFill>
                  <a:srgbClr val="F35C70"/>
                </a:solidFill>
                <a:effectLst/>
                <a:latin typeface="-apple-system"/>
              </a:rPr>
              <a:t>particularly</a:t>
            </a:r>
            <a:endParaRPr lang="en-US" altLang="zh-CN" sz="2000" dirty="0">
              <a:solidFill>
                <a:srgbClr val="F35C70"/>
              </a:solidFill>
              <a:latin typeface="-apple-system"/>
            </a:endParaRPr>
          </a:p>
          <a:p>
            <a:r>
              <a:rPr lang="en-US" altLang="zh-CN" sz="2000" b="0" i="0" dirty="0">
                <a:effectLst/>
                <a:latin typeface="-apple-system"/>
              </a:rPr>
              <a:t>Memorable</a:t>
            </a:r>
            <a:r>
              <a:rPr lang="en-US" altLang="zh-CN" sz="2000" b="0" i="0" dirty="0">
                <a:solidFill>
                  <a:srgbClr val="F35C70"/>
                </a:solidFill>
                <a:effectLst/>
                <a:latin typeface="-apple-system"/>
              </a:rPr>
              <a:t>	</a:t>
            </a:r>
            <a:r>
              <a:rPr lang="zh-CN" altLang="en-US" sz="2000" dirty="0">
                <a:latin typeface="-apple-system"/>
              </a:rPr>
              <a:t>难忘</a:t>
            </a:r>
            <a:r>
              <a:rPr lang="en-US" altLang="zh-CN" sz="2000" b="0" i="0" dirty="0">
                <a:solidFill>
                  <a:srgbClr val="F35C70"/>
                </a:solidFill>
                <a:effectLst/>
                <a:latin typeface="-apple-system"/>
              </a:rPr>
              <a:t>	unforgettable</a:t>
            </a:r>
          </a:p>
          <a:p>
            <a:r>
              <a:rPr lang="en-US" altLang="zh-CN" sz="2000" b="0" i="0" dirty="0">
                <a:effectLst/>
                <a:latin typeface="-apple-system"/>
              </a:rPr>
              <a:t>Alter</a:t>
            </a:r>
            <a:r>
              <a:rPr lang="en-US" altLang="zh-CN" sz="2000" dirty="0">
                <a:solidFill>
                  <a:srgbClr val="F35C70"/>
                </a:solidFill>
                <a:latin typeface="-apple-system"/>
              </a:rPr>
              <a:t>		</a:t>
            </a:r>
            <a:r>
              <a:rPr lang="zh-CN" altLang="en-US" sz="2000" dirty="0">
                <a:latin typeface="-apple-system"/>
              </a:rPr>
              <a:t>更改</a:t>
            </a:r>
            <a:r>
              <a:rPr lang="en-US" altLang="zh-CN" sz="2000" dirty="0">
                <a:solidFill>
                  <a:srgbClr val="F35C70"/>
                </a:solidFill>
                <a:latin typeface="-apple-system"/>
              </a:rPr>
              <a:t>	</a:t>
            </a:r>
            <a:r>
              <a:rPr lang="en-US" altLang="zh-CN" sz="2000" b="0" i="0" dirty="0">
                <a:solidFill>
                  <a:srgbClr val="F35C70"/>
                </a:solidFill>
                <a:effectLst/>
                <a:latin typeface="-apple-system"/>
              </a:rPr>
              <a:t>change</a:t>
            </a:r>
            <a:endParaRPr lang="en-US" altLang="zh-CN" sz="2000" dirty="0">
              <a:solidFill>
                <a:srgbClr val="F35C70"/>
              </a:solidFill>
              <a:latin typeface="-apple-system"/>
            </a:endParaRPr>
          </a:p>
          <a:p>
            <a:r>
              <a:rPr lang="en-US" altLang="zh-CN" sz="2000" b="0" i="0" dirty="0">
                <a:effectLst/>
                <a:latin typeface="-apple-system"/>
              </a:rPr>
              <a:t>Subtle</a:t>
            </a:r>
            <a:r>
              <a:rPr lang="en-US" altLang="zh-CN" sz="2000" b="0" i="0" dirty="0">
                <a:solidFill>
                  <a:srgbClr val="F35C70"/>
                </a:solidFill>
                <a:effectLst/>
                <a:latin typeface="-apple-system"/>
              </a:rPr>
              <a:t>		</a:t>
            </a:r>
            <a:r>
              <a:rPr lang="zh-CN" altLang="en-US" sz="2000" dirty="0">
                <a:latin typeface="-apple-system"/>
              </a:rPr>
              <a:t>低调</a:t>
            </a:r>
            <a:r>
              <a:rPr lang="en-US" altLang="zh-CN" sz="2000" b="0" i="0" dirty="0">
                <a:solidFill>
                  <a:srgbClr val="F35C70"/>
                </a:solidFill>
                <a:effectLst/>
                <a:latin typeface="-apple-system"/>
              </a:rPr>
              <a:t>	understated</a:t>
            </a:r>
          </a:p>
          <a:p>
            <a:r>
              <a:rPr lang="en-US" altLang="zh-CN" sz="2000" b="0" i="0" dirty="0">
                <a:effectLst/>
                <a:latin typeface="-apple-system"/>
              </a:rPr>
              <a:t>Arrival</a:t>
            </a:r>
            <a:r>
              <a:rPr lang="en-US" altLang="zh-CN" sz="2000" dirty="0">
                <a:solidFill>
                  <a:srgbClr val="F35C70"/>
                </a:solidFill>
                <a:latin typeface="-apple-system"/>
              </a:rPr>
              <a:t>		</a:t>
            </a:r>
            <a:r>
              <a:rPr lang="zh-CN" altLang="en-US" sz="2000" dirty="0">
                <a:latin typeface="-apple-system"/>
              </a:rPr>
              <a:t>出现</a:t>
            </a:r>
            <a:r>
              <a:rPr lang="en-US" altLang="zh-CN" sz="2000" dirty="0">
                <a:solidFill>
                  <a:srgbClr val="F35C70"/>
                </a:solidFill>
                <a:latin typeface="-apple-system"/>
              </a:rPr>
              <a:t>	</a:t>
            </a:r>
            <a:r>
              <a:rPr lang="en-US" altLang="zh-CN" sz="2000" b="0" i="0" dirty="0">
                <a:solidFill>
                  <a:srgbClr val="F35C70"/>
                </a:solidFill>
                <a:effectLst/>
                <a:latin typeface="-apple-system"/>
              </a:rPr>
              <a:t>emergence</a:t>
            </a:r>
            <a:endParaRPr lang="en-US" altLang="zh-CN" sz="2000" dirty="0">
              <a:solidFill>
                <a:srgbClr val="F35C70"/>
              </a:solidFill>
              <a:latin typeface="-apple-system"/>
            </a:endParaRPr>
          </a:p>
          <a:p>
            <a:r>
              <a:rPr lang="en-US" altLang="zh-CN" sz="2000" b="0" i="0" dirty="0">
                <a:effectLst/>
                <a:latin typeface="-apple-system"/>
              </a:rPr>
              <a:t>Pioneers</a:t>
            </a:r>
            <a:r>
              <a:rPr lang="en-US" altLang="zh-CN" sz="2000" b="0" i="0" dirty="0">
                <a:solidFill>
                  <a:srgbClr val="F35C70"/>
                </a:solidFill>
                <a:effectLst/>
                <a:latin typeface="-apple-system"/>
              </a:rPr>
              <a:t>		</a:t>
            </a:r>
            <a:r>
              <a:rPr lang="zh-CN" altLang="en-US" sz="2000" dirty="0">
                <a:latin typeface="-apple-system"/>
              </a:rPr>
              <a:t>开拓者</a:t>
            </a:r>
            <a:r>
              <a:rPr lang="en-US" altLang="zh-CN" sz="2000" b="0" i="0" dirty="0">
                <a:solidFill>
                  <a:srgbClr val="F35C70"/>
                </a:solidFill>
                <a:effectLst/>
                <a:latin typeface="-apple-system"/>
              </a:rPr>
              <a:t>	innovators</a:t>
            </a:r>
          </a:p>
          <a:p>
            <a:r>
              <a:rPr lang="en-US" altLang="zh-CN" sz="2000" b="0" i="0" dirty="0">
                <a:effectLst/>
                <a:latin typeface="-apple-system"/>
              </a:rPr>
              <a:t>Emerge</a:t>
            </a:r>
            <a:r>
              <a:rPr lang="en-US" altLang="zh-CN" sz="2000" dirty="0">
                <a:solidFill>
                  <a:srgbClr val="F35C70"/>
                </a:solidFill>
                <a:latin typeface="-apple-system"/>
              </a:rPr>
              <a:t>		</a:t>
            </a:r>
            <a:r>
              <a:rPr lang="zh-CN" altLang="en-US" sz="2000" dirty="0">
                <a:latin typeface="-apple-system"/>
              </a:rPr>
              <a:t>浮出</a:t>
            </a:r>
            <a:r>
              <a:rPr lang="en-US" altLang="zh-CN" sz="2000" dirty="0">
                <a:solidFill>
                  <a:srgbClr val="F35C70"/>
                </a:solidFill>
                <a:latin typeface="-apple-system"/>
              </a:rPr>
              <a:t>	</a:t>
            </a:r>
            <a:r>
              <a:rPr lang="en-US" altLang="zh-CN" sz="2000" b="0" i="0" dirty="0">
                <a:solidFill>
                  <a:srgbClr val="F35C70"/>
                </a:solidFill>
                <a:effectLst/>
                <a:latin typeface="-apple-system"/>
              </a:rPr>
              <a:t>surface</a:t>
            </a:r>
            <a:endParaRPr lang="en-US" altLang="zh-CN" sz="2000" dirty="0">
              <a:solidFill>
                <a:srgbClr val="F35C70"/>
              </a:solidFill>
              <a:latin typeface="-apple-system"/>
            </a:endParaRPr>
          </a:p>
          <a:p>
            <a:r>
              <a:rPr lang="en-US" altLang="zh-CN" sz="2000" b="0" i="0" dirty="0">
                <a:effectLst/>
                <a:latin typeface="-apple-system"/>
              </a:rPr>
              <a:t>Autobiographies	</a:t>
            </a:r>
            <a:r>
              <a:rPr lang="zh-CN" altLang="en-US" sz="2000" dirty="0">
                <a:latin typeface="-apple-system"/>
              </a:rPr>
              <a:t>自传</a:t>
            </a:r>
            <a:r>
              <a:rPr lang="en-US" altLang="zh-CN" sz="2000" b="0" i="0" dirty="0">
                <a:effectLst/>
                <a:latin typeface="-apple-system"/>
              </a:rPr>
              <a:t>	</a:t>
            </a:r>
            <a:r>
              <a:rPr lang="en-US" altLang="zh-CN" sz="2000" b="0" i="0" dirty="0">
                <a:solidFill>
                  <a:srgbClr val="F35C70"/>
                </a:solidFill>
                <a:effectLst/>
                <a:latin typeface="-apple-system"/>
              </a:rPr>
              <a:t>personal histories</a:t>
            </a:r>
          </a:p>
          <a:p>
            <a:r>
              <a:rPr lang="en-US" altLang="zh-CN" sz="2000" b="0" i="0" dirty="0">
                <a:effectLst/>
                <a:latin typeface="-apple-system"/>
              </a:rPr>
              <a:t>Prone</a:t>
            </a:r>
            <a:r>
              <a:rPr lang="en-US" altLang="zh-CN" sz="2000" dirty="0">
                <a:solidFill>
                  <a:srgbClr val="F35C70"/>
                </a:solidFill>
                <a:latin typeface="-apple-system"/>
              </a:rPr>
              <a:t>		</a:t>
            </a:r>
            <a:r>
              <a:rPr lang="zh-CN" altLang="en-US" sz="2000" dirty="0">
                <a:latin typeface="-apple-system"/>
              </a:rPr>
              <a:t>倾斜</a:t>
            </a:r>
            <a:r>
              <a:rPr lang="en-US" altLang="zh-CN" sz="2000" dirty="0">
                <a:solidFill>
                  <a:srgbClr val="F35C70"/>
                </a:solidFill>
                <a:latin typeface="-apple-system"/>
              </a:rPr>
              <a:t>	</a:t>
            </a:r>
            <a:r>
              <a:rPr lang="en-US" altLang="zh-CN" sz="2000" b="0" i="0" dirty="0">
                <a:solidFill>
                  <a:srgbClr val="F35C70"/>
                </a:solidFill>
                <a:effectLst/>
                <a:latin typeface="-apple-system"/>
              </a:rPr>
              <a:t>inclined</a:t>
            </a:r>
            <a:endParaRPr lang="en-US" altLang="zh-CN" sz="2000" dirty="0">
              <a:solidFill>
                <a:srgbClr val="F35C70"/>
              </a:solidFill>
              <a:latin typeface="-apple-system"/>
            </a:endParaRPr>
          </a:p>
          <a:p>
            <a:endParaRPr lang="en-US" altLang="zh-CN" sz="2000" dirty="0">
              <a:solidFill>
                <a:srgbClr val="F35C70"/>
              </a:solidFill>
              <a:latin typeface="-apple-system"/>
            </a:endParaRPr>
          </a:p>
          <a:p>
            <a:r>
              <a:rPr lang="en-US" altLang="zh-CN" sz="2000" dirty="0">
                <a:solidFill>
                  <a:srgbClr val="F35C70"/>
                </a:solidFill>
                <a:latin typeface="-apple-system"/>
              </a:rPr>
              <a:t>	</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5B</a:t>
            </a:r>
            <a:endParaRPr lang="zh-CN" altLang="en-US" dirty="0"/>
          </a:p>
        </p:txBody>
      </p:sp>
    </p:spTree>
    <p:extLst>
      <p:ext uri="{BB962C8B-B14F-4D97-AF65-F5344CB8AC3E}">
        <p14:creationId xmlns:p14="http://schemas.microsoft.com/office/powerpoint/2010/main" val="493022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5958739" cy="6986528"/>
          </a:xfrm>
          <a:prstGeom prst="rect">
            <a:avLst/>
          </a:prstGeom>
          <a:noFill/>
        </p:spPr>
        <p:txBody>
          <a:bodyPr wrap="square" rtlCol="0">
            <a:spAutoFit/>
          </a:bodyPr>
          <a:lstStyle/>
          <a:p>
            <a:pPr algn="just"/>
            <a:r>
              <a:rPr lang="en-US" altLang="zh-CN" sz="1400" b="1" i="0" dirty="0">
                <a:effectLst/>
                <a:latin typeface="-apple-system"/>
              </a:rPr>
              <a:t>Professor</a:t>
            </a:r>
            <a:r>
              <a:rPr lang="en-US" altLang="zh-CN" sz="1400" b="0" i="0" dirty="0">
                <a:effectLst/>
                <a:latin typeface="-apple-system"/>
              </a:rPr>
              <a:t>  Can anyone tell me the name of the most significant movement in 18th-century European </a:t>
            </a:r>
            <a:r>
              <a:rPr lang="en-US" altLang="zh-CN" sz="1400" b="1" i="0" dirty="0">
                <a:effectLst/>
                <a:latin typeface="-apple-system"/>
              </a:rPr>
              <a:t>philosophy</a:t>
            </a:r>
            <a:r>
              <a:rPr lang="en-US" altLang="zh-CN" sz="1400" b="0" i="0" dirty="0">
                <a:effectLst/>
                <a:latin typeface="-apple-system"/>
              </a:rPr>
              <a:t>?</a:t>
            </a:r>
          </a:p>
          <a:p>
            <a:pPr algn="just"/>
            <a:r>
              <a:rPr lang="en-US" altLang="zh-CN" sz="1400" b="1" i="0" dirty="0">
                <a:effectLst/>
                <a:latin typeface="-apple-system"/>
              </a:rPr>
              <a:t>Student</a:t>
            </a:r>
            <a:r>
              <a:rPr lang="en-US" altLang="zh-CN" sz="1400" b="0" i="0" dirty="0">
                <a:effectLst/>
                <a:latin typeface="-apple-system"/>
              </a:rPr>
              <a:t>  I know; I believe you’re referring to the Enlightenment, right?</a:t>
            </a:r>
          </a:p>
          <a:p>
            <a:pPr algn="just"/>
            <a:r>
              <a:rPr lang="en-US" altLang="zh-CN" sz="1400" b="1" i="0" dirty="0">
                <a:effectLst/>
                <a:latin typeface="-apple-system"/>
              </a:rPr>
              <a:t>Professor</a:t>
            </a:r>
            <a:r>
              <a:rPr lang="en-US" altLang="zh-CN" sz="1400" b="0" i="0" dirty="0">
                <a:effectLst/>
                <a:latin typeface="-apple-system"/>
              </a:rPr>
              <a:t>  Right! Are you familiar with the </a:t>
            </a:r>
            <a:r>
              <a:rPr lang="en-US" altLang="zh-CN" sz="1400" b="1" i="0" dirty="0">
                <a:effectLst/>
                <a:latin typeface="-apple-system"/>
              </a:rPr>
              <a:t>moral</a:t>
            </a:r>
            <a:r>
              <a:rPr lang="en-US" altLang="zh-CN" sz="1400" b="0" i="0" dirty="0">
                <a:effectLst/>
                <a:latin typeface="-apple-system"/>
              </a:rPr>
              <a:t> issues that were often raised by authors during that movement?</a:t>
            </a:r>
          </a:p>
          <a:p>
            <a:pPr algn="just"/>
            <a:r>
              <a:rPr lang="en-US" altLang="zh-CN" sz="1400" b="1" i="0" dirty="0">
                <a:effectLst/>
                <a:latin typeface="-apple-system"/>
              </a:rPr>
              <a:t>Student </a:t>
            </a:r>
            <a:r>
              <a:rPr lang="en-US" altLang="zh-CN" sz="1400" b="0" i="0" dirty="0">
                <a:effectLst/>
                <a:latin typeface="-apple-system"/>
              </a:rPr>
              <a:t> Well, we’ve all heard of the theory of the social </a:t>
            </a:r>
            <a:r>
              <a:rPr lang="en-US" altLang="zh-CN" sz="1400" b="1" i="0" dirty="0">
                <a:effectLst/>
                <a:latin typeface="-apple-system"/>
              </a:rPr>
              <a:t>contract</a:t>
            </a:r>
            <a:r>
              <a:rPr lang="en-US" altLang="zh-CN" sz="1400" b="0" i="0" dirty="0">
                <a:effectLst/>
                <a:latin typeface="-apple-system"/>
              </a:rPr>
              <a:t>, but could you explain the concept to us a bit more fully?</a:t>
            </a:r>
          </a:p>
          <a:p>
            <a:pPr algn="just"/>
            <a:r>
              <a:rPr lang="en-US" altLang="zh-CN" sz="1400" b="1" i="0" dirty="0">
                <a:effectLst/>
                <a:latin typeface="-apple-system"/>
              </a:rPr>
              <a:t>Professor</a:t>
            </a:r>
            <a:r>
              <a:rPr lang="en-US" altLang="zh-CN" sz="1400" b="0" i="0" dirty="0">
                <a:effectLst/>
                <a:latin typeface="-apple-system"/>
              </a:rPr>
              <a:t>  Err, it’s the idea that society is essentially a contract between an individual and the state... A </a:t>
            </a:r>
            <a:r>
              <a:rPr lang="en-US" altLang="zh-CN" sz="1400" b="1" i="0" dirty="0">
                <a:effectLst/>
                <a:latin typeface="-apple-system"/>
              </a:rPr>
              <a:t>powerful</a:t>
            </a:r>
            <a:r>
              <a:rPr lang="en-US" altLang="zh-CN" sz="1400" b="0" i="0" dirty="0">
                <a:effectLst/>
                <a:latin typeface="-apple-system"/>
              </a:rPr>
              <a:t> theory!</a:t>
            </a:r>
          </a:p>
          <a:p>
            <a:pPr algn="just"/>
            <a:r>
              <a:rPr lang="en-US" altLang="zh-CN" sz="1400" b="1" i="0" dirty="0">
                <a:effectLst/>
                <a:latin typeface="-apple-system"/>
              </a:rPr>
              <a:t>Student</a:t>
            </a:r>
            <a:r>
              <a:rPr lang="en-US" altLang="zh-CN" sz="1400" b="0" i="0" dirty="0">
                <a:effectLst/>
                <a:latin typeface="-apple-system"/>
              </a:rPr>
              <a:t>  Clichéd as it might sound, it’s difficult to believe that ideas from centuries ago still have so much impact and </a:t>
            </a:r>
            <a:r>
              <a:rPr lang="en-US" altLang="zh-CN" sz="1400" b="1" i="0" dirty="0">
                <a:effectLst/>
                <a:latin typeface="-apple-system"/>
              </a:rPr>
              <a:t>merit</a:t>
            </a:r>
            <a:r>
              <a:rPr lang="en-US" altLang="zh-CN" sz="1400" b="0" i="0" dirty="0">
                <a:effectLst/>
                <a:latin typeface="-apple-system"/>
              </a:rPr>
              <a:t> today!</a:t>
            </a:r>
          </a:p>
          <a:p>
            <a:pPr algn="just"/>
            <a:r>
              <a:rPr lang="en-US" altLang="zh-CN" sz="1400" b="1" i="0" dirty="0">
                <a:effectLst/>
                <a:latin typeface="-apple-system"/>
              </a:rPr>
              <a:t>Professor</a:t>
            </a:r>
            <a:r>
              <a:rPr lang="en-US" altLang="zh-CN" sz="1400" b="0" i="0" dirty="0">
                <a:effectLst/>
                <a:latin typeface="-apple-system"/>
              </a:rPr>
              <a:t>  Are you really that </a:t>
            </a:r>
            <a:r>
              <a:rPr lang="en-US" altLang="zh-CN" sz="1400" b="1" i="0" dirty="0">
                <a:effectLst/>
                <a:latin typeface="-apple-system"/>
              </a:rPr>
              <a:t>incredulous</a:t>
            </a:r>
            <a:r>
              <a:rPr lang="en-US" altLang="zh-CN" sz="1400" b="0" i="0" dirty="0">
                <a:effectLst/>
                <a:latin typeface="-apple-system"/>
              </a:rPr>
              <a:t>? Almost all ideas take years and years to evolve.</a:t>
            </a:r>
          </a:p>
          <a:p>
            <a:pPr algn="just"/>
            <a:r>
              <a:rPr lang="en-US" altLang="zh-CN" sz="1400" b="1" i="0" dirty="0">
                <a:effectLst/>
                <a:latin typeface="-apple-system"/>
              </a:rPr>
              <a:t>Student</a:t>
            </a:r>
            <a:r>
              <a:rPr lang="en-US" altLang="zh-CN" sz="1400" b="0" i="0" dirty="0">
                <a:effectLst/>
                <a:latin typeface="-apple-system"/>
              </a:rPr>
              <a:t>  I guess that makes sense. I just needed you to </a:t>
            </a:r>
            <a:r>
              <a:rPr lang="en-US" altLang="zh-CN" sz="1400" b="1" i="0" dirty="0">
                <a:effectLst/>
                <a:latin typeface="-apple-system"/>
              </a:rPr>
              <a:t>situate</a:t>
            </a:r>
            <a:r>
              <a:rPr lang="en-US" altLang="zh-CN" sz="1400" b="0" i="0" dirty="0">
                <a:effectLst/>
                <a:latin typeface="-apple-system"/>
              </a:rPr>
              <a:t> me in the larger historical context.</a:t>
            </a:r>
          </a:p>
          <a:p>
            <a:pPr algn="just"/>
            <a:r>
              <a:rPr lang="en-US" altLang="zh-CN" sz="1400" b="1" i="0" dirty="0">
                <a:effectLst/>
                <a:latin typeface="-apple-system"/>
              </a:rPr>
              <a:t>Professor</a:t>
            </a:r>
            <a:r>
              <a:rPr lang="en-US" altLang="zh-CN" sz="1400" b="0" i="0" dirty="0">
                <a:effectLst/>
                <a:latin typeface="-apple-system"/>
              </a:rPr>
              <a:t>  Well, the ideas of Jean Jacques Rousseau and Thomas Jefferson are virtually </a:t>
            </a:r>
            <a:r>
              <a:rPr lang="en-US" altLang="zh-CN" sz="1400" b="1" i="0" dirty="0">
                <a:effectLst/>
                <a:latin typeface="-apple-system"/>
              </a:rPr>
              <a:t>omnipresent</a:t>
            </a:r>
            <a:r>
              <a:rPr lang="en-US" altLang="zh-CN" sz="1400" b="0" i="0" dirty="0">
                <a:effectLst/>
                <a:latin typeface="-apple-system"/>
              </a:rPr>
              <a:t> in the politics of modern democracies.</a:t>
            </a:r>
          </a:p>
          <a:p>
            <a:pPr algn="just"/>
            <a:r>
              <a:rPr lang="en-US" altLang="zh-CN" sz="1400" b="1" i="0" dirty="0">
                <a:effectLst/>
                <a:latin typeface="-apple-system"/>
              </a:rPr>
              <a:t>Student</a:t>
            </a:r>
            <a:r>
              <a:rPr lang="en-US" altLang="zh-CN" sz="1400" b="0" i="0" dirty="0">
                <a:effectLst/>
                <a:latin typeface="-apple-system"/>
              </a:rPr>
              <a:t>  I can see why these Enlightenment thinkers are more than </a:t>
            </a:r>
            <a:r>
              <a:rPr lang="en-US" altLang="zh-CN" sz="1400" b="1" i="0" dirty="0">
                <a:effectLst/>
                <a:latin typeface="-apple-system"/>
              </a:rPr>
              <a:t>mere</a:t>
            </a:r>
            <a:r>
              <a:rPr lang="en-US" altLang="zh-CN" sz="1400" b="0" i="0" dirty="0">
                <a:effectLst/>
                <a:latin typeface="-apple-system"/>
              </a:rPr>
              <a:t> historical figures; they really did shape modern society.</a:t>
            </a:r>
          </a:p>
          <a:p>
            <a:pPr algn="just"/>
            <a:r>
              <a:rPr lang="en-US" altLang="zh-CN" sz="1400" b="1" i="0" dirty="0">
                <a:effectLst/>
                <a:latin typeface="-apple-system"/>
              </a:rPr>
              <a:t>Professor</a:t>
            </a:r>
            <a:r>
              <a:rPr lang="en-US" altLang="zh-CN" sz="1400" b="0" i="0" dirty="0">
                <a:effectLst/>
                <a:latin typeface="-apple-system"/>
              </a:rPr>
              <a:t>  Yes, our concept of </a:t>
            </a:r>
            <a:r>
              <a:rPr lang="en-US" altLang="zh-CN" sz="1400" b="1" i="0" dirty="0">
                <a:effectLst/>
                <a:latin typeface="-apple-system"/>
              </a:rPr>
              <a:t>equality</a:t>
            </a:r>
            <a:r>
              <a:rPr lang="en-US" altLang="zh-CN" sz="1400" b="0" i="0" dirty="0">
                <a:effectLst/>
                <a:latin typeface="-apple-system"/>
              </a:rPr>
              <a:t> is an outgrowth of the Enlightenment, which advocates centrality of freedom, democracy, and reason as primary social values.</a:t>
            </a:r>
          </a:p>
          <a:p>
            <a:pPr algn="just"/>
            <a:r>
              <a:rPr lang="en-US" altLang="zh-CN" sz="1400" b="1" i="0" dirty="0">
                <a:effectLst/>
                <a:latin typeface="-apple-system"/>
              </a:rPr>
              <a:t>Student</a:t>
            </a:r>
            <a:r>
              <a:rPr lang="en-US" altLang="zh-CN" sz="1400" b="0" i="0" dirty="0">
                <a:effectLst/>
                <a:latin typeface="-apple-system"/>
              </a:rPr>
              <a:t>  Those really are values that we still hold virtually </a:t>
            </a:r>
            <a:r>
              <a:rPr lang="en-US" altLang="zh-CN" sz="1400" b="1" i="0" dirty="0">
                <a:effectLst/>
                <a:latin typeface="-apple-system"/>
              </a:rPr>
              <a:t>sacred</a:t>
            </a:r>
            <a:r>
              <a:rPr lang="en-US" altLang="zh-CN" sz="1400" b="0" i="0" dirty="0">
                <a:effectLst/>
                <a:latin typeface="-apple-system"/>
              </a:rPr>
              <a:t> today. I wonder, what was the church’s response to this unorthodox way of thinking?</a:t>
            </a:r>
          </a:p>
          <a:p>
            <a:pPr algn="just"/>
            <a:r>
              <a:rPr lang="en-US" altLang="zh-CN" sz="1400" b="1" i="0" dirty="0">
                <a:effectLst/>
                <a:latin typeface="-apple-system"/>
              </a:rPr>
              <a:t>Professor </a:t>
            </a:r>
            <a:r>
              <a:rPr lang="en-US" altLang="zh-CN" sz="1400" b="0" i="0" dirty="0">
                <a:effectLst/>
                <a:latin typeface="-apple-system"/>
              </a:rPr>
              <a:t> I’d like you to </a:t>
            </a:r>
            <a:r>
              <a:rPr lang="en-US" altLang="zh-CN" sz="1400" b="1" i="0" dirty="0">
                <a:effectLst/>
                <a:latin typeface="-apple-system"/>
              </a:rPr>
              <a:t>obtain</a:t>
            </a:r>
            <a:r>
              <a:rPr lang="en-US" altLang="zh-CN" sz="1400" b="0" i="0" dirty="0">
                <a:effectLst/>
                <a:latin typeface="-apple-system"/>
              </a:rPr>
              <a:t> that information on your own. I will tell you, though, that there were two main 18th century theories concerning the relationship between religion and politics: divine right and natural law.</a:t>
            </a:r>
          </a:p>
          <a:p>
            <a:pPr algn="just"/>
            <a:r>
              <a:rPr lang="en-US" altLang="zh-CN" sz="1400" b="1" i="0" dirty="0">
                <a:effectLst/>
                <a:latin typeface="-apple-system"/>
              </a:rPr>
              <a:t>Student</a:t>
            </a:r>
            <a:r>
              <a:rPr lang="en-US" altLang="zh-CN" sz="1400" b="0" i="0" dirty="0">
                <a:effectLst/>
                <a:latin typeface="-apple-system"/>
              </a:rPr>
              <a:t>  To be honest, I actually had an idea about the answer but wanted to see what new information my question would </a:t>
            </a:r>
            <a:r>
              <a:rPr lang="en-US" altLang="zh-CN" sz="1400" b="1" i="0" dirty="0">
                <a:effectLst/>
                <a:latin typeface="-apple-system"/>
              </a:rPr>
              <a:t>yield</a:t>
            </a:r>
            <a:r>
              <a:rPr lang="en-US" altLang="zh-CN" sz="1400" b="0" i="0" dirty="0">
                <a:effectLst/>
                <a:latin typeface="-apple-system"/>
              </a:rPr>
              <a:t>.</a:t>
            </a:r>
          </a:p>
          <a:p>
            <a:pPr algn="just"/>
            <a:r>
              <a:rPr lang="en-US" altLang="zh-CN" sz="1400" b="1" i="0" dirty="0">
                <a:effectLst/>
                <a:latin typeface="-apple-system"/>
              </a:rPr>
              <a:t>Professor</a:t>
            </a:r>
            <a:r>
              <a:rPr lang="en-US" altLang="zh-CN" sz="1400" b="0" i="0" dirty="0">
                <a:effectLst/>
                <a:latin typeface="-apple-system"/>
              </a:rPr>
              <a:t>  That was generous of you. At the </a:t>
            </a:r>
            <a:r>
              <a:rPr lang="en-US" altLang="zh-CN" sz="1400" b="1" i="0" dirty="0">
                <a:effectLst/>
                <a:latin typeface="-apple-system"/>
              </a:rPr>
              <a:t>rate</a:t>
            </a:r>
            <a:r>
              <a:rPr lang="en-US" altLang="zh-CN" sz="1400" b="0" i="0" dirty="0">
                <a:effectLst/>
                <a:latin typeface="-apple-system"/>
              </a:rPr>
              <a:t> that you’re asking and answering questions today, perhaps a professorial career would be </a:t>
            </a:r>
            <a:r>
              <a:rPr lang="en-US" altLang="zh-CN" sz="1400" b="1" i="0" dirty="0">
                <a:effectLst/>
                <a:latin typeface="-apple-system"/>
              </a:rPr>
              <a:t>deal</a:t>
            </a:r>
            <a:r>
              <a:rPr lang="en-US" altLang="zh-CN" sz="1400" b="0" i="0" dirty="0">
                <a:effectLst/>
                <a:latin typeface="-apple-system"/>
              </a:rPr>
              <a:t> for your future job...</a:t>
            </a:r>
          </a:p>
        </p:txBody>
      </p:sp>
      <p:sp>
        <p:nvSpPr>
          <p:cNvPr id="5" name="文本框 4">
            <a:extLst>
              <a:ext uri="{FF2B5EF4-FFF2-40B4-BE49-F238E27FC236}">
                <a16:creationId xmlns:a16="http://schemas.microsoft.com/office/drawing/2014/main" id="{CB289E3A-941A-01E5-C04B-2510F1CB3EAF}"/>
              </a:ext>
            </a:extLst>
          </p:cNvPr>
          <p:cNvSpPr txBox="1"/>
          <p:nvPr/>
        </p:nvSpPr>
        <p:spPr>
          <a:xfrm>
            <a:off x="6096000" y="658299"/>
            <a:ext cx="5542919" cy="4708981"/>
          </a:xfrm>
          <a:prstGeom prst="rect">
            <a:avLst/>
          </a:prstGeom>
          <a:noFill/>
        </p:spPr>
        <p:txBody>
          <a:bodyPr wrap="square" rtlCol="0">
            <a:spAutoFit/>
          </a:bodyPr>
          <a:lstStyle/>
          <a:p>
            <a:r>
              <a:rPr lang="en-US" altLang="zh-CN" sz="2000" b="0" i="0" dirty="0">
                <a:effectLst/>
                <a:latin typeface="-apple-system"/>
              </a:rPr>
              <a:t>philosophy	</a:t>
            </a:r>
            <a:r>
              <a:rPr lang="zh-CN" altLang="en-US" sz="2000" dirty="0">
                <a:latin typeface="-apple-system"/>
              </a:rPr>
              <a:t>哲学</a:t>
            </a:r>
            <a:r>
              <a:rPr lang="en-US" altLang="zh-CN" sz="2000" b="0" i="0" dirty="0">
                <a:effectLst/>
                <a:latin typeface="-apple-system"/>
              </a:rPr>
              <a:t>	</a:t>
            </a:r>
            <a:r>
              <a:rPr lang="en-US" altLang="zh-CN" sz="2000" b="0" i="0" dirty="0">
                <a:solidFill>
                  <a:srgbClr val="F35C70"/>
                </a:solidFill>
                <a:effectLst/>
                <a:latin typeface="-apple-system"/>
              </a:rPr>
              <a:t>thinking</a:t>
            </a:r>
          </a:p>
          <a:p>
            <a:r>
              <a:rPr lang="en-US" altLang="zh-CN" sz="2000" b="0" i="0" dirty="0">
                <a:effectLst/>
                <a:latin typeface="-apple-system"/>
              </a:rPr>
              <a:t>moral</a:t>
            </a:r>
            <a:r>
              <a:rPr lang="en-US" altLang="zh-CN" sz="2000" dirty="0">
                <a:solidFill>
                  <a:srgbClr val="F35C70"/>
                </a:solidFill>
                <a:latin typeface="-apple-system"/>
              </a:rPr>
              <a:t>		</a:t>
            </a:r>
            <a:r>
              <a:rPr lang="zh-CN" altLang="en-US" sz="2000" dirty="0">
                <a:latin typeface="-apple-system"/>
              </a:rPr>
              <a:t>道德 </a:t>
            </a:r>
            <a:r>
              <a:rPr lang="en-US" altLang="zh-CN" sz="2000" dirty="0">
                <a:solidFill>
                  <a:srgbClr val="F35C70"/>
                </a:solidFill>
                <a:latin typeface="-apple-system"/>
              </a:rPr>
              <a:t>	</a:t>
            </a:r>
            <a:r>
              <a:rPr lang="en-US" altLang="zh-CN" sz="2000" b="0" i="0" dirty="0">
                <a:solidFill>
                  <a:srgbClr val="F35C70"/>
                </a:solidFill>
                <a:effectLst/>
                <a:latin typeface="-apple-system"/>
              </a:rPr>
              <a:t>ethical</a:t>
            </a:r>
          </a:p>
          <a:p>
            <a:r>
              <a:rPr lang="en-US" altLang="zh-CN" sz="2000" b="0" i="0" dirty="0">
                <a:effectLst/>
                <a:latin typeface="-apple-system"/>
              </a:rPr>
              <a:t>Contract		</a:t>
            </a:r>
            <a:r>
              <a:rPr lang="zh-CN" altLang="en-US" sz="2000" dirty="0">
                <a:latin typeface="-apple-system"/>
              </a:rPr>
              <a:t>合同</a:t>
            </a:r>
            <a:r>
              <a:rPr lang="en-US" altLang="zh-CN" sz="2000" b="0" i="0" dirty="0">
                <a:effectLst/>
                <a:latin typeface="-apple-system"/>
              </a:rPr>
              <a:t>	</a:t>
            </a:r>
            <a:r>
              <a:rPr lang="en-US" altLang="zh-CN" sz="2000" b="0" i="0" dirty="0">
                <a:solidFill>
                  <a:srgbClr val="F35C70"/>
                </a:solidFill>
                <a:effectLst/>
                <a:latin typeface="-apple-system"/>
              </a:rPr>
              <a:t>agreement</a:t>
            </a:r>
          </a:p>
          <a:p>
            <a:r>
              <a:rPr lang="en-US" altLang="zh-CN" sz="2000" b="0" i="0" dirty="0">
                <a:effectLst/>
                <a:latin typeface="-apple-system"/>
              </a:rPr>
              <a:t>Powerful</a:t>
            </a:r>
            <a:r>
              <a:rPr lang="en-US" altLang="zh-CN" sz="2000" dirty="0">
                <a:solidFill>
                  <a:srgbClr val="F35C70"/>
                </a:solidFill>
                <a:latin typeface="-apple-system"/>
              </a:rPr>
              <a:t>	</a:t>
            </a:r>
            <a:r>
              <a:rPr lang="zh-CN" altLang="en-US" sz="2000" dirty="0">
                <a:latin typeface="-apple-system"/>
              </a:rPr>
              <a:t>强大</a:t>
            </a:r>
            <a:r>
              <a:rPr lang="en-US" altLang="zh-CN" sz="2000" dirty="0">
                <a:solidFill>
                  <a:srgbClr val="F35C70"/>
                </a:solidFill>
                <a:latin typeface="-apple-system"/>
              </a:rPr>
              <a:t>	</a:t>
            </a:r>
            <a:r>
              <a:rPr lang="en-US" altLang="zh-CN" sz="2000" b="0" i="0" dirty="0">
                <a:solidFill>
                  <a:srgbClr val="F35C70"/>
                </a:solidFill>
                <a:effectLst/>
                <a:latin typeface="-apple-system"/>
              </a:rPr>
              <a:t>influential</a:t>
            </a:r>
            <a:endParaRPr lang="en-US" altLang="zh-CN" sz="2000" dirty="0">
              <a:solidFill>
                <a:srgbClr val="F35C70"/>
              </a:solidFill>
              <a:latin typeface="-apple-system"/>
            </a:endParaRPr>
          </a:p>
          <a:p>
            <a:r>
              <a:rPr lang="en-US" altLang="zh-CN" sz="2000" b="0" i="0" dirty="0">
                <a:effectLst/>
                <a:latin typeface="-apple-system"/>
              </a:rPr>
              <a:t>Merit</a:t>
            </a:r>
            <a:r>
              <a:rPr lang="en-US" altLang="zh-CN" sz="2000" b="0" i="0" dirty="0">
                <a:solidFill>
                  <a:srgbClr val="F35C70"/>
                </a:solidFill>
                <a:effectLst/>
                <a:latin typeface="-apple-system"/>
              </a:rPr>
              <a:t>		</a:t>
            </a:r>
            <a:r>
              <a:rPr lang="zh-CN" altLang="en-US" sz="2000" dirty="0">
                <a:latin typeface="-apple-system"/>
              </a:rPr>
              <a:t>功绩</a:t>
            </a:r>
            <a:r>
              <a:rPr lang="en-US" altLang="zh-CN" sz="2000" b="0" i="0" dirty="0">
                <a:solidFill>
                  <a:srgbClr val="F35C70"/>
                </a:solidFill>
                <a:effectLst/>
                <a:latin typeface="-apple-system"/>
              </a:rPr>
              <a:t>	value</a:t>
            </a:r>
          </a:p>
          <a:p>
            <a:r>
              <a:rPr lang="en-US" altLang="zh-CN" sz="2000" b="0" i="0" dirty="0">
                <a:effectLst/>
                <a:latin typeface="-apple-system"/>
              </a:rPr>
              <a:t>Incredulous	</a:t>
            </a:r>
            <a:r>
              <a:rPr lang="zh-CN" altLang="en-US" sz="2000" dirty="0">
                <a:latin typeface="-apple-system"/>
              </a:rPr>
              <a:t>怀疑</a:t>
            </a:r>
            <a:r>
              <a:rPr lang="en-US" altLang="zh-CN" sz="2000" b="0" i="0" dirty="0">
                <a:effectLst/>
                <a:latin typeface="-apple-system"/>
              </a:rPr>
              <a:t>	</a:t>
            </a:r>
            <a:r>
              <a:rPr lang="en-US" altLang="zh-CN" sz="2000" b="0" i="0" dirty="0">
                <a:solidFill>
                  <a:srgbClr val="F35C70"/>
                </a:solidFill>
                <a:effectLst/>
                <a:latin typeface="-apple-system"/>
              </a:rPr>
              <a:t>skeptical</a:t>
            </a:r>
          </a:p>
          <a:p>
            <a:r>
              <a:rPr lang="en-US" altLang="zh-CN" sz="2000" b="0" i="0" dirty="0">
                <a:effectLst/>
                <a:latin typeface="-apple-system"/>
              </a:rPr>
              <a:t>Situate		</a:t>
            </a:r>
            <a:r>
              <a:rPr lang="zh-CN" altLang="en-US" sz="2000" dirty="0">
                <a:latin typeface="-apple-system"/>
              </a:rPr>
              <a:t>位置</a:t>
            </a:r>
            <a:r>
              <a:rPr lang="en-US" altLang="zh-CN" sz="2000" b="0" i="0" dirty="0">
                <a:effectLst/>
                <a:latin typeface="-apple-system"/>
              </a:rPr>
              <a:t>	</a:t>
            </a:r>
            <a:r>
              <a:rPr lang="en-US" altLang="zh-CN" sz="2000" b="0" i="0" dirty="0">
                <a:solidFill>
                  <a:srgbClr val="F35C70"/>
                </a:solidFill>
                <a:effectLst/>
                <a:latin typeface="-apple-system"/>
              </a:rPr>
              <a:t>position</a:t>
            </a:r>
          </a:p>
          <a:p>
            <a:r>
              <a:rPr lang="en-US" altLang="zh-CN" sz="2000" b="0" i="0" dirty="0">
                <a:effectLst/>
                <a:latin typeface="-apple-system"/>
              </a:rPr>
              <a:t>Omnipresent</a:t>
            </a:r>
            <a:r>
              <a:rPr lang="en-US" altLang="zh-CN" sz="2000" dirty="0">
                <a:solidFill>
                  <a:srgbClr val="F35C70"/>
                </a:solidFill>
                <a:latin typeface="-apple-system"/>
              </a:rPr>
              <a:t>	</a:t>
            </a:r>
            <a:r>
              <a:rPr lang="zh-CN" altLang="en-US" sz="2000" dirty="0">
                <a:latin typeface="-apple-system"/>
              </a:rPr>
              <a:t>通用</a:t>
            </a:r>
            <a:r>
              <a:rPr lang="en-US" altLang="zh-CN" sz="2000" dirty="0">
                <a:solidFill>
                  <a:srgbClr val="F35C70"/>
                </a:solidFill>
                <a:latin typeface="-apple-system"/>
              </a:rPr>
              <a:t>	</a:t>
            </a:r>
            <a:r>
              <a:rPr lang="en-US" altLang="zh-CN" sz="2000" b="0" i="0" dirty="0">
                <a:solidFill>
                  <a:srgbClr val="F35C70"/>
                </a:solidFill>
                <a:effectLst/>
                <a:latin typeface="-apple-system"/>
              </a:rPr>
              <a:t>universal</a:t>
            </a:r>
            <a:r>
              <a:rPr lang="en-US" altLang="zh-CN" sz="2000" dirty="0">
                <a:solidFill>
                  <a:srgbClr val="F35C70"/>
                </a:solidFill>
                <a:latin typeface="-apple-system"/>
              </a:rPr>
              <a:t>	</a:t>
            </a:r>
          </a:p>
          <a:p>
            <a:r>
              <a:rPr lang="en-US" altLang="zh-CN" sz="2000" b="0" i="0" dirty="0">
                <a:effectLst/>
                <a:latin typeface="-apple-system"/>
              </a:rPr>
              <a:t>Mere		</a:t>
            </a:r>
            <a:r>
              <a:rPr lang="zh-CN" altLang="en-US" sz="2000" dirty="0">
                <a:latin typeface="-apple-system"/>
              </a:rPr>
              <a:t>单纯</a:t>
            </a:r>
            <a:r>
              <a:rPr lang="en-US" altLang="zh-CN" sz="2000" b="0" i="0" dirty="0">
                <a:effectLst/>
                <a:latin typeface="-apple-system"/>
              </a:rPr>
              <a:t>	</a:t>
            </a:r>
            <a:r>
              <a:rPr lang="en-US" altLang="zh-CN" sz="2000" b="0" i="0" dirty="0">
                <a:solidFill>
                  <a:srgbClr val="F35C70"/>
                </a:solidFill>
                <a:effectLst/>
                <a:latin typeface="-apple-system"/>
              </a:rPr>
              <a:t>simple</a:t>
            </a:r>
          </a:p>
          <a:p>
            <a:r>
              <a:rPr lang="en-US" altLang="zh-CN" sz="2000" b="0" i="0" dirty="0">
                <a:effectLst/>
                <a:latin typeface="-apple-system"/>
              </a:rPr>
              <a:t>Equality</a:t>
            </a:r>
            <a:r>
              <a:rPr lang="en-US" altLang="zh-CN" sz="2000" dirty="0">
                <a:solidFill>
                  <a:srgbClr val="F35C70"/>
                </a:solidFill>
                <a:latin typeface="-apple-system"/>
              </a:rPr>
              <a:t>		</a:t>
            </a:r>
            <a:r>
              <a:rPr lang="zh-CN" altLang="en-US" sz="2000" dirty="0">
                <a:latin typeface="-apple-system"/>
              </a:rPr>
              <a:t>平等</a:t>
            </a:r>
            <a:r>
              <a:rPr lang="en-US" altLang="zh-CN" sz="2000" dirty="0">
                <a:solidFill>
                  <a:srgbClr val="F35C70"/>
                </a:solidFill>
                <a:latin typeface="-apple-system"/>
              </a:rPr>
              <a:t>	</a:t>
            </a:r>
            <a:r>
              <a:rPr lang="en-US" altLang="zh-CN" sz="2000" b="0" i="0" dirty="0">
                <a:solidFill>
                  <a:srgbClr val="F35C70"/>
                </a:solidFill>
                <a:effectLst/>
                <a:latin typeface="-apple-system"/>
              </a:rPr>
              <a:t>fairness</a:t>
            </a:r>
            <a:endParaRPr lang="en-US" altLang="zh-CN" sz="2000" dirty="0">
              <a:solidFill>
                <a:srgbClr val="F35C70"/>
              </a:solidFill>
              <a:latin typeface="-apple-system"/>
            </a:endParaRPr>
          </a:p>
          <a:p>
            <a:r>
              <a:rPr lang="en-US" altLang="zh-CN" sz="2000" b="0" i="0" dirty="0">
                <a:effectLst/>
                <a:latin typeface="-apple-system"/>
              </a:rPr>
              <a:t>Sacred</a:t>
            </a:r>
            <a:r>
              <a:rPr lang="en-US" altLang="zh-CN" sz="2000" b="0" i="0" dirty="0">
                <a:solidFill>
                  <a:srgbClr val="F35C70"/>
                </a:solidFill>
                <a:effectLst/>
                <a:latin typeface="-apple-system"/>
              </a:rPr>
              <a:t>	           </a:t>
            </a:r>
            <a:r>
              <a:rPr lang="zh-CN" altLang="en-US" sz="2000" dirty="0">
                <a:latin typeface="-apple-system"/>
              </a:rPr>
              <a:t>不可侵犯</a:t>
            </a:r>
            <a:r>
              <a:rPr lang="en-US" altLang="zh-CN" sz="2000" b="0" i="0" dirty="0">
                <a:solidFill>
                  <a:srgbClr val="F35C70"/>
                </a:solidFill>
                <a:effectLst/>
                <a:latin typeface="-apple-system"/>
              </a:rPr>
              <a:t>	sacrosanct</a:t>
            </a:r>
          </a:p>
          <a:p>
            <a:r>
              <a:rPr lang="en-US" altLang="zh-CN" sz="2000" b="0" i="0" dirty="0">
                <a:effectLst/>
                <a:latin typeface="-apple-system"/>
              </a:rPr>
              <a:t>Obtain</a:t>
            </a:r>
            <a:r>
              <a:rPr lang="en-US" altLang="zh-CN" sz="2000" dirty="0">
                <a:solidFill>
                  <a:srgbClr val="F35C70"/>
                </a:solidFill>
                <a:latin typeface="-apple-system"/>
              </a:rPr>
              <a:t>		</a:t>
            </a:r>
            <a:r>
              <a:rPr lang="zh-CN" altLang="en-US" sz="2000" dirty="0">
                <a:latin typeface="-apple-system"/>
              </a:rPr>
              <a:t>获取</a:t>
            </a:r>
            <a:r>
              <a:rPr lang="en-US" altLang="zh-CN" sz="2000" dirty="0">
                <a:solidFill>
                  <a:srgbClr val="F35C70"/>
                </a:solidFill>
                <a:latin typeface="-apple-system"/>
              </a:rPr>
              <a:t>	</a:t>
            </a:r>
            <a:r>
              <a:rPr lang="en-US" altLang="zh-CN" sz="2000" b="0" i="0" dirty="0">
                <a:solidFill>
                  <a:srgbClr val="F35C70"/>
                </a:solidFill>
                <a:effectLst/>
                <a:latin typeface="-apple-system"/>
              </a:rPr>
              <a:t>acquire</a:t>
            </a:r>
            <a:endParaRPr lang="en-US" altLang="zh-CN" sz="2000" dirty="0">
              <a:solidFill>
                <a:srgbClr val="F35C70"/>
              </a:solidFill>
              <a:latin typeface="-apple-system"/>
            </a:endParaRPr>
          </a:p>
          <a:p>
            <a:r>
              <a:rPr lang="en-US" altLang="zh-CN" sz="2000" b="0" i="0" dirty="0">
                <a:effectLst/>
                <a:latin typeface="-apple-system"/>
              </a:rPr>
              <a:t>Yield</a:t>
            </a:r>
            <a:r>
              <a:rPr lang="en-US" altLang="zh-CN" sz="2000" b="0" i="0" dirty="0">
                <a:solidFill>
                  <a:srgbClr val="F35C70"/>
                </a:solidFill>
                <a:effectLst/>
                <a:latin typeface="-apple-system"/>
              </a:rPr>
              <a:t>		</a:t>
            </a:r>
            <a:r>
              <a:rPr lang="zh-CN" altLang="en-US" sz="2000" dirty="0">
                <a:latin typeface="-apple-system"/>
              </a:rPr>
              <a:t>产量</a:t>
            </a:r>
            <a:r>
              <a:rPr lang="en-US" altLang="zh-CN" sz="2000" b="0" i="0" dirty="0">
                <a:solidFill>
                  <a:srgbClr val="F35C70"/>
                </a:solidFill>
                <a:effectLst/>
                <a:latin typeface="-apple-system"/>
              </a:rPr>
              <a:t>	produce</a:t>
            </a:r>
          </a:p>
          <a:p>
            <a:r>
              <a:rPr lang="en-US" altLang="zh-CN" sz="2000" b="0" i="0" dirty="0">
                <a:effectLst/>
                <a:latin typeface="-apple-system"/>
              </a:rPr>
              <a:t>Rate</a:t>
            </a:r>
            <a:r>
              <a:rPr lang="en-US" altLang="zh-CN" sz="2000" dirty="0">
                <a:solidFill>
                  <a:srgbClr val="F35C70"/>
                </a:solidFill>
                <a:latin typeface="-apple-system"/>
              </a:rPr>
              <a:t>		</a:t>
            </a:r>
            <a:r>
              <a:rPr lang="zh-CN" altLang="en-US" sz="2000" dirty="0">
                <a:latin typeface="-apple-system"/>
              </a:rPr>
              <a:t>速率</a:t>
            </a:r>
            <a:r>
              <a:rPr lang="en-US" altLang="zh-CN" sz="2000" dirty="0">
                <a:solidFill>
                  <a:srgbClr val="F35C70"/>
                </a:solidFill>
                <a:latin typeface="-apple-system"/>
              </a:rPr>
              <a:t>	</a:t>
            </a:r>
            <a:r>
              <a:rPr lang="en-US" altLang="zh-CN" sz="2000" b="0" i="0" dirty="0">
                <a:solidFill>
                  <a:srgbClr val="F35C70"/>
                </a:solidFill>
                <a:effectLst/>
                <a:latin typeface="-apple-system"/>
              </a:rPr>
              <a:t>pace</a:t>
            </a:r>
            <a:endParaRPr lang="en-US" altLang="zh-CN" sz="2000" dirty="0">
              <a:solidFill>
                <a:srgbClr val="F35C70"/>
              </a:solidFill>
              <a:latin typeface="-apple-system"/>
            </a:endParaRPr>
          </a:p>
          <a:p>
            <a:r>
              <a:rPr lang="en-US" altLang="zh-CN" sz="2000" b="0" i="0" dirty="0">
                <a:effectLst/>
                <a:latin typeface="-apple-system"/>
              </a:rPr>
              <a:t>Deal</a:t>
            </a:r>
            <a:r>
              <a:rPr lang="en-US" altLang="zh-CN" sz="2000" b="0" i="0" dirty="0">
                <a:solidFill>
                  <a:srgbClr val="F35C70"/>
                </a:solidFill>
                <a:effectLst/>
                <a:latin typeface="-apple-system"/>
              </a:rPr>
              <a:t>		</a:t>
            </a:r>
            <a:r>
              <a:rPr lang="zh-CN" altLang="en-US" sz="2000" dirty="0">
                <a:latin typeface="-apple-system"/>
              </a:rPr>
              <a:t>完美</a:t>
            </a:r>
            <a:r>
              <a:rPr lang="en-US" altLang="zh-CN" sz="2000" b="0" i="0" dirty="0">
                <a:effectLst/>
                <a:latin typeface="-apple-system"/>
              </a:rPr>
              <a:t>	</a:t>
            </a:r>
            <a:r>
              <a:rPr lang="en-US" altLang="zh-CN" sz="2000" b="0" i="0" dirty="0">
                <a:solidFill>
                  <a:srgbClr val="F35C70"/>
                </a:solidFill>
                <a:effectLst/>
                <a:latin typeface="-apple-system"/>
              </a:rPr>
              <a:t>perfect</a:t>
            </a:r>
            <a:r>
              <a:rPr lang="en-US" altLang="zh-CN" sz="2000" dirty="0">
                <a:solidFill>
                  <a:srgbClr val="F35C70"/>
                </a:solidFill>
                <a:latin typeface="-apple-system"/>
              </a:rPr>
              <a:t>	</a:t>
            </a:r>
            <a:endParaRPr lang="en-US" altLang="zh-CN" sz="2000" b="0" i="0" dirty="0">
              <a:solidFill>
                <a:srgbClr val="F35C70"/>
              </a:solidFill>
              <a:effectLst/>
              <a:latin typeface="-apple-system"/>
            </a:endParaRPr>
          </a:p>
        </p:txBody>
      </p:sp>
      <p:sp>
        <p:nvSpPr>
          <p:cNvPr id="6" name="文本框 5">
            <a:extLst>
              <a:ext uri="{FF2B5EF4-FFF2-40B4-BE49-F238E27FC236}">
                <a16:creationId xmlns:a16="http://schemas.microsoft.com/office/drawing/2014/main" id="{90641572-4130-F735-E198-F74E6718D641}"/>
              </a:ext>
            </a:extLst>
          </p:cNvPr>
          <p:cNvSpPr txBox="1"/>
          <p:nvPr/>
        </p:nvSpPr>
        <p:spPr>
          <a:xfrm>
            <a:off x="545625" y="163993"/>
            <a:ext cx="2349500" cy="369332"/>
          </a:xfrm>
          <a:prstGeom prst="rect">
            <a:avLst/>
          </a:prstGeom>
          <a:noFill/>
        </p:spPr>
        <p:txBody>
          <a:bodyPr wrap="square" rtlCol="0">
            <a:spAutoFit/>
          </a:bodyPr>
          <a:lstStyle/>
          <a:p>
            <a:r>
              <a:rPr lang="en-US" altLang="zh-CN" dirty="0"/>
              <a:t>6A</a:t>
            </a:r>
            <a:endParaRPr lang="zh-CN" altLang="en-US" dirty="0"/>
          </a:p>
        </p:txBody>
      </p:sp>
    </p:spTree>
    <p:extLst>
      <p:ext uri="{BB962C8B-B14F-4D97-AF65-F5344CB8AC3E}">
        <p14:creationId xmlns:p14="http://schemas.microsoft.com/office/powerpoint/2010/main" val="402958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189461-5B6A-9ACD-5D0C-A6B934D990CF}"/>
              </a:ext>
            </a:extLst>
          </p:cNvPr>
          <p:cNvSpPr txBox="1"/>
          <p:nvPr/>
        </p:nvSpPr>
        <p:spPr>
          <a:xfrm>
            <a:off x="100047" y="428404"/>
            <a:ext cx="5958739" cy="5940088"/>
          </a:xfrm>
          <a:prstGeom prst="rect">
            <a:avLst/>
          </a:prstGeom>
          <a:noFill/>
        </p:spPr>
        <p:txBody>
          <a:bodyPr wrap="square" rtlCol="0">
            <a:spAutoFit/>
          </a:bodyPr>
          <a:lstStyle/>
          <a:p>
            <a:pPr algn="just"/>
            <a:r>
              <a:rPr lang="en-US" altLang="zh-CN" sz="2000" b="0" i="0" dirty="0">
                <a:effectLst/>
                <a:latin typeface="-apple-system"/>
              </a:rPr>
              <a:t>Homer’s Odyssey is a </a:t>
            </a:r>
            <a:r>
              <a:rPr lang="en-US" altLang="zh-CN" sz="2000" b="1" i="0" dirty="0">
                <a:effectLst/>
                <a:latin typeface="-apple-system"/>
              </a:rPr>
              <a:t>classical</a:t>
            </a:r>
            <a:r>
              <a:rPr lang="en-US" altLang="zh-CN" sz="2000" b="0" i="0" dirty="0">
                <a:effectLst/>
                <a:latin typeface="-apple-system"/>
              </a:rPr>
              <a:t> Greek epic. Originally written in a poetic dialect, the text allows modern readers to </a:t>
            </a:r>
            <a:r>
              <a:rPr lang="en-US" altLang="zh-CN" sz="2000" b="1" i="0" dirty="0">
                <a:effectLst/>
                <a:latin typeface="-apple-system"/>
              </a:rPr>
              <a:t>understand</a:t>
            </a:r>
            <a:r>
              <a:rPr lang="en-US" altLang="zh-CN" sz="2000" b="0" i="0" dirty="0">
                <a:effectLst/>
                <a:latin typeface="-apple-system"/>
              </a:rPr>
              <a:t> many aspects of ancient Greek culture. One </a:t>
            </a:r>
            <a:r>
              <a:rPr lang="en-US" altLang="zh-CN" sz="2000" b="1" i="0" dirty="0">
                <a:effectLst/>
                <a:latin typeface="-apple-system"/>
              </a:rPr>
              <a:t>particular</a:t>
            </a:r>
            <a:r>
              <a:rPr lang="en-US" altLang="zh-CN" sz="2000" b="0" i="0" dirty="0">
                <a:effectLst/>
                <a:latin typeface="-apple-system"/>
              </a:rPr>
              <a:t> aspect of the work is the importance of gift-giving that multiple stories in the Odyssey </a:t>
            </a:r>
            <a:r>
              <a:rPr lang="en-US" altLang="zh-CN" sz="2000" b="1" i="0" dirty="0">
                <a:effectLst/>
                <a:latin typeface="-apple-system"/>
              </a:rPr>
              <a:t>evoke</a:t>
            </a:r>
            <a:r>
              <a:rPr lang="en-US" altLang="zh-CN" sz="2000" b="0" i="0" dirty="0">
                <a:effectLst/>
                <a:latin typeface="-apple-system"/>
              </a:rPr>
              <a:t>. Another aspect is the more </a:t>
            </a:r>
            <a:r>
              <a:rPr lang="en-US" altLang="zh-CN" sz="2000" b="1" i="0" dirty="0">
                <a:effectLst/>
                <a:latin typeface="-apple-system"/>
              </a:rPr>
              <a:t>ominous</a:t>
            </a:r>
            <a:r>
              <a:rPr lang="en-US" altLang="zh-CN" sz="2000" b="0" i="0" dirty="0">
                <a:effectLst/>
                <a:latin typeface="-apple-system"/>
              </a:rPr>
              <a:t> notion that humans are in a constant </a:t>
            </a:r>
            <a:r>
              <a:rPr lang="en-US" altLang="zh-CN" sz="2000" b="1" i="0" dirty="0">
                <a:effectLst/>
                <a:latin typeface="-apple-system"/>
              </a:rPr>
              <a:t>struggle</a:t>
            </a:r>
            <a:r>
              <a:rPr lang="en-US" altLang="zh-CN" sz="2000" b="0" i="0" dirty="0">
                <a:effectLst/>
                <a:latin typeface="-apple-system"/>
              </a:rPr>
              <a:t> with the gods and must often </a:t>
            </a:r>
            <a:r>
              <a:rPr lang="en-US" altLang="zh-CN" sz="2000" b="1" i="0" dirty="0">
                <a:effectLst/>
                <a:latin typeface="-apple-system"/>
              </a:rPr>
              <a:t>suffer</a:t>
            </a:r>
            <a:r>
              <a:rPr lang="en-US" altLang="zh-CN" sz="2000" b="0" i="0" dirty="0">
                <a:effectLst/>
                <a:latin typeface="-apple-system"/>
              </a:rPr>
              <a:t> the consequences of other people’s errors. </a:t>
            </a:r>
            <a:r>
              <a:rPr lang="en-US" altLang="zh-CN" sz="2000" b="1" i="0" dirty="0">
                <a:effectLst/>
                <a:latin typeface="-apple-system"/>
              </a:rPr>
              <a:t>Unfortunately</a:t>
            </a:r>
            <a:r>
              <a:rPr lang="en-US" altLang="zh-CN" sz="2000" b="0" i="0" dirty="0">
                <a:effectLst/>
                <a:latin typeface="-apple-system"/>
              </a:rPr>
              <a:t>, Odysseus lacks complete </a:t>
            </a:r>
            <a:r>
              <a:rPr lang="en-US" altLang="zh-CN" sz="2000" b="1" i="0" dirty="0">
                <a:effectLst/>
                <a:latin typeface="-apple-system"/>
              </a:rPr>
              <a:t>autonomy</a:t>
            </a:r>
            <a:r>
              <a:rPr lang="en-US" altLang="zh-CN" sz="2000" b="0" i="0" dirty="0">
                <a:effectLst/>
                <a:latin typeface="-apple-system"/>
              </a:rPr>
              <a:t> over his fate and does not have the </a:t>
            </a:r>
            <a:r>
              <a:rPr lang="en-US" altLang="zh-CN" sz="2000" b="1" i="0" dirty="0">
                <a:effectLst/>
                <a:latin typeface="-apple-system"/>
              </a:rPr>
              <a:t>option</a:t>
            </a:r>
            <a:r>
              <a:rPr lang="en-US" altLang="zh-CN" sz="2000" b="0" i="0" dirty="0">
                <a:effectLst/>
                <a:latin typeface="-apple-system"/>
              </a:rPr>
              <a:t> to resist the gods’ orders. Time after time, the gods </a:t>
            </a:r>
            <a:r>
              <a:rPr lang="en-US" altLang="zh-CN" sz="2000" b="1" i="0" dirty="0">
                <a:effectLst/>
                <a:latin typeface="-apple-system"/>
              </a:rPr>
              <a:t>stun</a:t>
            </a:r>
            <a:r>
              <a:rPr lang="en-US" altLang="zh-CN" sz="2000" b="0" i="0" dirty="0">
                <a:effectLst/>
                <a:latin typeface="-apple-system"/>
              </a:rPr>
              <a:t> him with their indifference or </a:t>
            </a:r>
            <a:r>
              <a:rPr lang="en-US" altLang="zh-CN" sz="2000" b="1" i="0" dirty="0">
                <a:effectLst/>
                <a:latin typeface="-apple-system"/>
              </a:rPr>
              <a:t>spectacular</a:t>
            </a:r>
            <a:r>
              <a:rPr lang="en-US" altLang="zh-CN" sz="2000" b="0" i="0" dirty="0">
                <a:effectLst/>
                <a:latin typeface="-apple-system"/>
              </a:rPr>
              <a:t> cruelty. Only after great hardship and sacrifice does Odysseus overcome the </a:t>
            </a:r>
            <a:r>
              <a:rPr lang="en-US" altLang="zh-CN" sz="2000" b="1" i="0" dirty="0">
                <a:effectLst/>
                <a:latin typeface="-apple-system"/>
              </a:rPr>
              <a:t>resistance</a:t>
            </a:r>
            <a:r>
              <a:rPr lang="en-US" altLang="zh-CN" sz="2000" b="0" i="0" dirty="0">
                <a:effectLst/>
                <a:latin typeface="-apple-system"/>
              </a:rPr>
              <a:t> sent against him by Poseidon, god of the sea. Despite the hero’s </a:t>
            </a:r>
            <a:r>
              <a:rPr lang="en-US" altLang="zh-CN" sz="2000" b="1" i="0" dirty="0">
                <a:effectLst/>
                <a:latin typeface="-apple-system"/>
              </a:rPr>
              <a:t>arduous</a:t>
            </a:r>
            <a:r>
              <a:rPr lang="en-US" altLang="zh-CN" sz="2000" b="0" i="0" dirty="0">
                <a:effectLst/>
                <a:latin typeface="-apple-system"/>
              </a:rPr>
              <a:t> journey to his ancestral land of Ithaca, he is finally rewarded for his efforts with a </a:t>
            </a:r>
            <a:r>
              <a:rPr lang="en-US" altLang="zh-CN" sz="2000" b="1" i="0" dirty="0">
                <a:effectLst/>
                <a:latin typeface="-apple-system"/>
              </a:rPr>
              <a:t>pleasing</a:t>
            </a:r>
            <a:r>
              <a:rPr lang="en-US" altLang="zh-CN" sz="2000" b="0" i="0" dirty="0">
                <a:effectLst/>
                <a:latin typeface="-apple-system"/>
              </a:rPr>
              <a:t> homecoming.</a:t>
            </a:r>
          </a:p>
        </p:txBody>
      </p:sp>
      <p:sp>
        <p:nvSpPr>
          <p:cNvPr id="5" name="文本框 4">
            <a:extLst>
              <a:ext uri="{FF2B5EF4-FFF2-40B4-BE49-F238E27FC236}">
                <a16:creationId xmlns:a16="http://schemas.microsoft.com/office/drawing/2014/main" id="{CB289E3A-941A-01E5-C04B-2510F1CB3EAF}"/>
              </a:ext>
            </a:extLst>
          </p:cNvPr>
          <p:cNvSpPr txBox="1"/>
          <p:nvPr/>
        </p:nvSpPr>
        <p:spPr>
          <a:xfrm>
            <a:off x="6907099" y="712505"/>
            <a:ext cx="5121349" cy="5016758"/>
          </a:xfrm>
          <a:prstGeom prst="rect">
            <a:avLst/>
          </a:prstGeom>
          <a:noFill/>
        </p:spPr>
        <p:txBody>
          <a:bodyPr wrap="square" rtlCol="0">
            <a:spAutoFit/>
          </a:bodyPr>
          <a:lstStyle/>
          <a:p>
            <a:r>
              <a:rPr lang="en-US" altLang="zh-CN" sz="2000" b="0" i="0" dirty="0">
                <a:effectLst/>
                <a:latin typeface="-apple-system"/>
              </a:rPr>
              <a:t>classical		</a:t>
            </a:r>
            <a:r>
              <a:rPr lang="zh-CN" altLang="en-US" sz="2000" dirty="0">
                <a:latin typeface="-apple-system"/>
              </a:rPr>
              <a:t>古典</a:t>
            </a:r>
            <a:r>
              <a:rPr lang="en-US" altLang="zh-CN" sz="2000" b="0" i="0" dirty="0">
                <a:effectLst/>
                <a:latin typeface="-apple-system"/>
              </a:rPr>
              <a:t>	</a:t>
            </a:r>
            <a:r>
              <a:rPr lang="en-US" altLang="zh-CN" sz="2000" b="0" i="0" dirty="0">
                <a:solidFill>
                  <a:srgbClr val="F35C70"/>
                </a:solidFill>
                <a:effectLst/>
                <a:latin typeface="-apple-system"/>
              </a:rPr>
              <a:t>archaic</a:t>
            </a:r>
          </a:p>
          <a:p>
            <a:r>
              <a:rPr lang="en-US" altLang="zh-CN" sz="2000" b="0" i="0" dirty="0">
                <a:effectLst/>
                <a:latin typeface="-apple-system"/>
              </a:rPr>
              <a:t>Understand</a:t>
            </a:r>
            <a:r>
              <a:rPr lang="en-US" altLang="zh-CN" sz="2000" dirty="0">
                <a:solidFill>
                  <a:srgbClr val="F35C70"/>
                </a:solidFill>
                <a:latin typeface="-apple-system"/>
              </a:rPr>
              <a:t>	</a:t>
            </a:r>
            <a:r>
              <a:rPr lang="zh-CN" altLang="en-US" sz="2000" dirty="0">
                <a:latin typeface="-apple-system"/>
              </a:rPr>
              <a:t>了解</a:t>
            </a:r>
            <a:r>
              <a:rPr lang="en-US" altLang="zh-CN" sz="2000" dirty="0">
                <a:solidFill>
                  <a:srgbClr val="F35C70"/>
                </a:solidFill>
                <a:latin typeface="-apple-system"/>
              </a:rPr>
              <a:t>	</a:t>
            </a:r>
            <a:r>
              <a:rPr lang="en-US" altLang="zh-CN" sz="2000" b="0" i="0" dirty="0">
                <a:solidFill>
                  <a:srgbClr val="F35C70"/>
                </a:solidFill>
                <a:effectLst/>
                <a:latin typeface="-apple-system"/>
              </a:rPr>
              <a:t>perceive</a:t>
            </a:r>
            <a:endParaRPr lang="en-US" altLang="zh-CN" sz="2000" dirty="0">
              <a:solidFill>
                <a:srgbClr val="F35C70"/>
              </a:solidFill>
              <a:latin typeface="-apple-system"/>
            </a:endParaRPr>
          </a:p>
          <a:p>
            <a:r>
              <a:rPr lang="en-US" altLang="zh-CN" sz="2000" b="0" i="0" dirty="0">
                <a:effectLst/>
                <a:latin typeface="-apple-system"/>
              </a:rPr>
              <a:t>Particular</a:t>
            </a:r>
            <a:r>
              <a:rPr lang="en-US" altLang="zh-CN" sz="2000" b="0" i="0" dirty="0">
                <a:solidFill>
                  <a:srgbClr val="F35C70"/>
                </a:solidFill>
                <a:effectLst/>
                <a:latin typeface="-apple-system"/>
              </a:rPr>
              <a:t>	</a:t>
            </a:r>
            <a:r>
              <a:rPr lang="zh-CN" altLang="en-US" sz="2000" dirty="0">
                <a:latin typeface="-apple-system"/>
              </a:rPr>
              <a:t>特别</a:t>
            </a:r>
            <a:r>
              <a:rPr lang="en-US" altLang="zh-CN" sz="2000" b="0" i="0" dirty="0">
                <a:solidFill>
                  <a:srgbClr val="F35C70"/>
                </a:solidFill>
                <a:effectLst/>
                <a:latin typeface="-apple-system"/>
              </a:rPr>
              <a:t>	specific</a:t>
            </a:r>
          </a:p>
          <a:p>
            <a:r>
              <a:rPr lang="en-US" altLang="zh-CN" sz="2000" b="0" i="0" dirty="0">
                <a:effectLst/>
                <a:latin typeface="-apple-system"/>
              </a:rPr>
              <a:t>Evoke</a:t>
            </a:r>
            <a:r>
              <a:rPr lang="en-US" altLang="zh-CN" sz="2000" dirty="0">
                <a:solidFill>
                  <a:srgbClr val="F35C70"/>
                </a:solidFill>
                <a:latin typeface="-apple-system"/>
              </a:rPr>
              <a:t>		</a:t>
            </a:r>
            <a:r>
              <a:rPr lang="zh-CN" altLang="en-US" sz="2000" dirty="0">
                <a:latin typeface="-apple-system"/>
              </a:rPr>
              <a:t>唤起</a:t>
            </a:r>
            <a:r>
              <a:rPr lang="en-US" altLang="zh-CN" sz="2000" dirty="0">
                <a:solidFill>
                  <a:srgbClr val="F35C70"/>
                </a:solidFill>
                <a:latin typeface="-apple-system"/>
              </a:rPr>
              <a:t>	</a:t>
            </a:r>
            <a:r>
              <a:rPr lang="en-US" altLang="zh-CN" sz="2000" b="0" i="0" dirty="0">
                <a:solidFill>
                  <a:srgbClr val="F35C70"/>
                </a:solidFill>
                <a:effectLst/>
                <a:latin typeface="-apple-system"/>
              </a:rPr>
              <a:t>arouse</a:t>
            </a:r>
            <a:endParaRPr lang="en-US" altLang="zh-CN" sz="2000" dirty="0">
              <a:solidFill>
                <a:srgbClr val="F35C70"/>
              </a:solidFill>
              <a:latin typeface="-apple-system"/>
            </a:endParaRPr>
          </a:p>
          <a:p>
            <a:r>
              <a:rPr lang="en-US" altLang="zh-CN" sz="2000" b="0" i="0" dirty="0">
                <a:effectLst/>
                <a:latin typeface="-apple-system"/>
              </a:rPr>
              <a:t>Ominous</a:t>
            </a:r>
            <a:r>
              <a:rPr lang="en-US" altLang="zh-CN" sz="2000" b="0" i="0" dirty="0">
                <a:solidFill>
                  <a:srgbClr val="F35C70"/>
                </a:solidFill>
                <a:effectLst/>
                <a:latin typeface="-apple-system"/>
              </a:rPr>
              <a:t>	</a:t>
            </a:r>
            <a:r>
              <a:rPr lang="zh-CN" altLang="en-US" sz="2000" dirty="0">
                <a:latin typeface="-apple-system"/>
              </a:rPr>
              <a:t>不祥的</a:t>
            </a:r>
            <a:r>
              <a:rPr lang="en-US" altLang="zh-CN" sz="2000" b="0" i="0" dirty="0">
                <a:solidFill>
                  <a:srgbClr val="F35C70"/>
                </a:solidFill>
                <a:effectLst/>
                <a:latin typeface="-apple-system"/>
              </a:rPr>
              <a:t>	sinister</a:t>
            </a:r>
          </a:p>
          <a:p>
            <a:r>
              <a:rPr lang="en-US" altLang="zh-CN" sz="2000" b="0" i="0" dirty="0">
                <a:effectLst/>
                <a:latin typeface="-apple-system"/>
              </a:rPr>
              <a:t>Struggle		</a:t>
            </a:r>
            <a:r>
              <a:rPr lang="zh-CN" altLang="en-US" sz="2000" dirty="0">
                <a:latin typeface="-apple-system"/>
              </a:rPr>
              <a:t>斗争</a:t>
            </a:r>
            <a:r>
              <a:rPr lang="en-US" altLang="zh-CN" sz="2000" b="0" i="0" dirty="0">
                <a:effectLst/>
                <a:latin typeface="-apple-system"/>
              </a:rPr>
              <a:t>	</a:t>
            </a:r>
            <a:r>
              <a:rPr lang="en-US" altLang="zh-CN" sz="2000" b="0" i="0" dirty="0">
                <a:solidFill>
                  <a:srgbClr val="F35C70"/>
                </a:solidFill>
                <a:effectLst/>
                <a:latin typeface="-apple-system"/>
              </a:rPr>
              <a:t>conflict</a:t>
            </a:r>
          </a:p>
          <a:p>
            <a:r>
              <a:rPr lang="en-US" altLang="zh-CN" sz="2000" b="0" i="0" dirty="0">
                <a:effectLst/>
                <a:latin typeface="-apple-system"/>
              </a:rPr>
              <a:t>Suffer</a:t>
            </a:r>
            <a:r>
              <a:rPr lang="en-US" altLang="zh-CN" sz="2000" dirty="0">
                <a:solidFill>
                  <a:srgbClr val="F35C70"/>
                </a:solidFill>
                <a:latin typeface="-apple-system"/>
              </a:rPr>
              <a:t>		</a:t>
            </a:r>
            <a:r>
              <a:rPr lang="zh-CN" altLang="en-US" sz="2000" dirty="0">
                <a:latin typeface="-apple-system"/>
              </a:rPr>
              <a:t>受苦</a:t>
            </a:r>
            <a:r>
              <a:rPr lang="en-US" altLang="zh-CN" sz="2000" dirty="0">
                <a:solidFill>
                  <a:srgbClr val="F35C70"/>
                </a:solidFill>
                <a:latin typeface="-apple-system"/>
              </a:rPr>
              <a:t>	</a:t>
            </a:r>
            <a:r>
              <a:rPr lang="en-US" altLang="zh-CN" sz="2000" b="0" i="0" dirty="0">
                <a:solidFill>
                  <a:srgbClr val="F35C70"/>
                </a:solidFill>
                <a:effectLst/>
                <a:latin typeface="-apple-system"/>
              </a:rPr>
              <a:t>go through</a:t>
            </a:r>
            <a:endParaRPr lang="en-US" altLang="zh-CN" sz="2000" dirty="0">
              <a:solidFill>
                <a:srgbClr val="F35C70"/>
              </a:solidFill>
              <a:latin typeface="-apple-system"/>
            </a:endParaRPr>
          </a:p>
          <a:p>
            <a:r>
              <a:rPr lang="en-US" altLang="zh-CN" sz="2000" b="0" i="0" dirty="0">
                <a:effectLst/>
                <a:latin typeface="-apple-system"/>
              </a:rPr>
              <a:t>Unfortunately</a:t>
            </a:r>
            <a:r>
              <a:rPr lang="en-US" altLang="zh-CN" sz="2000" b="0" i="0" dirty="0">
                <a:solidFill>
                  <a:srgbClr val="F35C70"/>
                </a:solidFill>
                <a:effectLst/>
                <a:latin typeface="-apple-system"/>
              </a:rPr>
              <a:t>	</a:t>
            </a:r>
            <a:r>
              <a:rPr lang="zh-CN" altLang="en-US" sz="2000" dirty="0">
                <a:latin typeface="-apple-system"/>
              </a:rPr>
              <a:t>不幸的</a:t>
            </a:r>
            <a:r>
              <a:rPr lang="en-US" altLang="zh-CN" sz="2000" b="0" i="0" dirty="0">
                <a:solidFill>
                  <a:srgbClr val="F35C70"/>
                </a:solidFill>
                <a:effectLst/>
                <a:latin typeface="-apple-system"/>
              </a:rPr>
              <a:t>	haplessly</a:t>
            </a:r>
          </a:p>
          <a:p>
            <a:r>
              <a:rPr lang="en-US" altLang="zh-CN" sz="2000" b="0" i="0" dirty="0">
                <a:effectLst/>
                <a:latin typeface="-apple-system"/>
              </a:rPr>
              <a:t>Autonomy</a:t>
            </a:r>
            <a:r>
              <a:rPr lang="en-US" altLang="zh-CN" sz="2000" dirty="0">
                <a:solidFill>
                  <a:srgbClr val="F35C70"/>
                </a:solidFill>
                <a:latin typeface="-apple-system"/>
              </a:rPr>
              <a:t>	</a:t>
            </a:r>
            <a:r>
              <a:rPr lang="zh-CN" altLang="en-US" sz="2000" dirty="0">
                <a:latin typeface="-apple-system"/>
              </a:rPr>
              <a:t>自主</a:t>
            </a:r>
            <a:r>
              <a:rPr lang="en-US" altLang="zh-CN" sz="2000" dirty="0">
                <a:solidFill>
                  <a:srgbClr val="F35C70"/>
                </a:solidFill>
                <a:latin typeface="-apple-system"/>
              </a:rPr>
              <a:t>	</a:t>
            </a:r>
            <a:r>
              <a:rPr lang="en-US" altLang="zh-CN" sz="2000" b="0" i="0" dirty="0">
                <a:solidFill>
                  <a:srgbClr val="F35C70"/>
                </a:solidFill>
                <a:effectLst/>
                <a:latin typeface="-apple-system"/>
              </a:rPr>
              <a:t>freedom</a:t>
            </a:r>
            <a:endParaRPr lang="en-US" altLang="zh-CN" sz="2000" dirty="0">
              <a:solidFill>
                <a:srgbClr val="F35C70"/>
              </a:solidFill>
              <a:latin typeface="-apple-system"/>
            </a:endParaRPr>
          </a:p>
          <a:p>
            <a:r>
              <a:rPr lang="en-US" altLang="zh-CN" sz="2000" b="0" i="0" dirty="0">
                <a:effectLst/>
                <a:latin typeface="-apple-system"/>
              </a:rPr>
              <a:t>Option</a:t>
            </a:r>
            <a:r>
              <a:rPr lang="en-US" altLang="zh-CN" sz="2000" b="0" i="0" dirty="0">
                <a:solidFill>
                  <a:srgbClr val="F35C70"/>
                </a:solidFill>
                <a:effectLst/>
                <a:latin typeface="-apple-system"/>
              </a:rPr>
              <a:t>		</a:t>
            </a:r>
            <a:r>
              <a:rPr lang="zh-CN" altLang="en-US" sz="2000" dirty="0">
                <a:latin typeface="-apple-system"/>
              </a:rPr>
              <a:t>备选</a:t>
            </a:r>
            <a:r>
              <a:rPr lang="en-US" altLang="zh-CN" sz="2000" b="0" i="0" dirty="0">
                <a:solidFill>
                  <a:srgbClr val="F35C70"/>
                </a:solidFill>
                <a:effectLst/>
                <a:latin typeface="-apple-system"/>
              </a:rPr>
              <a:t>	alternative</a:t>
            </a:r>
          </a:p>
          <a:p>
            <a:r>
              <a:rPr lang="en-US" altLang="zh-CN" sz="2000" b="0" i="0" dirty="0">
                <a:effectLst/>
                <a:latin typeface="-apple-system"/>
              </a:rPr>
              <a:t>Stun</a:t>
            </a:r>
            <a:r>
              <a:rPr lang="en-US" altLang="zh-CN" sz="2000" dirty="0">
                <a:solidFill>
                  <a:srgbClr val="F35C70"/>
                </a:solidFill>
                <a:latin typeface="-apple-system"/>
              </a:rPr>
              <a:t>		</a:t>
            </a:r>
            <a:r>
              <a:rPr lang="zh-CN" altLang="en-US" sz="2000" dirty="0">
                <a:latin typeface="-apple-system"/>
              </a:rPr>
              <a:t>眩晕</a:t>
            </a:r>
            <a:r>
              <a:rPr lang="en-US" altLang="zh-CN" sz="2000" dirty="0">
                <a:solidFill>
                  <a:srgbClr val="F35C70"/>
                </a:solidFill>
                <a:latin typeface="-apple-system"/>
              </a:rPr>
              <a:t>	</a:t>
            </a:r>
            <a:r>
              <a:rPr lang="en-US" altLang="zh-CN" sz="2000" b="0" i="0" dirty="0">
                <a:solidFill>
                  <a:srgbClr val="F35C70"/>
                </a:solidFill>
                <a:effectLst/>
                <a:latin typeface="-apple-system"/>
              </a:rPr>
              <a:t>stupefy</a:t>
            </a:r>
            <a:endParaRPr lang="en-US" altLang="zh-CN" sz="2000" dirty="0">
              <a:solidFill>
                <a:srgbClr val="F35C70"/>
              </a:solidFill>
              <a:latin typeface="-apple-system"/>
            </a:endParaRPr>
          </a:p>
          <a:p>
            <a:r>
              <a:rPr lang="en-US" altLang="zh-CN" sz="2000" b="0" i="0" dirty="0">
                <a:effectLst/>
                <a:latin typeface="-apple-system"/>
              </a:rPr>
              <a:t>Spectacular</a:t>
            </a:r>
            <a:r>
              <a:rPr lang="en-US" altLang="zh-CN" sz="2000" b="0" i="0" dirty="0">
                <a:solidFill>
                  <a:srgbClr val="F35C70"/>
                </a:solidFill>
                <a:effectLst/>
                <a:latin typeface="-apple-system"/>
              </a:rPr>
              <a:t>	</a:t>
            </a:r>
            <a:r>
              <a:rPr lang="zh-CN" altLang="en-US" sz="2000" dirty="0">
                <a:latin typeface="-apple-system"/>
              </a:rPr>
              <a:t>戏剧性</a:t>
            </a:r>
            <a:r>
              <a:rPr lang="en-US" altLang="zh-CN" sz="2000" b="0" i="0" dirty="0">
                <a:solidFill>
                  <a:srgbClr val="F35C70"/>
                </a:solidFill>
                <a:effectLst/>
                <a:latin typeface="-apple-system"/>
              </a:rPr>
              <a:t>	dramatic</a:t>
            </a:r>
          </a:p>
          <a:p>
            <a:r>
              <a:rPr lang="en-US" altLang="zh-CN" sz="2000" b="0" i="0" dirty="0">
                <a:effectLst/>
                <a:latin typeface="-apple-system"/>
              </a:rPr>
              <a:t>Resistance</a:t>
            </a:r>
            <a:r>
              <a:rPr lang="en-US" altLang="zh-CN" sz="2000" dirty="0">
                <a:solidFill>
                  <a:srgbClr val="F35C70"/>
                </a:solidFill>
                <a:latin typeface="-apple-system"/>
              </a:rPr>
              <a:t>	</a:t>
            </a:r>
            <a:r>
              <a:rPr lang="zh-CN" altLang="en-US" sz="2000" dirty="0">
                <a:latin typeface="-apple-system"/>
              </a:rPr>
              <a:t>抵抗</a:t>
            </a:r>
            <a:r>
              <a:rPr lang="en-US" altLang="zh-CN" sz="2000" dirty="0">
                <a:solidFill>
                  <a:srgbClr val="F35C70"/>
                </a:solidFill>
                <a:latin typeface="-apple-system"/>
              </a:rPr>
              <a:t>	</a:t>
            </a:r>
            <a:r>
              <a:rPr lang="en-US" altLang="zh-CN" sz="2000" b="0" i="0" dirty="0">
                <a:solidFill>
                  <a:srgbClr val="F35C70"/>
                </a:solidFill>
                <a:effectLst/>
                <a:latin typeface="-apple-system"/>
              </a:rPr>
              <a:t>opposition</a:t>
            </a:r>
            <a:endParaRPr lang="en-US" altLang="zh-CN" sz="2000" dirty="0">
              <a:solidFill>
                <a:srgbClr val="F35C70"/>
              </a:solidFill>
              <a:latin typeface="-apple-system"/>
            </a:endParaRPr>
          </a:p>
          <a:p>
            <a:r>
              <a:rPr lang="en-US" altLang="zh-CN" sz="2000" b="0" i="0" dirty="0">
                <a:effectLst/>
                <a:latin typeface="-apple-system"/>
              </a:rPr>
              <a:t>Arduous</a:t>
            </a:r>
            <a:r>
              <a:rPr lang="en-US" altLang="zh-CN" sz="2000" b="0" i="0" dirty="0">
                <a:solidFill>
                  <a:srgbClr val="F35C70"/>
                </a:solidFill>
                <a:effectLst/>
                <a:latin typeface="-apple-system"/>
              </a:rPr>
              <a:t>		</a:t>
            </a:r>
            <a:r>
              <a:rPr lang="zh-CN" altLang="en-US" sz="2000" dirty="0">
                <a:latin typeface="-apple-system"/>
              </a:rPr>
              <a:t>艰巨</a:t>
            </a:r>
            <a:r>
              <a:rPr lang="en-US" altLang="zh-CN" sz="2000" b="0" i="0" dirty="0">
                <a:solidFill>
                  <a:srgbClr val="F35C70"/>
                </a:solidFill>
                <a:effectLst/>
                <a:latin typeface="-apple-system"/>
              </a:rPr>
              <a:t>	exacting</a:t>
            </a:r>
          </a:p>
          <a:p>
            <a:r>
              <a:rPr lang="en-US" altLang="zh-CN" sz="2000" b="0" i="0" dirty="0">
                <a:effectLst/>
                <a:latin typeface="-apple-system"/>
              </a:rPr>
              <a:t>Pleasing</a:t>
            </a:r>
            <a:r>
              <a:rPr lang="en-US" altLang="zh-CN" sz="2000" dirty="0">
                <a:solidFill>
                  <a:srgbClr val="F35C70"/>
                </a:solidFill>
                <a:latin typeface="-apple-system"/>
              </a:rPr>
              <a:t>	            </a:t>
            </a:r>
            <a:r>
              <a:rPr lang="zh-CN" altLang="en-US" sz="2000" dirty="0">
                <a:latin typeface="-apple-system"/>
              </a:rPr>
              <a:t>令人愉快</a:t>
            </a:r>
            <a:r>
              <a:rPr lang="en-US" altLang="zh-CN" sz="2000" dirty="0">
                <a:solidFill>
                  <a:srgbClr val="F35C70"/>
                </a:solidFill>
                <a:latin typeface="-apple-system"/>
              </a:rPr>
              <a:t>	</a:t>
            </a:r>
            <a:r>
              <a:rPr lang="en-US" altLang="zh-CN" sz="2000" b="0" i="0" dirty="0">
                <a:solidFill>
                  <a:srgbClr val="F35C70"/>
                </a:solidFill>
                <a:effectLst/>
                <a:latin typeface="-apple-system"/>
              </a:rPr>
              <a:t>agreeable</a:t>
            </a:r>
            <a:endParaRPr lang="en-US" altLang="zh-CN" sz="2000" dirty="0">
              <a:solidFill>
                <a:srgbClr val="F35C70"/>
              </a:solidFill>
              <a:latin typeface="-apple-system"/>
            </a:endParaRPr>
          </a:p>
          <a:p>
            <a:r>
              <a:rPr lang="en-US" altLang="zh-CN" sz="2000" b="0" i="0" dirty="0">
                <a:solidFill>
                  <a:srgbClr val="F35C70"/>
                </a:solidFill>
                <a:effectLst/>
                <a:latin typeface="-apple-system"/>
              </a:rPr>
              <a:t>	</a:t>
            </a:r>
          </a:p>
        </p:txBody>
      </p:sp>
      <p:sp>
        <p:nvSpPr>
          <p:cNvPr id="6" name="文本框 5">
            <a:extLst>
              <a:ext uri="{FF2B5EF4-FFF2-40B4-BE49-F238E27FC236}">
                <a16:creationId xmlns:a16="http://schemas.microsoft.com/office/drawing/2014/main" id="{90641572-4130-F735-E198-F74E6718D641}"/>
              </a:ext>
            </a:extLst>
          </p:cNvPr>
          <p:cNvSpPr txBox="1"/>
          <p:nvPr/>
        </p:nvSpPr>
        <p:spPr>
          <a:xfrm>
            <a:off x="689164" y="190574"/>
            <a:ext cx="2349500" cy="369332"/>
          </a:xfrm>
          <a:prstGeom prst="rect">
            <a:avLst/>
          </a:prstGeom>
          <a:noFill/>
        </p:spPr>
        <p:txBody>
          <a:bodyPr wrap="square" rtlCol="0">
            <a:spAutoFit/>
          </a:bodyPr>
          <a:lstStyle/>
          <a:p>
            <a:r>
              <a:rPr lang="en-US" altLang="zh-CN" dirty="0"/>
              <a:t>6B</a:t>
            </a:r>
            <a:endParaRPr lang="zh-CN" altLang="en-US" dirty="0"/>
          </a:p>
        </p:txBody>
      </p:sp>
    </p:spTree>
    <p:extLst>
      <p:ext uri="{BB962C8B-B14F-4D97-AF65-F5344CB8AC3E}">
        <p14:creationId xmlns:p14="http://schemas.microsoft.com/office/powerpoint/2010/main" val="1297214135"/>
      </p:ext>
    </p:extLst>
  </p:cSld>
  <p:clrMapOvr>
    <a:masterClrMapping/>
  </p:clrMapOvr>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ont">
      <a:majorFont>
        <a:latin typeface="Segoe UI Light"/>
        <a:ea typeface="微软雅黑 Light"/>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TotalTime>
  <Words>7447</Words>
  <Application>Microsoft Office PowerPoint</Application>
  <PresentationFormat>宽屏</PresentationFormat>
  <Paragraphs>509</Paragraphs>
  <Slides>22</Slides>
  <Notes>18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-apple-system</vt:lpstr>
      <vt:lpstr>等线</vt:lpstr>
      <vt:lpstr>Arial</vt:lpstr>
      <vt:lpstr>Segoe UI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世喆 薛</dc:creator>
  <cp:lastModifiedBy>世喆 薛</cp:lastModifiedBy>
  <cp:revision>3</cp:revision>
  <dcterms:created xsi:type="dcterms:W3CDTF">2023-12-26T13:53:56Z</dcterms:created>
  <dcterms:modified xsi:type="dcterms:W3CDTF">2024-01-09T11:03:40Z</dcterms:modified>
</cp:coreProperties>
</file>