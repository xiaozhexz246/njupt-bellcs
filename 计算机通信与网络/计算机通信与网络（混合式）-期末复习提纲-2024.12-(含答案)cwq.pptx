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9"/>
  </p:handoutMasterIdLst>
  <p:sldIdLst>
    <p:sldId id="2857" r:id="rId3"/>
    <p:sldId id="2896" r:id="rId5"/>
    <p:sldId id="2909" r:id="rId6"/>
    <p:sldId id="2913" r:id="rId7"/>
    <p:sldId id="2941" r:id="rId8"/>
    <p:sldId id="2910" r:id="rId9"/>
    <p:sldId id="2943" r:id="rId10"/>
    <p:sldId id="2920" r:id="rId11"/>
    <p:sldId id="2911" r:id="rId12"/>
    <p:sldId id="2942" r:id="rId13"/>
    <p:sldId id="2912" r:id="rId14"/>
    <p:sldId id="2914" r:id="rId15"/>
    <p:sldId id="2915" r:id="rId16"/>
    <p:sldId id="2917" r:id="rId17"/>
    <p:sldId id="2921" r:id="rId18"/>
    <p:sldId id="3002" r:id="rId19"/>
    <p:sldId id="2946" r:id="rId20"/>
    <p:sldId id="2947" r:id="rId21"/>
    <p:sldId id="2962" r:id="rId22"/>
    <p:sldId id="2916" r:id="rId23"/>
    <p:sldId id="2929" r:id="rId24"/>
    <p:sldId id="2948" r:id="rId25"/>
    <p:sldId id="2949" r:id="rId26"/>
    <p:sldId id="2930" r:id="rId27"/>
    <p:sldId id="2950" r:id="rId28"/>
    <p:sldId id="2951" r:id="rId29"/>
    <p:sldId id="2952" r:id="rId30"/>
    <p:sldId id="2953" r:id="rId31"/>
    <p:sldId id="2931" r:id="rId32"/>
    <p:sldId id="2932" r:id="rId33"/>
    <p:sldId id="2933" r:id="rId34"/>
    <p:sldId id="2988" r:id="rId35"/>
    <p:sldId id="2934" r:id="rId36"/>
    <p:sldId id="2935" r:id="rId37"/>
    <p:sldId id="2937" r:id="rId38"/>
    <p:sldId id="2938" r:id="rId39"/>
    <p:sldId id="2954" r:id="rId40"/>
    <p:sldId id="2955" r:id="rId41"/>
    <p:sldId id="2956" r:id="rId42"/>
    <p:sldId id="2957" r:id="rId43"/>
    <p:sldId id="2958" r:id="rId44"/>
    <p:sldId id="2959" r:id="rId45"/>
    <p:sldId id="2960" r:id="rId46"/>
    <p:sldId id="2961" r:id="rId47"/>
    <p:sldId id="324" r:id="rId48"/>
  </p:sldIdLst>
  <p:sldSz cx="12192000" cy="6858000"/>
  <p:notesSz cx="7104380" cy="1023493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67B4"/>
    <a:srgbClr val="213F99"/>
    <a:srgbClr val="0D0DE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040"/>
    <p:restoredTop sz="94660"/>
  </p:normalViewPr>
  <p:slideViewPr>
    <p:cSldViewPr snapToGrid="0" showGuides="1">
      <p:cViewPr varScale="1">
        <p:scale>
          <a:sx n="67" d="100"/>
          <a:sy n="67" d="100"/>
        </p:scale>
        <p:origin x="494" y="44"/>
      </p:cViewPr>
      <p:guideLst>
        <p:guide orient="horz" pos="2165"/>
        <p:guide pos="2880"/>
      </p:guideLst>
    </p:cSldViewPr>
  </p:slideViewPr>
  <p:outlineViewPr>
    <p:cViewPr>
      <p:scale>
        <a:sx n="33" d="100"/>
        <a:sy n="33" d="100"/>
      </p:scale>
      <p:origin x="0" y="-18101"/>
    </p:cViewPr>
  </p:outlin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-12614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2.xml"/><Relationship Id="rId49" Type="http://schemas.openxmlformats.org/officeDocument/2006/relationships/handoutMaster" Target="handoutMasters/handoutMaster1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3B0B96-6EC2-404E-80D9-65206A952305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DF6103-E8DB-41C9-BA5E-BB1C96E98F1F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9957DD-7AFD-4F6D-87CB-07A0DD980762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B19424-1C80-4D5F-96F7-4500B4D9142B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" name="灯片编号占位符 3"/>
          <p:cNvSpPr txBox="1">
            <a:spLocks noGrp="1"/>
          </p:cNvSpPr>
          <p:nvPr>
            <p:ph type="sldNum" sz="quarter"/>
          </p:nvPr>
        </p:nvSpPr>
        <p:spPr>
          <a:noFill/>
        </p:spPr>
        <p:txBody>
          <a:bodyPr lIns="91440" tIns="45720" rIns="91440" bIns="4572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1346A3-B6E9-4748-8EEE-B87B67042C86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分组交换方式：</a:t>
            </a:r>
            <a:r>
              <a:rPr lang="en-US" altLang="zh-CN"/>
              <a:t>8Mb/(10kb)=800</a:t>
            </a:r>
            <a:r>
              <a:rPr lang="zh-CN" altLang="en-US"/>
              <a:t>个分组，看示意图，一个报文拆成</a:t>
            </a:r>
            <a:r>
              <a:rPr lang="en-US" altLang="zh-CN"/>
              <a:t>800</a:t>
            </a:r>
            <a:r>
              <a:rPr lang="zh-CN" altLang="en-US"/>
              <a:t>个分组逐个发送。这题的总时延</a:t>
            </a:r>
            <a:r>
              <a:rPr lang="en-US" altLang="zh-CN"/>
              <a:t>=1</a:t>
            </a:r>
            <a:r>
              <a:rPr lang="zh-CN" altLang="en-US"/>
              <a:t>个分组的发送时延</a:t>
            </a:r>
            <a:r>
              <a:rPr lang="en-US" altLang="zh-CN"/>
              <a:t>+800</a:t>
            </a:r>
            <a:r>
              <a:rPr lang="zh-CN" altLang="en-US"/>
              <a:t>个分组的发送时延</a:t>
            </a:r>
            <a:r>
              <a:rPr lang="en-US" altLang="zh-CN"/>
              <a:t>=801ms</a:t>
            </a:r>
            <a:endParaRPr lang="zh-CN" altLang="en-US"/>
          </a:p>
          <a:p>
            <a:r>
              <a:rPr lang="en-US" altLang="zh-CN"/>
              <a:t>ts=10kb/(10Mb/s)=1ms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en-US" altLang="zh-CN"/>
              <a:t>(2)</a:t>
            </a:r>
            <a:r>
              <a:rPr lang="zh-CN" altLang="en-US"/>
              <a:t>看书</a:t>
            </a:r>
            <a:r>
              <a:rPr lang="en-US" altLang="zh-CN"/>
              <a:t>109-110</a:t>
            </a:r>
            <a:r>
              <a:rPr lang="zh-CN" altLang="en-US"/>
              <a:t>页二进制指数退避算法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en-US" altLang="zh-CN"/>
              <a:t>(2) </a:t>
            </a:r>
            <a:r>
              <a:rPr lang="zh-CN" altLang="en-US"/>
              <a:t>为什么答案中</a:t>
            </a:r>
            <a:r>
              <a:rPr lang="zh-CN" altLang="en-US"/>
              <a:t>还有</a:t>
            </a:r>
            <a:r>
              <a:rPr lang="en-US" altLang="zh-CN"/>
              <a:t>H1</a:t>
            </a:r>
            <a:r>
              <a:rPr lang="zh-CN" altLang="en-US"/>
              <a:t>和</a:t>
            </a:r>
            <a:r>
              <a:rPr lang="en-US" altLang="zh-CN"/>
              <a:t>R2 ? </a:t>
            </a:r>
            <a:endParaRPr lang="en-US" altLang="zh-CN"/>
          </a:p>
          <a:p>
            <a:r>
              <a:rPr lang="zh-CN" altLang="en-US"/>
              <a:t>子网广播地址</a:t>
            </a:r>
            <a:r>
              <a:rPr lang="en-US" altLang="zh-CN"/>
              <a:t> </a:t>
            </a:r>
            <a:r>
              <a:rPr lang="zh-CN" altLang="en-US"/>
              <a:t>意味着</a:t>
            </a:r>
            <a:r>
              <a:rPr lang="en-US" altLang="zh-CN"/>
              <a:t> </a:t>
            </a:r>
            <a:r>
              <a:rPr lang="zh-CN" altLang="en-US"/>
              <a:t>子网中的所有主机（包括路由器，路由器是具有转发功能的</a:t>
            </a:r>
            <a:r>
              <a:rPr lang="zh-CN" altLang="en-US"/>
              <a:t>主机）都是</a:t>
            </a:r>
            <a:r>
              <a:rPr lang="zh-CN" altLang="en-US"/>
              <a:t>接收方。</a:t>
            </a:r>
            <a:endParaRPr lang="zh-CN" altLang="en-US"/>
          </a:p>
          <a:p>
            <a:r>
              <a:rPr lang="en-US" altLang="zh-CN"/>
              <a:t>(3)</a:t>
            </a:r>
            <a:r>
              <a:rPr lang="zh-CN" altLang="en-US"/>
              <a:t>我再问一个题目，这里的</a:t>
            </a:r>
            <a:r>
              <a:rPr lang="en-US" altLang="zh-CN"/>
              <a:t>IF1</a:t>
            </a:r>
            <a:r>
              <a:rPr lang="zh-CN" altLang="en-US"/>
              <a:t>端口不是和上面的</a:t>
            </a:r>
            <a:r>
              <a:rPr lang="en-US" altLang="zh-CN"/>
              <a:t>192.168.1.253</a:t>
            </a:r>
            <a:r>
              <a:rPr lang="zh-CN" altLang="en-US"/>
              <a:t>端口相连吗，为什么分配的</a:t>
            </a:r>
            <a:r>
              <a:rPr lang="en-US" altLang="zh-CN"/>
              <a:t>IP</a:t>
            </a:r>
            <a:r>
              <a:rPr lang="zh-CN" altLang="en-US"/>
              <a:t>地址为</a:t>
            </a:r>
            <a:r>
              <a:rPr lang="en-US" altLang="zh-CN"/>
              <a:t>192.168.1.254</a:t>
            </a:r>
            <a:r>
              <a:rPr lang="zh-CN" altLang="en-US"/>
              <a:t>呢</a:t>
            </a:r>
            <a:endParaRPr lang="zh-CN" altLang="en-US"/>
          </a:p>
          <a:p>
            <a:r>
              <a:rPr lang="zh-CN" altLang="en-US"/>
              <a:t>答：同属于一个子网的各网络接口分配的</a:t>
            </a:r>
            <a:r>
              <a:rPr lang="en-US" altLang="zh-CN"/>
              <a:t>IP</a:t>
            </a:r>
            <a:r>
              <a:rPr lang="zh-CN" altLang="en-US"/>
              <a:t>地址应该具有相同的网络前缀（标识子网），不同的主机号（不能全</a:t>
            </a:r>
            <a:r>
              <a:rPr lang="en-US" altLang="zh-CN"/>
              <a:t>0</a:t>
            </a:r>
            <a:r>
              <a:rPr lang="zh-CN" altLang="en-US"/>
              <a:t>或全</a:t>
            </a:r>
            <a:r>
              <a:rPr lang="en-US" altLang="zh-CN"/>
              <a:t>1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路由器</a:t>
            </a:r>
            <a:r>
              <a:rPr lang="en-US" altLang="zh-CN"/>
              <a:t>1</a:t>
            </a:r>
            <a:r>
              <a:rPr lang="zh-CN" altLang="en-US"/>
              <a:t>下面接口设置的地址是</a:t>
            </a:r>
            <a:r>
              <a:rPr lang="en-US" altLang="zh-CN"/>
              <a:t>192.168.1.253/30</a:t>
            </a:r>
            <a:r>
              <a:rPr lang="zh-CN" altLang="en-US"/>
              <a:t>，说明前缀长度是</a:t>
            </a:r>
            <a:r>
              <a:rPr lang="en-US" altLang="zh-CN"/>
              <a:t>30</a:t>
            </a:r>
            <a:r>
              <a:rPr lang="zh-CN" altLang="en-US"/>
              <a:t>，这个子网里可供分配的地址只有两个，另一个就是</a:t>
            </a:r>
            <a:r>
              <a:rPr lang="en-US" altLang="zh-CN"/>
              <a:t>192.168.1.254/30</a:t>
            </a:r>
            <a:r>
              <a:rPr lang="zh-CN" altLang="en-US"/>
              <a:t>，分配给路由器</a:t>
            </a:r>
            <a:r>
              <a:rPr lang="en-US" altLang="zh-CN"/>
              <a:t>R2</a:t>
            </a:r>
            <a:r>
              <a:rPr lang="zh-CN" altLang="en-US"/>
              <a:t>的</a:t>
            </a:r>
            <a:r>
              <a:rPr lang="en-US" altLang="zh-CN"/>
              <a:t>IF1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关于</a:t>
            </a:r>
            <a:r>
              <a:rPr lang="zh-CN" altLang="en-US"/>
              <a:t>广播域：</a:t>
            </a:r>
            <a:endParaRPr lang="zh-CN" altLang="en-US"/>
          </a:p>
          <a:p>
            <a:r>
              <a:rPr lang="zh-CN" altLang="en-US"/>
              <a:t>不考虑连入互联网的部分，有三个子网：</a:t>
            </a:r>
            <a:r>
              <a:rPr lang="en-US" altLang="zh-CN"/>
              <a:t>192.168.1.252/30</a:t>
            </a:r>
            <a:r>
              <a:rPr lang="zh-CN" altLang="en-US"/>
              <a:t>、</a:t>
            </a:r>
            <a:r>
              <a:rPr lang="en-US" altLang="zh-CN"/>
              <a:t>192.168.1.0/26</a:t>
            </a:r>
            <a:r>
              <a:rPr lang="zh-CN" altLang="en-US"/>
              <a:t>、</a:t>
            </a:r>
            <a:r>
              <a:rPr lang="en-US" altLang="zh-CN"/>
              <a:t>192.168.1.64/26</a:t>
            </a:r>
            <a:r>
              <a:rPr lang="zh-CN" altLang="en-US"/>
              <a:t>，每个子网构成一个广播域，所以有三个广播域。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目的网络为</a:t>
            </a:r>
            <a:r>
              <a:rPr lang="en-US" altLang="zh-CN"/>
              <a:t>192.168.1.0</a:t>
            </a:r>
            <a:r>
              <a:rPr lang="zh-CN" altLang="en-US"/>
              <a:t>的</a:t>
            </a:r>
            <a:r>
              <a:rPr lang="zh-CN" altLang="en-US"/>
              <a:t>表项和默认路由（该例中目的地是因特网）表项的下一跳都是路由器</a:t>
            </a:r>
            <a:r>
              <a:rPr lang="en-US" altLang="zh-CN"/>
              <a:t>R1</a:t>
            </a:r>
            <a:r>
              <a:rPr lang="zh-CN" altLang="en-US"/>
              <a:t>的</a:t>
            </a:r>
            <a:r>
              <a:rPr lang="en-US" altLang="zh-CN"/>
              <a:t>S0</a:t>
            </a:r>
            <a:r>
              <a:rPr lang="zh-CN" altLang="en-US"/>
              <a:t>口，所以拷贝表中第一行的下一跳。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第</a:t>
            </a:r>
            <a:r>
              <a:rPr lang="en-US" altLang="zh-CN"/>
              <a:t>9</a:t>
            </a:r>
            <a:r>
              <a:rPr lang="zh-CN" altLang="en-US"/>
              <a:t>轮次初期</a:t>
            </a:r>
            <a:r>
              <a:rPr lang="en-US" altLang="zh-CN"/>
              <a:t> cwnd</a:t>
            </a:r>
            <a:r>
              <a:rPr lang="zh-CN" altLang="en-US"/>
              <a:t>为</a:t>
            </a:r>
            <a:r>
              <a:rPr lang="en-US" altLang="zh-CN"/>
              <a:t>4</a:t>
            </a:r>
            <a:r>
              <a:rPr lang="zh-CN" altLang="en-US"/>
              <a:t>，小于慢开始门限值，应该执行慢开始算法，这一轮中发出去的第一个报文段得到确认后，</a:t>
            </a:r>
            <a:r>
              <a:rPr lang="en-US" altLang="zh-CN"/>
              <a:t>cwnd</a:t>
            </a:r>
            <a:r>
              <a:rPr lang="zh-CN" altLang="en-US"/>
              <a:t>会加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/>
              <a:t>cwnd</a:t>
            </a:r>
            <a:r>
              <a:rPr lang="zh-CN" altLang="en-US"/>
              <a:t>就为</a:t>
            </a:r>
            <a:r>
              <a:rPr lang="en-US" altLang="zh-CN"/>
              <a:t>5</a:t>
            </a:r>
            <a:r>
              <a:rPr lang="zh-CN" altLang="en-US"/>
              <a:t>了，之后再有新报文段被确认，</a:t>
            </a:r>
            <a:r>
              <a:rPr lang="en-US" altLang="zh-CN"/>
              <a:t>cwnd</a:t>
            </a:r>
            <a:r>
              <a:rPr lang="zh-CN" altLang="en-US"/>
              <a:t>就不一定会增加一个</a:t>
            </a:r>
            <a:r>
              <a:rPr lang="en-US" altLang="zh-CN"/>
              <a:t>MSS</a:t>
            </a:r>
            <a:r>
              <a:rPr lang="zh-CN" altLang="en-US"/>
              <a:t>了，</a:t>
            </a:r>
            <a:r>
              <a:rPr lang="en-US" altLang="zh-CN"/>
              <a:t>cwnd</a:t>
            </a:r>
            <a:r>
              <a:rPr lang="zh-CN" altLang="en-US"/>
              <a:t>为慢开始门限值时可以执行慢开始或拥塞避免算法，</a:t>
            </a:r>
            <a:r>
              <a:rPr lang="en-US" altLang="zh-CN"/>
              <a:t>cwnd</a:t>
            </a:r>
            <a:r>
              <a:rPr lang="zh-CN" altLang="en-US"/>
              <a:t>大于慢开始门限值时一定执行拥塞避免算法。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p>
            <a:r>
              <a:rPr lang="zh-CN" altLang="en-US"/>
              <a:t>老师第六问为什么把源</a:t>
            </a:r>
            <a:r>
              <a:rPr lang="en-US" altLang="zh-CN"/>
              <a:t>ip</a:t>
            </a:r>
            <a:r>
              <a:rPr lang="zh-CN" altLang="en-US"/>
              <a:t>地址当作</a:t>
            </a:r>
            <a:r>
              <a:rPr lang="en-US" altLang="zh-CN"/>
              <a:t>http</a:t>
            </a:r>
            <a:r>
              <a:rPr lang="zh-CN" altLang="en-US"/>
              <a:t>服务器地址</a:t>
            </a:r>
            <a:endParaRPr lang="zh-CN" altLang="en-US"/>
          </a:p>
          <a:p>
            <a:r>
              <a:rPr lang="zh-CN" altLang="en-US"/>
              <a:t>答：因为源端口指的是源主机用的</a:t>
            </a:r>
            <a:r>
              <a:rPr lang="zh-CN" altLang="en-US"/>
              <a:t>协议端口号，源端口为</a:t>
            </a:r>
            <a:r>
              <a:rPr lang="en-US" altLang="zh-CN"/>
              <a:t>0x50</a:t>
            </a:r>
            <a:r>
              <a:rPr lang="zh-CN" altLang="en-US"/>
              <a:t>，即</a:t>
            </a:r>
            <a:r>
              <a:rPr lang="en-US" altLang="zh-CN"/>
              <a:t>80</a:t>
            </a:r>
            <a:r>
              <a:rPr lang="zh-CN" altLang="en-US"/>
              <a:t>，说明源主机很可能是</a:t>
            </a:r>
            <a:r>
              <a:rPr lang="en-US" altLang="zh-CN"/>
              <a:t>HTTP Server</a:t>
            </a:r>
            <a:r>
              <a:rPr lang="zh-CN" altLang="en-US"/>
              <a:t>（</a:t>
            </a:r>
            <a:r>
              <a:rPr lang="en-US" altLang="zh-CN"/>
              <a:t>Web Server</a:t>
            </a:r>
            <a:r>
              <a:rPr lang="zh-CN" altLang="en-US"/>
              <a:t>），源</a:t>
            </a:r>
            <a:r>
              <a:rPr lang="en-US" altLang="zh-CN"/>
              <a:t>IP</a:t>
            </a:r>
            <a:r>
              <a:rPr lang="zh-CN" altLang="en-US"/>
              <a:t>地址是源主机的</a:t>
            </a:r>
            <a:r>
              <a:rPr lang="zh-CN" altLang="en-US"/>
              <a:t>地址。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1.pn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形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88100" y="841375"/>
            <a:ext cx="5480050" cy="608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962366" y="2870201"/>
            <a:ext cx="5426075" cy="558799"/>
          </a:xfrm>
        </p:spPr>
        <p:txBody>
          <a:bodyPr>
            <a:norm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962366" y="1412694"/>
            <a:ext cx="5426075" cy="1382053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62025" y="3667125"/>
            <a:ext cx="4624388" cy="3524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1"/>
          </p:nvPr>
        </p:nvSpPr>
        <p:spPr>
          <a:xfrm>
            <a:off x="962025" y="4080504"/>
            <a:ext cx="4630738" cy="3524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9" name="日期占位符 1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EC498C8-801B-4105-9D8A-F57A5A7B878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E75505-E0CC-4516-9BBF-A71E4C24122F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形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089900" y="5864225"/>
            <a:ext cx="4114800" cy="962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平行四边形 8"/>
          <p:cNvSpPr/>
          <p:nvPr>
            <p:custDataLst>
              <p:tags r:id="rId4"/>
            </p:custDataLst>
          </p:nvPr>
        </p:nvSpPr>
        <p:spPr>
          <a:xfrm flipH="1">
            <a:off x="690563" y="1400175"/>
            <a:ext cx="10810875" cy="109538"/>
          </a:xfrm>
          <a:prstGeom prst="parallelogram">
            <a:avLst>
              <a:gd name="adj" fmla="val 4237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000" y="334800"/>
            <a:ext cx="10440000" cy="90232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000" y="1672115"/>
            <a:ext cx="10440000" cy="450018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47E989-61DE-4630-88CE-7C7233A18BB7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7DA49D9-8C0D-4F7A-A1A6-36ADEA6D0D6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3828473" y="2400290"/>
            <a:ext cx="4535055" cy="831797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3822700" y="3292227"/>
            <a:ext cx="4546600" cy="831798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8" name="日期占位符 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5B8FFDA-9EAA-4810-8849-04241F9BC78A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1E714B6-7A16-478A-BC3D-B516CEC15E06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4712" y="1854200"/>
            <a:ext cx="5112000" cy="4321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8600" y="1854200"/>
            <a:ext cx="5112000" cy="43211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D657D-28EB-4A51-9941-D6C2E2844616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D0FC1-EB86-4E0C-A1B2-356950F10CA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4800" y="334800"/>
            <a:ext cx="10440000" cy="136800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74713" y="1854298"/>
            <a:ext cx="5112000" cy="72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74712" y="2716271"/>
            <a:ext cx="5112000" cy="3456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5764" y="1854298"/>
            <a:ext cx="5112000" cy="720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5760" y="2716271"/>
            <a:ext cx="5112001" cy="34560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D657D-28EB-4A51-9941-D6C2E2844616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D0FC1-EB86-4E0C-A1B2-356950F10CA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D657D-28EB-4A51-9941-D6C2E2844616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D0FC1-EB86-4E0C-A1B2-356950F10CA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D657D-28EB-4A51-9941-D6C2E2844616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D0FC1-EB86-4E0C-A1B2-356950F10CA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4800" y="334800"/>
            <a:ext cx="4176000" cy="1620000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93525" y="334800"/>
            <a:ext cx="6120000" cy="58320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74800" y="2111473"/>
            <a:ext cx="4176000" cy="40536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D657D-28EB-4A51-9941-D6C2E2844616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D0FC1-EB86-4E0C-A1B2-356950F10CA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795909" y="333375"/>
            <a:ext cx="1512000" cy="5832000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74800" y="334800"/>
            <a:ext cx="8784000" cy="58320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D657D-28EB-4A51-9941-D6C2E2844616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D0FC1-EB86-4E0C-A1B2-356950F10CA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74713" y="333375"/>
            <a:ext cx="10440000" cy="58324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D657D-28EB-4A51-9941-D6C2E2844616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D0FC1-EB86-4E0C-A1B2-356950F10CA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形 3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6051"/>
          <a:stretch>
            <a:fillRect/>
          </a:stretch>
        </p:blipFill>
        <p:spPr>
          <a:xfrm>
            <a:off x="554038" y="2425700"/>
            <a:ext cx="5480050" cy="4498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6810001" y="2618626"/>
            <a:ext cx="4936521" cy="1620749"/>
          </a:xfrm>
        </p:spPr>
        <p:txBody>
          <a:bodyPr anchor="ctr">
            <a:norm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8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日期占位符 1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3841E6-76E2-4AA3-8C84-5269DC40D293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A193A9-7B90-4B2D-97AD-F1717C5BF6F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76300" y="333375"/>
            <a:ext cx="10439400" cy="1366838"/>
          </a:xfrm>
          <a:prstGeom prst="rect">
            <a:avLst/>
          </a:prstGeom>
          <a:noFill/>
          <a:ln w="9525">
            <a:noFill/>
          </a:ln>
        </p:spPr>
        <p:txBody>
          <a:bodyPr bIns="46800"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3"/>
            </p:custDataLst>
          </p:nvPr>
        </p:nvSpPr>
        <p:spPr>
          <a:xfrm>
            <a:off x="876300" y="1854200"/>
            <a:ext cx="10439400" cy="43195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lnSpc>
                <a:spcPct val="120000"/>
              </a:lnSpc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EFD657D-28EB-4A51-9941-D6C2E2844616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lnSpc>
                <a:spcPct val="120000"/>
              </a:lnSpc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fontAlgn="auto" hangingPunct="1">
              <a:lnSpc>
                <a:spcPct val="120000"/>
              </a:lnSpc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9D0FC1-EB86-4E0C-A1B2-356950F10CA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12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12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12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120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/>
          <p:nvPr/>
        </p:nvSpPr>
        <p:spPr>
          <a:xfrm>
            <a:off x="50800" y="5476875"/>
            <a:ext cx="12192000" cy="44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800" y="2825750"/>
            <a:ext cx="12196763" cy="6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188" y="381000"/>
            <a:ext cx="3265488" cy="871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文本框 13"/>
          <p:cNvSpPr txBox="1"/>
          <p:nvPr/>
        </p:nvSpPr>
        <p:spPr>
          <a:xfrm>
            <a:off x="1222375" y="1576388"/>
            <a:ext cx="10296525" cy="1446213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>
            <a:spAutoFit/>
          </a:bodyPr>
          <a:lstStyle/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35000" endPos="50000" dist="60007" dir="5400000" sy="-100000" algn="bl" rotWithShape="0"/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+mn-cs"/>
              </a:rPr>
              <a:t>计算机通信</a:t>
            </a:r>
            <a:r>
              <a:rPr kumimoji="0" lang="zh-CN" altLang="en-US" sz="4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35000" endPos="50000" dist="60007" dir="5400000" sy="-100000" algn="bl" rotWithShape="0"/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+mn-cs"/>
              </a:rPr>
              <a:t>与网络（混合式）</a:t>
            </a:r>
            <a:r>
              <a:rPr kumimoji="0" lang="en-US" altLang="zh-CN" sz="4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35000" endPos="50000" dist="60007" dir="5400000" sy="-100000" algn="bl" rotWithShape="0"/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+mn-cs"/>
              </a:rPr>
              <a:t>---</a:t>
            </a:r>
            <a:r>
              <a:rPr kumimoji="0" lang="zh-CN" altLang="en-US" sz="4400" b="1" kern="1200" cap="none" spc="0" normalizeH="0" baseline="0" noProof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35000" endPos="50000" dist="60007" dir="5400000" sy="-100000" algn="bl" rotWithShape="0"/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+mn-cs"/>
              </a:rPr>
              <a:t>期末复习</a:t>
            </a:r>
            <a:endParaRPr kumimoji="0" lang="en-US" altLang="zh-CN" sz="4400" b="1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35000" endPos="50000" dist="60007" dir="5400000" sy="-100000" algn="bl" rotWithShape="0"/>
              </a:effectLst>
              <a:latin typeface="方正正准黑简体" panose="02000000000000000000" pitchFamily="2" charset="-122"/>
              <a:ea typeface="方正正准黑简体" panose="02000000000000000000" pitchFamily="2" charset="-122"/>
              <a:cs typeface="+mn-cs"/>
            </a:endParaRPr>
          </a:p>
          <a:p>
            <a:pPr marR="0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kern="1200" cap="none" spc="0" normalizeH="0" baseline="0" noProof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35000" endPos="50000" dist="60007" dir="5400000" sy="-100000" algn="bl" rotWithShape="0"/>
                </a:effectLst>
                <a:latin typeface="方正正准黑简体" panose="02000000000000000000" pitchFamily="2" charset="-122"/>
                <a:ea typeface="方正正准黑简体" panose="02000000000000000000" pitchFamily="2" charset="-122"/>
                <a:cs typeface="+mn-cs"/>
              </a:rPr>
              <a:t>            </a:t>
            </a:r>
            <a:endParaRPr kumimoji="0" lang="zh-CN" altLang="en-US" sz="4400" b="1" kern="1200" cap="none" spc="0" normalizeH="0" baseline="0" noProof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35000" endPos="50000" dist="60007" dir="5400000" sy="-100000" algn="bl" rotWithShape="0"/>
              </a:effectLst>
              <a:latin typeface="方正正准黑简体" panose="02000000000000000000" pitchFamily="2" charset="-122"/>
              <a:ea typeface="方正正准黑简体" panose="02000000000000000000" pitchFamily="2" charset="-122"/>
              <a:cs typeface="+mn-cs"/>
            </a:endParaRPr>
          </a:p>
        </p:txBody>
      </p:sp>
      <p:grpSp>
        <p:nvGrpSpPr>
          <p:cNvPr id="8198" name="组合 37"/>
          <p:cNvGrpSpPr>
            <a:grpSpLocks noChangeAspect="1"/>
          </p:cNvGrpSpPr>
          <p:nvPr/>
        </p:nvGrpSpPr>
        <p:grpSpPr>
          <a:xfrm>
            <a:off x="2341563" y="3657600"/>
            <a:ext cx="2654300" cy="1538288"/>
            <a:chOff x="0" y="0"/>
            <a:chExt cx="2654937" cy="1539557"/>
          </a:xfrm>
        </p:grpSpPr>
        <p:pic>
          <p:nvPicPr>
            <p:cNvPr id="8206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654937" cy="153955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7" name="Picture 4" descr="http://img.taopic.com/uploads/allimg/140221/234921-14022109223063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1511" y="131149"/>
              <a:ext cx="1934048" cy="1203119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8199" name="组合 38"/>
          <p:cNvGrpSpPr>
            <a:grpSpLocks noChangeAspect="1"/>
          </p:cNvGrpSpPr>
          <p:nvPr/>
        </p:nvGrpSpPr>
        <p:grpSpPr>
          <a:xfrm>
            <a:off x="7253288" y="3657600"/>
            <a:ext cx="2654300" cy="1538288"/>
            <a:chOff x="0" y="0"/>
            <a:chExt cx="2654937" cy="1539557"/>
          </a:xfrm>
        </p:grpSpPr>
        <p:pic>
          <p:nvPicPr>
            <p:cNvPr id="8204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654937" cy="153955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5" name="图片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2098" y="130848"/>
              <a:ext cx="1944282" cy="121374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8200" name="组合 10"/>
          <p:cNvGrpSpPr>
            <a:grpSpLocks noChangeAspect="1"/>
          </p:cNvGrpSpPr>
          <p:nvPr/>
        </p:nvGrpSpPr>
        <p:grpSpPr>
          <a:xfrm>
            <a:off x="4065588" y="2924175"/>
            <a:ext cx="4117975" cy="2387600"/>
            <a:chOff x="0" y="0"/>
            <a:chExt cx="4118386" cy="2388188"/>
          </a:xfrm>
        </p:grpSpPr>
        <p:pic>
          <p:nvPicPr>
            <p:cNvPr id="8202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4118386" cy="238818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203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6692" y="196069"/>
              <a:ext cx="3011714" cy="187373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文本框 1"/>
          <p:cNvSpPr txBox="1"/>
          <p:nvPr/>
        </p:nvSpPr>
        <p:spPr>
          <a:xfrm>
            <a:off x="7435850" y="5946775"/>
            <a:ext cx="3794125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3600" kern="1200" cap="none" spc="0" normalizeH="0" baseline="0" noProof="0">
                <a:solidFill>
                  <a:srgbClr val="FFFF00"/>
                </a:solidFill>
                <a:latin typeface="+mj-ea"/>
                <a:ea typeface="+mj-ea"/>
                <a:cs typeface="+mn-cs"/>
              </a:rPr>
              <a:t>2024</a:t>
            </a:r>
            <a:r>
              <a:rPr kumimoji="0" lang="zh-CN" altLang="en-US" sz="3600" kern="1200" cap="none" spc="0" normalizeH="0" baseline="0" noProof="0">
                <a:solidFill>
                  <a:srgbClr val="FFFF00"/>
                </a:solidFill>
                <a:latin typeface="+mj-ea"/>
                <a:ea typeface="+mj-ea"/>
                <a:cs typeface="+mn-cs"/>
              </a:rPr>
              <a:t>年</a:t>
            </a:r>
            <a:r>
              <a:rPr kumimoji="0" lang="en-US" altLang="zh-CN" sz="3600" kern="1200" cap="none" spc="0" normalizeH="0" baseline="0" noProof="0">
                <a:solidFill>
                  <a:srgbClr val="FFFF00"/>
                </a:solidFill>
                <a:latin typeface="+mj-ea"/>
                <a:ea typeface="+mj-ea"/>
                <a:cs typeface="+mn-cs"/>
              </a:rPr>
              <a:t>12</a:t>
            </a:r>
            <a:r>
              <a:rPr kumimoji="0" lang="zh-CN" altLang="en-US" sz="3600" kern="1200" cap="none" spc="0" normalizeH="0" baseline="0" noProof="0">
                <a:solidFill>
                  <a:srgbClr val="FFFF00"/>
                </a:solidFill>
                <a:latin typeface="+mj-ea"/>
                <a:ea typeface="+mj-ea"/>
                <a:cs typeface="+mn-cs"/>
              </a:rPr>
              <a:t>月</a:t>
            </a:r>
            <a:endParaRPr kumimoji="0" lang="zh-CN" altLang="en-US" sz="3600" kern="1200" cap="none" spc="0" normalizeH="0" baseline="0" noProof="0">
              <a:solidFill>
                <a:srgbClr val="FFFF00"/>
              </a:solidFill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考试题型与分值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type="body" idx="4294967295"/>
          </p:nvPr>
        </p:nvSpPr>
        <p:spPr>
          <a:xfrm>
            <a:off x="242888" y="1273175"/>
            <a:ext cx="11515725" cy="4968875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0"/>
              </a:spcBef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简答：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题，共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综合应用：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题，共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分析题：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题，共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200"/>
              </a:spcBef>
              <a:buNone/>
            </a:pPr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试卷中不提供附录，但是附录中的内容还是需要用到的，包括以太网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帧结构、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数据报、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格式等（课程群里有下载的），要求大家掌握其各个字段的含义。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1200"/>
              </a:spcBef>
              <a:buNone/>
            </a:pPr>
            <a:endParaRPr lang="en-US" altLang="zh-CN" sz="3600" dirty="0">
              <a:solidFill>
                <a:srgbClr val="FFFF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第一章     概述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type="body" idx="4294967295"/>
          </p:nvPr>
        </p:nvSpPr>
        <p:spPr>
          <a:xfrm>
            <a:off x="338138" y="1444625"/>
            <a:ext cx="11268075" cy="4968875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掌握计算机网络在逻辑上的组成及其各自的作用。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理解网络的类型（网络拓扑结构、网络覆盖范围）。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掌握网络体系结构的概念（分层、服务、协议、接口、封装等）；掌握协议概念和协议三要素的名称、含义。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OSI/RM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体系结构中每一层的名称和主要功能、</a:t>
            </a:r>
            <a:r>
              <a:rPr lang="en-US" altLang="zh-CN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OSI/RM</a:t>
            </a:r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下三层传输的基本单位</a:t>
            </a:r>
            <a:r>
              <a:rPr lang="zh-CN" altLang="en-US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比特、帧、分组</a:t>
            </a:r>
            <a:r>
              <a:rPr lang="zh-CN" altLang="en-US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，理解封装的概念。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第一章   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type="body" idx="4294967295"/>
          </p:nvPr>
        </p:nvSpPr>
        <p:spPr>
          <a:xfrm>
            <a:off x="138113" y="1101725"/>
            <a:ext cx="11515725" cy="5713413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下列有关计算机网络体系结构的描述，哪些是正确的？写出对应的序号，并对错误的描述进行纠正。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①计算机网络体系结构按照功能分层，同一个协议</a:t>
            </a:r>
            <a:r>
              <a:rPr lang="zh-CN" altLang="en-US" sz="28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处于多个层次；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模型中的应用层对应于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OSI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体系结构中的会话层、表示层和应用层；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③网络协议规定了计算机系统</a:t>
            </a:r>
            <a:r>
              <a:rPr lang="zh-CN" altLang="en-US" sz="2800" dirty="0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相邻层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之间数据交换的规则、标准和约定；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PING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直接使用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协议探测目标主机的可达性，说明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模型支持跨层访问。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答：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②④正确。</a:t>
            </a:r>
            <a:r>
              <a:rPr lang="en-US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错误。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①计算机网络体系结构按照功能分层，同一个协议</a:t>
            </a:r>
            <a:r>
              <a:rPr lang="zh-CN" altLang="en-US" sz="2800" dirty="0">
                <a:solidFill>
                  <a:srgbClr val="0070C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不可以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处于多个层次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③网络协议规定了计算机系统</a:t>
            </a:r>
            <a:r>
              <a:rPr lang="zh-CN" altLang="en-US" sz="2800" dirty="0">
                <a:solidFill>
                  <a:srgbClr val="0070C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对等层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之间数据交换的规则、标准和约定</a:t>
            </a:r>
            <a:endParaRPr lang="zh-CN" altLang="en-US" sz="28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28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第一章   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type="body" idx="4294967295"/>
          </p:nvPr>
        </p:nvSpPr>
        <p:spPr>
          <a:xfrm>
            <a:off x="138113" y="1101725"/>
            <a:ext cx="11515725" cy="4968875"/>
          </a:xfrm>
          <a:ln>
            <a:solidFill>
              <a:srgbClr val="213F99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史记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·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秦始皇本纪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》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中记载的部分内容中“一法度衡石丈尺，车同轨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书同文字”蕴含着协议三要素中的（ 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）。</a:t>
            </a:r>
            <a:endParaRPr kumimoji="0" lang="zh-CN" alt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A.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语法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　    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B.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语义　    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C.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同步　    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D.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定时</a:t>
            </a:r>
            <a:endParaRPr kumimoji="0" lang="zh-CN" alt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、下列选项中，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属于网络体系结构中所描述的内容是（       ）。 </a:t>
            </a:r>
            <a:endParaRPr kumimoji="0" lang="zh-CN" alt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UcPeriod"/>
              <a:defRPr/>
            </a:pP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网络层次                 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B.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协议内部实现细节  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C.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每一层使用协议	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D.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每层须完成的功能</a:t>
            </a:r>
            <a:endParaRPr kumimoji="0" lang="zh-CN" alt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、设有一个系统具有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层协议，其中应用进程生成长度为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字节的数据，在每层都加上长度为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字节的报头，那么传输报头所占用的网络带宽比是多少？</a:t>
            </a:r>
            <a:r>
              <a:rPr kumimoji="0" lang="zh-CN" altLang="en-US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答：</a:t>
            </a:r>
            <a:r>
              <a:rPr kumimoji="0" lang="en-US" altLang="zh-CN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nh/(nh+m)</a:t>
            </a:r>
            <a:endParaRPr kumimoji="0" lang="en-US" altLang="zh-CN" sz="2800" b="0" i="0" u="sng" strike="noStrike" kern="1200" cap="none" spc="0" normalizeH="0" baseline="0" noProof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第二章  数据通信技术基础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body" idx="4294967295"/>
          </p:nvPr>
        </p:nvSpPr>
        <p:spPr>
          <a:xfrm>
            <a:off x="200025" y="1130300"/>
            <a:ext cx="11577638" cy="4968875"/>
          </a:xfrm>
          <a:ln>
            <a:solidFill>
              <a:srgbClr val="213F99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掌握数据通信系统技术指标的计算（传信率、传码率、信道带宽、发送时延和传播时延、误码率）。</a:t>
            </a:r>
            <a:endParaRPr kumimoji="0" lang="zh-CN" alt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辨析曼彻斯特编码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差分的曼彻斯特编码，且能够根据数据序列画信号波形图以及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根据信号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波形图判断数据序列。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熟记两个信道容量的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公式（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包括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香农公式和奈氏第一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准则）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能够应用公式解决实际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掌握多路复用技术的概念和分类，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CDMA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中码片序列的特点。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第二章  数据通信技术基础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body" idx="4294967295"/>
          </p:nvPr>
        </p:nvSpPr>
        <p:spPr>
          <a:xfrm>
            <a:off x="200025" y="1130300"/>
            <a:ext cx="11577638" cy="4968875"/>
          </a:xfrm>
          <a:ln>
            <a:solidFill>
              <a:srgbClr val="213F99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理解三种数据交换技术的主要特点。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掌握汉明码中数据位长度和校验位长度的关系以及（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7,4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）汉明码的编码以及接收端纠错的过程。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掌握发送方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CRC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校验码的计算方法以及接收方的差错检测过程（生成多项式，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CRC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校验码，发送序列，接收端如何检错）。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第二章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8" name="Rectangle 3"/>
          <p:cNvSpPr txBox="1"/>
          <p:nvPr/>
        </p:nvSpPr>
        <p:spPr>
          <a:xfrm>
            <a:off x="400050" y="1492250"/>
            <a:ext cx="11077575" cy="48609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342900" lvl="0" indent="-342900" algn="just" eaLnBrk="1" hangingPunct="1">
              <a:lnSpc>
                <a:spcPts val="4000"/>
              </a:lnSpc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、若码元周期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T=2×10</a:t>
            </a:r>
            <a:r>
              <a:rPr lang="en-US" altLang="zh-CN" sz="28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秒，且传送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电平信号，则传码速率为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800" u="sng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1/T=5000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  传信速率为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u="sng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15 k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>
              <a:lnSpc>
                <a:spcPts val="4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、采用相位调制技术在带宽为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32KHz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的无噪声信道上传输数字信号。若要达到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192Kbps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的数据速度，至少要有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u="sng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en-US" altLang="zh-CN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种不同的相位。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eaLnBrk="1" hangingPunct="1">
              <a:lnSpc>
                <a:spcPts val="4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CDMA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共享链路，码片序列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(1,1,1,1)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(1,-1,1,-1)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(1,-1,-1,-1)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。不满足正交特性的站点是哪个，为什么？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，因为仅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A∙B=B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∙A=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A∙C≠0</a:t>
            </a:r>
            <a:r>
              <a:rPr lang="zh-CN" altLang="en-US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∙C≠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eaLnBrk="1" hangingPunct="1">
              <a:lnSpc>
                <a:spcPts val="4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、已知待传送的数据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M=10101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，若采用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技术进行检错，生成多项式为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en-US" altLang="zh-CN" sz="2800" baseline="30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+x+1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，则冗余码为 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u="sng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1010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，发送序列为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u="sng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10101 1010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8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第二章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2" name="矩形 8"/>
          <p:cNvSpPr/>
          <p:nvPr/>
        </p:nvSpPr>
        <p:spPr>
          <a:xfrm>
            <a:off x="123825" y="1482725"/>
            <a:ext cx="10858500" cy="45218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、下图为一段差分曼彻斯特编码信号波形，该编码的二进制串是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       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A.</a:t>
            </a: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10111001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B. 11010001     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spcBef>
                <a:spcPct val="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C. 00101110                 D. 10110110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413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838" y="2670175"/>
            <a:ext cx="7931150" cy="2149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椭圆 1"/>
          <p:cNvSpPr/>
          <p:nvPr/>
        </p:nvSpPr>
        <p:spPr>
          <a:xfrm>
            <a:off x="2457450" y="4022090"/>
            <a:ext cx="478790" cy="54546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386455" y="2748280"/>
            <a:ext cx="478790" cy="54546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204335" y="4022090"/>
            <a:ext cx="478790" cy="54546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020560" y="2805430"/>
            <a:ext cx="478790" cy="545465"/>
          </a:xfrm>
          <a:prstGeom prst="ellipse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593840" y="4952280"/>
            <a:ext cx="4064000" cy="92202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注解：差分以前后码元有无差异表示比特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3458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比特应相同，</a:t>
            </a:r>
            <a:r>
              <a:rPr lang="en-US" altLang="zh-CN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267</a:t>
            </a:r>
            <a:r>
              <a:rPr lang="zh-CN" altLang="en-US" sz="1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比特应相同</a:t>
            </a:r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第二章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6" name="Rectangle 3"/>
          <p:cNvSpPr txBox="1"/>
          <p:nvPr/>
        </p:nvSpPr>
        <p:spPr>
          <a:xfrm>
            <a:off x="546100" y="1303338"/>
            <a:ext cx="10345738" cy="49450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、主机甲通过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个路由器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存储转发方式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与主机乙互联，两段链路的数据传输速率均为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10Mb/s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，主机甲分别采用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报文交换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和分组大小为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10kb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分组交换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向主机乙发送一个大小为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8Mb(1M=10</a:t>
            </a:r>
            <a:r>
              <a:rPr lang="en-US" altLang="zh-CN" sz="28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的报文。若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忽略链路传播延迟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、分组头开销和分组拆装时间，则两种交换方式完成该报文传输所需的总时间分别为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       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A.800ms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1600ms	B.801ms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1600ms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C.1600ms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800ms	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D.1600ms</a:t>
            </a:r>
            <a:r>
              <a:rPr lang="zh-CN" altLang="en-US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801ms</a:t>
            </a:r>
            <a:endParaRPr lang="en-US" altLang="zh-CN" sz="2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7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1650" y="3776663"/>
            <a:ext cx="3656013" cy="11382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1"/>
          <p:cNvCxnSpPr/>
          <p:nvPr/>
        </p:nvCxnSpPr>
        <p:spPr>
          <a:xfrm>
            <a:off x="9023985" y="4676775"/>
            <a:ext cx="11430" cy="1495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9998075" y="4676775"/>
            <a:ext cx="11430" cy="1495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0975975" y="4676775"/>
            <a:ext cx="11430" cy="1495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023985" y="4849495"/>
            <a:ext cx="977900" cy="5981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002520" y="4968875"/>
            <a:ext cx="977900" cy="59817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9036685" y="4968240"/>
            <a:ext cx="965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036685" y="5074920"/>
            <a:ext cx="965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0012680" y="5079365"/>
            <a:ext cx="965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10012680" y="5186045"/>
            <a:ext cx="965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705215" y="4093210"/>
            <a:ext cx="2640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H1        </a:t>
            </a:r>
            <a:r>
              <a:rPr lang="zh-CN" altLang="en-US"/>
              <a:t>路由器</a:t>
            </a:r>
            <a:r>
              <a:rPr lang="en-US" altLang="zh-CN"/>
              <a:t>         </a:t>
            </a:r>
            <a:r>
              <a:rPr lang="en-US" altLang="zh-CN"/>
              <a:t>H2</a:t>
            </a:r>
            <a:endParaRPr lang="en-US" altLang="zh-CN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8599805" y="4693920"/>
            <a:ext cx="0" cy="873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473440" y="5575300"/>
            <a:ext cx="40767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pitchFamily="34" charset="-122"/>
              </a:rPr>
              <a:t>t</a:t>
            </a:r>
            <a:endParaRPr lang="en-US" altLang="zh-CN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第三章  数据链路层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body" idx="4294967295"/>
          </p:nvPr>
        </p:nvSpPr>
        <p:spPr>
          <a:xfrm>
            <a:off x="347663" y="1211263"/>
            <a:ext cx="11515725" cy="4968875"/>
          </a:xfrm>
          <a:ln>
            <a:solidFill>
              <a:srgbClr val="213F99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掌握停止－等待协议的工作过程以及信道利用率的计算。</a:t>
            </a: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理解利用滑动窗口协议进行流量控制的方法，掌握数据传送阶段发送窗口和接收窗口滑动的情况，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连续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ARQ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选择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ARQ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的发送窗口和接收窗口的取值范围。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1,2</a:t>
            </a:r>
            <a:r>
              <a:rPr kumimoji="0" lang="en-US" altLang="zh-CN" sz="3200" b="0" i="0" u="sng" strike="noStrike" kern="1200" cap="none" spc="0" normalizeH="0" baseline="3000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-1], 1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(1,2</a:t>
            </a:r>
            <a:r>
              <a:rPr kumimoji="0" lang="en-US" altLang="zh-CN" sz="3200" b="0" i="0" u="sng" strike="noStrike" kern="1200" cap="none" spc="0" normalizeH="0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n-1</a:t>
            </a:r>
            <a:r>
              <a:rPr kumimoji="0" lang="en-US" altLang="zh-CN" sz="3200" b="0" i="0" u="sng" strike="noStrike" kern="1200" cap="none" spc="0" normalizeH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lang="en-US" altLang="zh-CN" sz="3200" u="sng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(1,2</a:t>
            </a:r>
            <a:r>
              <a:rPr lang="en-US" altLang="zh-CN" sz="3200" u="sng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n-1</a:t>
            </a:r>
            <a:r>
              <a:rPr lang="en-US" altLang="zh-CN" sz="3200" u="sng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HDLC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协议数据透明传输的方法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第三章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type="body" idx="4294967295"/>
          </p:nvPr>
        </p:nvSpPr>
        <p:spPr>
          <a:xfrm>
            <a:off x="166688" y="1225550"/>
            <a:ext cx="11515725" cy="5565775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HDLC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帧中部分数据比特为“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0111101111110”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，经过填充后出现在链路上的比特序列是什么？</a:t>
            </a:r>
            <a:r>
              <a:rPr lang="en-US" altLang="zh-CN" sz="3200" u="sng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01111011111</a:t>
            </a:r>
            <a:r>
              <a:rPr lang="en-US" altLang="zh-CN" sz="3200" u="sng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en-US" altLang="zh-CN" sz="3200" u="sng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、主机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和主机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的数据链路层采用连续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ARQ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协议进行流量控制，帧序号长度为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3bit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，则两主机的发送窗口尺寸最大设置为多少？接收窗口为多大？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3200" baseline="-25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lang="en-US" altLang="zh-CN" sz="3200" baseline="30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-1=7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en-US" altLang="zh-CN" sz="3200" baseline="-25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、已知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站点之间采用连续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ARQ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协议进行流量控制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帧编号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的发送窗口尺寸为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4,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连续发送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号到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号帧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收到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0,1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号帧的确认时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的发送窗口经过滑动后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包含的序号范围是什么？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2 3 4 5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第四章  局域网与广域网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21507" name="Rectangle 3"/>
          <p:cNvSpPr>
            <a:spLocks noGrp="1"/>
          </p:cNvSpPr>
          <p:nvPr>
            <p:ph type="body" idx="4294967295"/>
          </p:nvPr>
        </p:nvSpPr>
        <p:spPr>
          <a:xfrm>
            <a:off x="138113" y="1035050"/>
            <a:ext cx="11515725" cy="5360988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CSMA/CD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协议（原理、争用期、最短帧的计算、以太网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帧格式、帧填充、退避时间的决定因素）。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10BASE-T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10BASE-F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等以太网的几个技术特性（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传输技术、传输介质、拓扑结构、介质访问控制方法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等）。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集线器和以太交换机的工作层次和工作原理，理解两种设备对应的冲突域和广播域的划分情况，掌握网桥转发帧的过程和转发表更新方法，掌握以太网交换机三种转发帧的方式，会计算不同方式下帧转发时延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掌握无线局域网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802.11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中使用的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CSMA/CA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的工作原理。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掌握广域网的网络层为用户提供的两种服务名称及区别。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第四章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body" idx="4294967295"/>
          </p:nvPr>
        </p:nvSpPr>
        <p:spPr>
          <a:xfrm>
            <a:off x="266700" y="1173163"/>
            <a:ext cx="11515725" cy="4968875"/>
          </a:xfrm>
          <a:ln>
            <a:solidFill>
              <a:srgbClr val="213F99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两站位于长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4km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的基带总线局域网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(CSMA/CD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的两端，数据传输速率为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20Mbps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，信号传播速度为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2×10</a:t>
            </a:r>
            <a:r>
              <a:rPr kumimoji="0" lang="en-US" altLang="zh-CN" sz="3200" b="0" i="0" u="none" strike="noStrike" kern="1200" cap="none" spc="0" normalizeH="0" baseline="30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m/s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 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）该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基带总线局域网内的最短帧长。</a:t>
            </a:r>
            <a:r>
              <a:rPr lang="en-US" altLang="zh-CN" sz="320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2τ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C=2*20</a:t>
            </a:r>
            <a:r>
              <a:rPr lang="en-US" altLang="zh-CN" sz="320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μ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s*20Mbps=800b      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2τ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是争用期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lang="en-US" altLang="zh-CN" sz="32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τ</a:t>
            </a:r>
            <a:r>
              <a:rPr lang="zh-CN" altLang="en-US" sz="32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也是</a:t>
            </a:r>
            <a:r>
              <a:rPr lang="en-US" altLang="zh-CN" sz="32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3200" baseline="-25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）若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站点给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站点发送数据时，已经发生了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次冲突，站点可供选择的最大退避系数是多少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 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最长退避时间是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3*40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微妙</a:t>
            </a: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）若从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站发送数据开始， 到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站接收完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站发送来的一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个长度是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2000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比特的数据帧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所需的时间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是多少微秒？</a:t>
            </a: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+t</a:t>
            </a:r>
            <a:r>
              <a:rPr kumimoji="0" lang="en-US" altLang="zh-CN" sz="320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=2000b/(20Mbps)+4km/(</a:t>
            </a:r>
            <a:r>
              <a:rPr lang="en-US" altLang="zh-CN" sz="320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2×10</a:t>
            </a:r>
            <a:r>
              <a:rPr lang="en-US" altLang="zh-CN" sz="3200" baseline="3000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en-US" altLang="zh-CN" sz="320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m/s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)=100</a:t>
            </a:r>
            <a:r>
              <a:rPr lang="en-US" altLang="zh-CN" sz="320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μ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s+20</a:t>
            </a:r>
            <a:r>
              <a:rPr lang="en-US" altLang="zh-CN" sz="3200" noProof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μ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第四章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1158875"/>
            <a:ext cx="11515725" cy="4968875"/>
          </a:xfrm>
          <a:ln>
            <a:solidFill>
              <a:srgbClr val="213F99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、以太交换机的三种帧转发方式中，不可能转发出错帧的是哪种方式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</a:t>
            </a:r>
            <a:r>
              <a:rPr kumimoji="0" lang="zh-CN" altLang="en-US" sz="32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存储转发方式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、对于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100Mbps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的以太网交换机，当输出端口无排队，以无碎片交换方式转发一个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1000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字节的以太网帧（不包括前导码）时，引入的转发延迟至少是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_______μs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64*8b/(100Mbps)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514350" marR="0" lvl="0" indent="-51435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lphaUcPeriod"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0.48    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B. 5.12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	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C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 10         D. 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80</a:t>
            </a: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、一个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端口的以太交换机具有（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320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）个冲突域，（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）个广播域。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第四章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1158875"/>
            <a:ext cx="11515725" cy="4968875"/>
          </a:xfrm>
          <a:ln>
            <a:solidFill>
              <a:srgbClr val="213F99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 rot="16200000">
            <a:off x="3228340" y="-1438275"/>
            <a:ext cx="509333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第四章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0" name="矩形 1"/>
          <p:cNvSpPr/>
          <p:nvPr/>
        </p:nvSpPr>
        <p:spPr>
          <a:xfrm>
            <a:off x="90488" y="1152525"/>
            <a:ext cx="11791950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、现有五个站分别连接在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个局域网上，并且用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两个透明网桥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连接起来，如下图所示。每一个网桥的两个端口号都标明在图上。在一开始，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两个网桥中的转发表都是空的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。以后有以下各站向其他的站发送了数据帧，即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。请分析两个网桥的处理方式以及两个网桥转发表的变化。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581" name="组合 11"/>
          <p:cNvGrpSpPr/>
          <p:nvPr/>
        </p:nvGrpSpPr>
        <p:grpSpPr>
          <a:xfrm>
            <a:off x="2163763" y="3613150"/>
            <a:ext cx="7699375" cy="2806700"/>
            <a:chOff x="739074" y="3366508"/>
            <a:chExt cx="7699868" cy="2807012"/>
          </a:xfrm>
        </p:grpSpPr>
        <p:sp>
          <p:nvSpPr>
            <p:cNvPr id="24582" name="Line 5"/>
            <p:cNvSpPr/>
            <p:nvPr/>
          </p:nvSpPr>
          <p:spPr>
            <a:xfrm flipH="1">
              <a:off x="3664606" y="4315833"/>
              <a:ext cx="0" cy="3730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3" name="Line 6"/>
            <p:cNvSpPr/>
            <p:nvPr/>
          </p:nvSpPr>
          <p:spPr>
            <a:xfrm flipH="1">
              <a:off x="2748618" y="4334883"/>
              <a:ext cx="0" cy="3857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4" name="Line 27"/>
            <p:cNvSpPr/>
            <p:nvPr/>
          </p:nvSpPr>
          <p:spPr>
            <a:xfrm>
              <a:off x="2413501" y="4725848"/>
              <a:ext cx="0" cy="53022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5" name="Rectangle 28"/>
            <p:cNvSpPr/>
            <p:nvPr/>
          </p:nvSpPr>
          <p:spPr>
            <a:xfrm>
              <a:off x="997606" y="4668258"/>
              <a:ext cx="104775" cy="109537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586" name="Line 29"/>
            <p:cNvSpPr/>
            <p:nvPr/>
          </p:nvSpPr>
          <p:spPr>
            <a:xfrm flipV="1">
              <a:off x="1045231" y="4722233"/>
              <a:ext cx="1835150" cy="317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7" name="Rectangle 30"/>
            <p:cNvSpPr/>
            <p:nvPr/>
          </p:nvSpPr>
          <p:spPr>
            <a:xfrm>
              <a:off x="2835931" y="4650795"/>
              <a:ext cx="104775" cy="111125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588" name="Line 31"/>
            <p:cNvSpPr/>
            <p:nvPr/>
          </p:nvSpPr>
          <p:spPr>
            <a:xfrm>
              <a:off x="1421468" y="4725408"/>
              <a:ext cx="0" cy="51117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89" name="Rectangle 32"/>
            <p:cNvSpPr/>
            <p:nvPr/>
          </p:nvSpPr>
          <p:spPr>
            <a:xfrm>
              <a:off x="739074" y="5058364"/>
              <a:ext cx="508153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590" name="Rectangle 34"/>
            <p:cNvSpPr/>
            <p:nvPr/>
          </p:nvSpPr>
          <p:spPr>
            <a:xfrm flipH="1">
              <a:off x="2547336" y="5174890"/>
              <a:ext cx="566055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591" name="Rectangle 35"/>
            <p:cNvSpPr/>
            <p:nvPr/>
          </p:nvSpPr>
          <p:spPr>
            <a:xfrm>
              <a:off x="3597931" y="4341233"/>
              <a:ext cx="336632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592" name="Rectangle 36"/>
            <p:cNvSpPr/>
            <p:nvPr/>
          </p:nvSpPr>
          <p:spPr>
            <a:xfrm>
              <a:off x="2505360" y="4317393"/>
              <a:ext cx="336632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24593" name="Picture 6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70643" y="5206420"/>
              <a:ext cx="506413" cy="53816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4594" name="Picture 6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38863" y="5214798"/>
              <a:ext cx="508000" cy="53816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595" name="Rectangle 65"/>
            <p:cNvSpPr/>
            <p:nvPr/>
          </p:nvSpPr>
          <p:spPr>
            <a:xfrm>
              <a:off x="2912130" y="3366508"/>
              <a:ext cx="979487" cy="36676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网桥</a:t>
              </a:r>
              <a:r>
                <a:rPr lang="en-US" altLang="zh-CN" sz="1800" baseline="-25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1</a:t>
              </a:r>
              <a:endParaRPr lang="zh-CN" altLang="en-US" sz="1800" baseline="-250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pic>
          <p:nvPicPr>
            <p:cNvPr id="24596" name="Picture 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0506" y="3523670"/>
              <a:ext cx="1281112" cy="871538"/>
            </a:xfrm>
            <a:prstGeom prst="rect">
              <a:avLst/>
            </a:prstGeom>
            <a:noFill/>
            <a:ln w="12699">
              <a:noFill/>
            </a:ln>
          </p:spPr>
        </p:pic>
        <p:sp>
          <p:nvSpPr>
            <p:cNvPr id="24597" name="Line 67"/>
            <p:cNvSpPr/>
            <p:nvPr/>
          </p:nvSpPr>
          <p:spPr>
            <a:xfrm>
              <a:off x="4327339" y="4689690"/>
              <a:ext cx="0" cy="5318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598" name="Rectangle 69"/>
            <p:cNvSpPr/>
            <p:nvPr/>
          </p:nvSpPr>
          <p:spPr>
            <a:xfrm>
              <a:off x="3439181" y="4649208"/>
              <a:ext cx="104775" cy="111125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599" name="Line 70"/>
            <p:cNvSpPr/>
            <p:nvPr/>
          </p:nvSpPr>
          <p:spPr>
            <a:xfrm flipV="1">
              <a:off x="3486806" y="4703183"/>
              <a:ext cx="1835150" cy="317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0" name="Rectangle 71"/>
            <p:cNvSpPr/>
            <p:nvPr/>
          </p:nvSpPr>
          <p:spPr>
            <a:xfrm>
              <a:off x="5277506" y="4633333"/>
              <a:ext cx="104775" cy="109537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24601" name="Picture 7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51114" y="5181815"/>
              <a:ext cx="508000" cy="53816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02" name="Line 5"/>
            <p:cNvSpPr/>
            <p:nvPr/>
          </p:nvSpPr>
          <p:spPr>
            <a:xfrm flipH="1">
              <a:off x="6220481" y="4315833"/>
              <a:ext cx="0" cy="3730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3" name="Rectangle 35"/>
            <p:cNvSpPr/>
            <p:nvPr/>
          </p:nvSpPr>
          <p:spPr>
            <a:xfrm>
              <a:off x="6220481" y="4301491"/>
              <a:ext cx="336632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24604" name="Picture 6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23520" y="3560182"/>
              <a:ext cx="1281112" cy="871538"/>
            </a:xfrm>
            <a:prstGeom prst="rect">
              <a:avLst/>
            </a:prstGeom>
            <a:noFill/>
            <a:ln w="12699">
              <a:noFill/>
            </a:ln>
          </p:spPr>
        </p:pic>
        <p:sp>
          <p:nvSpPr>
            <p:cNvPr id="24605" name="Line 68"/>
            <p:cNvSpPr/>
            <p:nvPr/>
          </p:nvSpPr>
          <p:spPr>
            <a:xfrm>
              <a:off x="7493852" y="4685721"/>
              <a:ext cx="0" cy="5318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6" name="Rectangle 69"/>
            <p:cNvSpPr/>
            <p:nvPr/>
          </p:nvSpPr>
          <p:spPr>
            <a:xfrm>
              <a:off x="5995056" y="4649208"/>
              <a:ext cx="104775" cy="111125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07" name="Line 70"/>
            <p:cNvSpPr/>
            <p:nvPr/>
          </p:nvSpPr>
          <p:spPr>
            <a:xfrm flipV="1">
              <a:off x="6042681" y="4703183"/>
              <a:ext cx="1835150" cy="317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08" name="Rectangle 71"/>
            <p:cNvSpPr/>
            <p:nvPr/>
          </p:nvSpPr>
          <p:spPr>
            <a:xfrm>
              <a:off x="7833381" y="4633333"/>
              <a:ext cx="104775" cy="109537"/>
            </a:xfrm>
            <a:prstGeom prst="rect">
              <a:avLst/>
            </a:prstGeom>
            <a:solidFill>
              <a:schemeClr val="tx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09" name="Line 72"/>
            <p:cNvSpPr/>
            <p:nvPr/>
          </p:nvSpPr>
          <p:spPr>
            <a:xfrm>
              <a:off x="6586399" y="4693658"/>
              <a:ext cx="0" cy="51276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pic>
          <p:nvPicPr>
            <p:cNvPr id="24610" name="Picture 7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35574" y="5176258"/>
              <a:ext cx="506413" cy="53816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4611" name="Picture 7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220802" y="5176258"/>
              <a:ext cx="508000" cy="53816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4612" name="Rectangle 65"/>
            <p:cNvSpPr/>
            <p:nvPr/>
          </p:nvSpPr>
          <p:spPr>
            <a:xfrm>
              <a:off x="5439431" y="3394262"/>
              <a:ext cx="979487" cy="366767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网桥</a:t>
              </a:r>
              <a:r>
                <a:rPr lang="en-US" altLang="zh-CN" sz="1800" baseline="-25000" dirty="0">
                  <a:latin typeface="Times New Roman" panose="02020603050405020304" pitchFamily="18" charset="0"/>
                  <a:ea typeface="微软雅黑" panose="020B0503020204020204" pitchFamily="34" charset="-122"/>
                </a:rPr>
                <a:t>2</a:t>
              </a:r>
              <a:endParaRPr lang="zh-CN" altLang="en-US" sz="1800" baseline="-25000" dirty="0"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4613" name="Line 5"/>
            <p:cNvSpPr/>
            <p:nvPr/>
          </p:nvSpPr>
          <p:spPr>
            <a:xfrm>
              <a:off x="5183678" y="4395207"/>
              <a:ext cx="3499" cy="31908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14" name="Rectangle 35"/>
            <p:cNvSpPr/>
            <p:nvPr/>
          </p:nvSpPr>
          <p:spPr>
            <a:xfrm>
              <a:off x="4899847" y="4309428"/>
              <a:ext cx="336632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15" name="Rectangle 32"/>
            <p:cNvSpPr/>
            <p:nvPr/>
          </p:nvSpPr>
          <p:spPr>
            <a:xfrm flipH="1">
              <a:off x="4417068" y="5163712"/>
              <a:ext cx="628614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16" name="Rectangle 32"/>
            <p:cNvSpPr/>
            <p:nvPr/>
          </p:nvSpPr>
          <p:spPr>
            <a:xfrm>
              <a:off x="5846472" y="5147751"/>
              <a:ext cx="679881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17" name="Rectangle 32"/>
            <p:cNvSpPr/>
            <p:nvPr/>
          </p:nvSpPr>
          <p:spPr>
            <a:xfrm>
              <a:off x="7652028" y="5176258"/>
              <a:ext cx="786914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r>
                <a:rPr lang="en-US" altLang="zh-CN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baseline="-25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18" name="Rectangle 32"/>
            <p:cNvSpPr/>
            <p:nvPr/>
          </p:nvSpPr>
          <p:spPr>
            <a:xfrm>
              <a:off x="899073" y="5697678"/>
              <a:ext cx="980076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MAC</a:t>
              </a:r>
              <a:r>
                <a:rPr lang="en-US" altLang="zh-CN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19" name="Rectangle 32"/>
            <p:cNvSpPr/>
            <p:nvPr/>
          </p:nvSpPr>
          <p:spPr>
            <a:xfrm>
              <a:off x="2043610" y="5714420"/>
              <a:ext cx="980076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MAC</a:t>
              </a:r>
              <a:r>
                <a:rPr lang="en-US" altLang="zh-CN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20" name="Rectangle 32"/>
            <p:cNvSpPr/>
            <p:nvPr/>
          </p:nvSpPr>
          <p:spPr>
            <a:xfrm>
              <a:off x="3891617" y="5645248"/>
              <a:ext cx="980076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MAC</a:t>
              </a:r>
              <a:r>
                <a:rPr lang="en-US" altLang="zh-CN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21" name="Rectangle 32"/>
            <p:cNvSpPr/>
            <p:nvPr/>
          </p:nvSpPr>
          <p:spPr>
            <a:xfrm>
              <a:off x="6020624" y="5617651"/>
              <a:ext cx="980076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MAC</a:t>
              </a:r>
              <a:r>
                <a:rPr lang="en-US" altLang="zh-CN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4622" name="Rectangle 32"/>
            <p:cNvSpPr/>
            <p:nvPr/>
          </p:nvSpPr>
          <p:spPr>
            <a:xfrm>
              <a:off x="7150931" y="5617651"/>
              <a:ext cx="980076" cy="459100"/>
            </a:xfrm>
            <a:prstGeom prst="rect">
              <a:avLst/>
            </a:prstGeom>
            <a:noFill/>
            <a:ln w="12700">
              <a:noFill/>
            </a:ln>
          </p:spPr>
          <p:txBody>
            <a:bodyPr lIns="90488" tIns="44450" rIns="90488" bIns="44450">
              <a:spAutoFit/>
            </a:bodyPr>
            <a:lstStyle>
              <a:lvl1pPr marL="228600" indent="-228600" algn="l" rtl="0" eaLnBrk="0" fontAlgn="base" hangingPunct="0">
                <a:lnSpc>
                  <a:spcPct val="12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lnSpc>
                  <a:spcPct val="12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defTabSz="762000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MAC</a:t>
              </a:r>
              <a:r>
                <a:rPr lang="en-US" altLang="zh-CN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第四章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560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25" y="2819400"/>
            <a:ext cx="8137525" cy="37766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039813"/>
            <a:ext cx="4286250" cy="17621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637665" y="3941445"/>
          <a:ext cx="6710045" cy="250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855"/>
                <a:gridCol w="792480"/>
                <a:gridCol w="1052830"/>
                <a:gridCol w="631825"/>
                <a:gridCol w="1562100"/>
                <a:gridCol w="1544955"/>
              </a:tblGrid>
              <a:tr h="639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MAC1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MAC1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口转发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登记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(MAC1,1)</a:t>
                      </a:r>
                      <a:endParaRPr lang="en-US" altLang="zh-CN" sz="160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2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口转发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登记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(MAC1,1)</a:t>
                      </a:r>
                      <a:endParaRPr lang="en-US" altLang="zh-CN" sz="16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</a:tr>
              <a:tr h="624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MAC3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MAC3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1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口转发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登记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(MAC3,2)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2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口转发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登记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(MAC3,1)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</a:tr>
              <a:tr h="5556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MAC4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MAC4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丢弃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登记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(MAC4,2)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口转发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登记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(MAC4,2)</a:t>
                      </a:r>
                      <a:endParaRPr lang="en-US" altLang="zh-CN" sz="160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</a:tr>
              <a:tr h="6661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MAC2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丢弃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 </a:t>
                      </a:r>
                      <a:r>
                        <a:rPr lang="zh-CN" altLang="en-US" sz="1600">
                          <a:solidFill>
                            <a:schemeClr val="tx1"/>
                          </a:solidFill>
                          <a:sym typeface="+mn-ea"/>
                        </a:rPr>
                        <a:t>登记</a:t>
                      </a:r>
                      <a:r>
                        <a:rPr lang="en-US" altLang="zh-CN" sz="1600">
                          <a:solidFill>
                            <a:schemeClr val="tx1"/>
                          </a:solidFill>
                          <a:sym typeface="+mn-ea"/>
                        </a:rPr>
                        <a:t>(MAC2,1)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</a:rPr>
                        <a:t>收不到</a:t>
                      </a:r>
                      <a:endParaRPr lang="zh-CN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rgbClr val="0070C0"/>
                      </a:solidFill>
                      <a:prstDash val="sysDot"/>
                    </a:lnL>
                    <a:lnR w="12700">
                      <a:solidFill>
                        <a:srgbClr val="0070C0"/>
                      </a:solidFill>
                      <a:prstDash val="sysDot"/>
                    </a:lnR>
                    <a:lnT w="12700">
                      <a:solidFill>
                        <a:srgbClr val="0070C0"/>
                      </a:solidFill>
                      <a:prstDash val="sysDot"/>
                    </a:lnT>
                    <a:lnB w="12700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第四章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8" name="矩形 1"/>
          <p:cNvSpPr/>
          <p:nvPr/>
        </p:nvSpPr>
        <p:spPr>
          <a:xfrm>
            <a:off x="90488" y="1152525"/>
            <a:ext cx="11791950" cy="31076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CSMA/CD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CSMA/CA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是以太网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DIX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和无线局域网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802.11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采用的介质访问控制方法，下列选项哪些属于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CSMA/CD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，哪些属于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CSMA/CA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？请写出对应的序号。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①②③⑥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sz="2800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①④⑤⑥⑦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①发送数据前先检测信道；②采用固定的帧间间隔；③边发送数据边检测信道；④支持信道预约；⑤支持确认机制；⑥采用二进制指数退避算法减少冲突；⑦不同类型的帧发送前需要等待的时间不同。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  网络层与网际互连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type="body" idx="4294967295"/>
          </p:nvPr>
        </p:nvSpPr>
        <p:spPr>
          <a:xfrm>
            <a:off x="166688" y="1120775"/>
            <a:ext cx="11515725" cy="5484813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能够分析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地址的类型。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根据给出的一个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帧（或者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数据报），能够分析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数据报首部的关键字段。</a:t>
            </a:r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（结合第</a:t>
            </a:r>
            <a:r>
              <a:rPr lang="en-US" altLang="zh-CN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  <a:endParaRPr lang="zh-CN" altLang="en-US" sz="3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数据报分片的原因以及相关计算。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协议的作用及工作原理。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Clr>
                <a:schemeClr val="hlink"/>
              </a:buClr>
              <a:buSzPct val="60000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.理解因特网控制报文协议ICMP及其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PING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Clr>
                <a:schemeClr val="hlink"/>
              </a:buClr>
              <a:buSzPct val="60000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.掌握子网的划分和地址分配。（会计算所用的子网掩码、每个子网的子网地址、每个子网容纳的主机数、每个子网最小的IP地址、最大的IP地址及广播地址）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  网络层与网际互连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type="body" idx="4294967295"/>
          </p:nvPr>
        </p:nvSpPr>
        <p:spPr>
          <a:xfrm>
            <a:off x="61913" y="1035050"/>
            <a:ext cx="11806238" cy="5484813"/>
          </a:xfrm>
          <a:ln>
            <a:solidFill>
              <a:srgbClr val="213F99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掌握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直接交付和间接交付的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概念，并会判断何时采用直接交付或者间接交付。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 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理解无分类编址的基本思想，掌握路由聚合的方法，理解无分类编址下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路由选择的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最长前缀匹配的原则。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掌握路由选择协议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RIP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OSPF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的基本特点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。理解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RIP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协议路由更新的基本思想，掌握基于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V-D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算法（距离向量算法）的路由更新方法。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10. 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理解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IPv6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地址的类型和零压缩的表示方法。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11.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理解路由器处理和转发数据报的过程，掌握路由表中几种类型的路由内容。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12.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能够区分私有地址（专用地址）和全球地址，掌握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NAT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作用。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13.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IPv6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地址的长度以及采用零压缩法如何表示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IPV6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233680" y="1187450"/>
            <a:ext cx="11649075" cy="5565775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中，一个数据报总长度为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字节（固定长度的首部），现在经过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MTU=600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字节的网络传送，则该数据报被划分数据报片个数是（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） ，最后一个分片的数据部分长度是（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252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）字节，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MF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位是（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），片偏移字段的值是（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72*3=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216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600-20=580, 580&amp;0xfff8=576=72*8  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分片数据部分长度应为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字节的倍数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2000-20=1980, 1980=576*3+252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、主机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PING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命令探测主机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的连通性，则在两者之间直接使用的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报文类型是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echo request</a:t>
            </a:r>
            <a:r>
              <a:rPr lang="zh-CN" altLang="en-US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echo reply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封装该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数据报在传送的过程中，一定会发生变化的首部字段是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</a:t>
            </a:r>
            <a:r>
              <a:rPr lang="en-US" altLang="zh-CN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TTL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)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首部经验和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32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endParaRPr lang="en-US" altLang="zh-CN" sz="3200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 idx="4294967295"/>
          </p:nvPr>
        </p:nvSpPr>
        <p:spPr>
          <a:xfrm>
            <a:off x="1747838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2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838" y="1633538"/>
            <a:ext cx="6134100" cy="4257675"/>
          </a:xfrm>
          <a:prstGeom prst="rect">
            <a:avLst/>
          </a:prstGeom>
          <a:noFill/>
          <a:ln w="9525" cap="flat" cmpd="sng">
            <a:solidFill>
              <a:srgbClr val="0067B4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/>
        </p:nvSpPr>
        <p:spPr>
          <a:xfrm>
            <a:off x="6358255" y="843280"/>
            <a:ext cx="5834380" cy="5742940"/>
          </a:xfrm>
          <a:prstGeom prst="rect">
            <a:avLst/>
          </a:prstGeom>
          <a:ln>
            <a:solidFill>
              <a:srgbClr val="0067B4"/>
            </a:solidFill>
          </a:ln>
        </p:spPr>
        <p:txBody>
          <a:bodyPr wrap="square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）为确保主机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H1~H4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能够访问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Internet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，路由器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R1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需要提供什么服务？主机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H1~H4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在访问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Internet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时，其发出去的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分组的源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地址被转换后的地址是什么？</a:t>
            </a:r>
            <a:r>
              <a:rPr kumimoji="0" lang="en-US" altLang="zh-CN" sz="1800" b="0" i="0" u="sng" strike="noStrike" kern="1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NAT</a:t>
            </a:r>
            <a:r>
              <a:rPr kumimoji="0" lang="zh-CN" altLang="en-US" sz="1800" b="0" i="0" u="sng" strike="noStrike" kern="1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服务，</a:t>
            </a:r>
            <a:r>
              <a:rPr kumimoji="0" lang="en-US" altLang="zh-CN" sz="1800" b="0" i="0" u="sng" strike="noStrike" kern="1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202.119.2.10</a:t>
            </a:r>
            <a:endParaRPr kumimoji="0" lang="zh-CN" altLang="en-US" sz="18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）若主机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H1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发送一个目的地址为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192.168.1.63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数据报，网络中哪几个主机会接收该数据报？</a:t>
            </a:r>
            <a:r>
              <a:rPr kumimoji="0" lang="zh-CN" altLang="en-US" sz="1800" b="0" i="0" u="sng" strike="noStrike" kern="1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这是子网广播地址</a:t>
            </a:r>
            <a:r>
              <a:rPr kumimoji="0" lang="en-US" altLang="zh-CN" sz="1800" b="0" i="0" u="sng" strike="noStrike" kern="1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, H1,H2,R2</a:t>
            </a:r>
            <a:r>
              <a:rPr kumimoji="0" lang="zh-CN" altLang="en-US" sz="1800" b="0" i="0" u="sng" strike="noStrike" kern="1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会接收</a:t>
            </a:r>
            <a:endParaRPr kumimoji="0" lang="zh-CN" altLang="en-US" sz="18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）请根据题目中的要求，为路由器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R2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对应的三个接口（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IF1~IF3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）配置正确的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地址。</a:t>
            </a:r>
            <a:r>
              <a:rPr lang="en-US" altLang="zh-CN" sz="1800" u="sng" kern="10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sym typeface="+mn-ea"/>
              </a:rPr>
              <a:t>192.168.1.254</a:t>
            </a:r>
            <a:r>
              <a:rPr lang="zh-CN" altLang="en-US" sz="1800" u="sng" kern="10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sym typeface="+mn-ea"/>
              </a:rPr>
              <a:t>，</a:t>
            </a:r>
            <a:r>
              <a:rPr lang="en-US" altLang="zh-CN" sz="1800" u="sng" kern="10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sym typeface="+mn-ea"/>
              </a:rPr>
              <a:t> 192.168.1.1</a:t>
            </a:r>
            <a:r>
              <a:rPr lang="zh-CN" altLang="en-US" sz="1800" u="sng" kern="10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sym typeface="+mn-ea"/>
              </a:rPr>
              <a:t>，</a:t>
            </a:r>
            <a:r>
              <a:rPr lang="en-US" altLang="zh-CN" sz="1800" u="sng" kern="10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sym typeface="+mn-ea"/>
              </a:rPr>
              <a:t> 192.168.1.65</a:t>
            </a:r>
            <a:endParaRPr kumimoji="0" lang="zh-CN" altLang="en-US" sz="18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4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）若主机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H1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的默认网关地址配置为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192.168.1.253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，则其能访问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H2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吗？为什么？</a:t>
            </a:r>
            <a:r>
              <a:rPr kumimoji="0" lang="zh-CN" altLang="en-US" sz="1800" b="0" i="0" u="sng" strike="noStrike" kern="1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能，因为二者在同一子网中，属于直接交付，不需要经过路由器转发</a:t>
            </a:r>
            <a:endParaRPr kumimoji="0" lang="zh-CN" altLang="en-US" sz="18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5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）若主机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H1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的默认网关地址配置为</a:t>
            </a:r>
            <a:r>
              <a:rPr kumimoji="0" lang="en-US" altLang="zh-CN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192.168.1.253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，则其能访问互联网吗？为什么？</a:t>
            </a:r>
            <a:r>
              <a:rPr kumimoji="0" lang="zh-CN" altLang="en-US" sz="1800" b="0" i="0" u="none" strike="noStrike" kern="1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不</a:t>
            </a:r>
            <a:r>
              <a:rPr lang="zh-CN" altLang="en-US" sz="1800" u="sng" kern="10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能，路由器配置</a:t>
            </a:r>
            <a:r>
              <a:rPr lang="zh-CN" altLang="en-US" sz="1800" u="sng" kern="10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错误</a:t>
            </a:r>
            <a:endParaRPr lang="zh-CN" altLang="en-US" sz="1800" u="sng" kern="10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31747" name="Rectangle 3"/>
          <p:cNvSpPr>
            <a:spLocks noGrp="1"/>
          </p:cNvSpPr>
          <p:nvPr>
            <p:ph type="body" idx="4294967295"/>
          </p:nvPr>
        </p:nvSpPr>
        <p:spPr>
          <a:xfrm>
            <a:off x="180975" y="1187450"/>
            <a:ext cx="11515725" cy="5586095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、求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212.10.4.0/24, 212.10.5.0/24, 212.10.6.0/24, 212.10.7.0/24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汇聚后的网络地址。</a:t>
            </a:r>
            <a:r>
              <a:rPr lang="zh-CN" altLang="en-US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求公共前缀</a:t>
            </a:r>
            <a:r>
              <a:rPr lang="en-US" altLang="zh-CN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212.10.4.0/22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、请判断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地址分别是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192.168.0.100/28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192.168.0.129/28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的两台主机是否可以直接访问？</a:t>
            </a:r>
            <a:r>
              <a:rPr lang="zh-CN" altLang="en-US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否，</a:t>
            </a:r>
            <a:r>
              <a:rPr lang="zh-CN" altLang="en-US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zh-CN" altLang="en-US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二者的子网地址不一样</a:t>
            </a:r>
            <a:r>
              <a:rPr lang="en-US" altLang="zh-CN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位不同</a:t>
            </a:r>
            <a:r>
              <a:rPr lang="en-US" altLang="zh-CN" sz="20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、若某单位将网络地址块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192.168.4.0/24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，分配给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个部门，每个部门对应一个子网，子网规模尽可能大，允许使用全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子网号，则它们的共同子网掩码是什么？</a:t>
            </a:r>
            <a:r>
              <a:rPr lang="en-US" altLang="zh-CN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255.255.255.192</a:t>
            </a:r>
            <a:br>
              <a:rPr lang="en-US" altLang="zh-CN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每个部门的子网地址和子网广播地址分别是什么？</a:t>
            </a:r>
            <a:r>
              <a:rPr lang="en-US" altLang="zh-CN" b="1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192.168.4.ab000000/26  192.168.4.ab111111 (</a:t>
            </a:r>
            <a:r>
              <a:rPr lang="zh-CN" altLang="en-US" b="1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其中</a:t>
            </a:r>
            <a:r>
              <a:rPr lang="en-US" altLang="zh-CN" b="1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ab</a:t>
            </a:r>
            <a:r>
              <a:rPr lang="zh-CN" altLang="en-US" b="1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分别为</a:t>
            </a:r>
            <a:r>
              <a:rPr lang="en-US" altLang="zh-CN" b="1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:00 01 10 11</a:t>
            </a:r>
            <a:r>
              <a:rPr lang="zh-CN" altLang="en-US" b="1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）实际答题需代入展开，转化为十进制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303" y="2586038"/>
            <a:ext cx="9069387" cy="4060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86360" y="1035050"/>
            <a:ext cx="11544935" cy="5731510"/>
          </a:xfrm>
          <a:prstGeom prst="rect">
            <a:avLst/>
          </a:prstGeom>
          <a:ln>
            <a:solidFill>
              <a:srgbClr val="0067B4"/>
            </a:solidFill>
          </a:ln>
        </p:spPr>
        <p:txBody>
          <a:bodyPr wrap="square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ts val="43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7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、已知一个公司网络如题图所示，该公司通过出口路由器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与外界因特网相连。</a:t>
            </a:r>
            <a:endParaRPr kumimoji="0" lang="en-US" altLang="zh-CN" sz="20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ts val="43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）请为主机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H1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、路由器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R1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E0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口、路由器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R3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E0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口配置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地址，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要求：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主机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H1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地址是所在网络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最大可用地址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，路由器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R1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E0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口和路由器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R3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E0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口设置为所在网络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最小可用</a:t>
            </a:r>
            <a:r>
              <a:rPr kumimoji="0" lang="en-US" altLang="zh-CN" sz="2000" b="0" i="0" u="none" strike="noStrike" kern="1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</a:t>
            </a:r>
            <a:r>
              <a:rPr kumimoji="0" lang="zh-CN" altLang="en-US" sz="20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。</a:t>
            </a:r>
            <a:endParaRPr kumimoji="0" lang="zh-CN" altLang="en-US" sz="20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3" name="线形标注 1 2"/>
          <p:cNvSpPr/>
          <p:nvPr/>
        </p:nvSpPr>
        <p:spPr>
          <a:xfrm>
            <a:off x="216535" y="3683635"/>
            <a:ext cx="1621790" cy="625475"/>
          </a:xfrm>
          <a:prstGeom prst="borderCallout1">
            <a:avLst>
              <a:gd name="adj1" fmla="val -4087"/>
              <a:gd name="adj2" fmla="val 48207"/>
              <a:gd name="adj3" fmla="val -249238"/>
              <a:gd name="adj4" fmla="val 181554"/>
            </a:avLst>
          </a:prstGeom>
          <a:ln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highlight>
                  <a:srgbClr val="FFFF00"/>
                </a:highlight>
              </a:rPr>
              <a:t>192.168.1.1</a:t>
            </a:r>
            <a:endParaRPr lang="en-US" altLang="zh-CN">
              <a:highlight>
                <a:srgbClr val="FFFF00"/>
              </a:highlight>
            </a:endParaRPr>
          </a:p>
        </p:txBody>
      </p:sp>
      <p:sp>
        <p:nvSpPr>
          <p:cNvPr id="9" name="线形标注 1 8"/>
          <p:cNvSpPr/>
          <p:nvPr/>
        </p:nvSpPr>
        <p:spPr>
          <a:xfrm>
            <a:off x="216535" y="2860675"/>
            <a:ext cx="1720850" cy="625475"/>
          </a:xfrm>
          <a:prstGeom prst="borderCallout1">
            <a:avLst>
              <a:gd name="adj1" fmla="val -4087"/>
              <a:gd name="adj2" fmla="val 48207"/>
              <a:gd name="adj3" fmla="val -129847"/>
              <a:gd name="adj4" fmla="val 101329"/>
            </a:avLst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highlight>
                  <a:srgbClr val="FFFF00"/>
                </a:highlight>
              </a:rPr>
              <a:t>192.168.4.254</a:t>
            </a:r>
            <a:endParaRPr lang="en-US" altLang="zh-CN">
              <a:highlight>
                <a:srgbClr val="FFFF00"/>
              </a:highlight>
            </a:endParaRPr>
          </a:p>
        </p:txBody>
      </p:sp>
      <p:sp>
        <p:nvSpPr>
          <p:cNvPr id="10" name="线形标注 1 9"/>
          <p:cNvSpPr/>
          <p:nvPr/>
        </p:nvSpPr>
        <p:spPr>
          <a:xfrm>
            <a:off x="216535" y="4849495"/>
            <a:ext cx="1621790" cy="625475"/>
          </a:xfrm>
          <a:prstGeom prst="borderCallout1">
            <a:avLst>
              <a:gd name="adj1" fmla="val -4087"/>
              <a:gd name="adj2" fmla="val 48207"/>
              <a:gd name="adj3" fmla="val -442944"/>
              <a:gd name="adj4" fmla="val 337548"/>
            </a:avLst>
          </a:prstGeom>
          <a:ln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highlight>
                  <a:srgbClr val="FFFF00"/>
                </a:highlight>
              </a:rPr>
              <a:t>192.168.5.1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2686050"/>
            <a:ext cx="9069387" cy="4060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-49212" y="938213"/>
            <a:ext cx="11388725" cy="6445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ts val="43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</a:t>
            </a:r>
            <a:r>
              <a:rPr kumimoji="0" lang="zh-CN" altLang="en-US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）请为主机</a:t>
            </a:r>
            <a:r>
              <a:rPr kumimoji="0" lang="en-US" altLang="zh-CN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H1</a:t>
            </a:r>
            <a:r>
              <a:rPr kumimoji="0" lang="zh-CN" altLang="en-US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、路由器</a:t>
            </a:r>
            <a:r>
              <a:rPr kumimoji="0" lang="en-US" altLang="zh-CN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R1</a:t>
            </a:r>
            <a:r>
              <a:rPr kumimoji="0" lang="zh-CN" altLang="en-US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E0</a:t>
            </a:r>
            <a:r>
              <a:rPr kumimoji="0" lang="zh-CN" altLang="en-US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口、路由器</a:t>
            </a:r>
            <a:r>
              <a:rPr kumimoji="0" lang="en-US" altLang="zh-CN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R3</a:t>
            </a:r>
            <a:r>
              <a:rPr kumimoji="0" lang="zh-CN" altLang="en-US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E0</a:t>
            </a:r>
            <a:r>
              <a:rPr kumimoji="0" lang="zh-CN" altLang="en-US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口配置</a:t>
            </a:r>
            <a:r>
              <a:rPr kumimoji="0" lang="en-US" altLang="zh-CN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8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地址。</a:t>
            </a:r>
            <a:endParaRPr kumimoji="0" lang="zh-CN" altLang="en-US" sz="28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211388"/>
            <a:ext cx="10423525" cy="4667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矩形 14"/>
          <p:cNvSpPr/>
          <p:nvPr/>
        </p:nvSpPr>
        <p:spPr>
          <a:xfrm>
            <a:off x="204788" y="1011238"/>
            <a:ext cx="11068050" cy="11953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ts val="43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）题表是路由器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R2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的路由表，请填写①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-⑤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。并推断路由器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R1 S0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口的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地址。</a:t>
            </a:r>
            <a:endParaRPr kumimoji="0" lang="zh-CN" altLang="en-US" sz="3200" b="0" i="0" u="none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9" name="线形标注 1 8"/>
          <p:cNvSpPr/>
          <p:nvPr/>
        </p:nvSpPr>
        <p:spPr>
          <a:xfrm>
            <a:off x="5542915" y="1976755"/>
            <a:ext cx="1720850" cy="625475"/>
          </a:xfrm>
          <a:prstGeom prst="borderCallout1">
            <a:avLst>
              <a:gd name="adj1" fmla="val -4087"/>
              <a:gd name="adj2" fmla="val 48207"/>
              <a:gd name="adj3" fmla="val -12893"/>
              <a:gd name="adj4" fmla="val -172767"/>
            </a:avLst>
          </a:prstGeom>
          <a:ln>
            <a:headEnd type="none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192.168.2.1</a:t>
            </a:r>
            <a:endParaRPr lang="en-US" altLang="zh-CN"/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2218055" y="4114800"/>
          <a:ext cx="1767840" cy="166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</a:tblGrid>
              <a:tr h="4019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ln>
                            <a:noFill/>
                            <a:prstDash val="sysDot"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255.255.255.252</a:t>
                      </a:r>
                      <a:endParaRPr lang="en-US" altLang="zh-CN" sz="1600" b="1">
                        <a:ln>
                          <a:noFill/>
                          <a:prstDash val="sysDot"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mpd="sng">
                      <a:solidFill>
                        <a:srgbClr val="0070C0"/>
                      </a:solidFill>
                      <a:prstDash val="sysDot"/>
                    </a:lnL>
                    <a:lnR w="12700" cmpd="sng">
                      <a:solidFill>
                        <a:srgbClr val="0070C0"/>
                      </a:solidFill>
                      <a:prstDash val="sysDot"/>
                    </a:lnR>
                    <a:lnT w="12700" cmpd="sng">
                      <a:solidFill>
                        <a:srgbClr val="0070C0"/>
                      </a:solidFill>
                      <a:prstDash val="sysDot"/>
                    </a:lnT>
                    <a:lnB w="12700" cmpd="sng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</a:tr>
              <a:tr h="4419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ln>
                            <a:noFill/>
                            <a:prstDash val="sysDot"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sym typeface="+mn-ea"/>
                        </a:rPr>
                        <a:t>255.255.255.252</a:t>
                      </a:r>
                      <a:endParaRPr lang="en-US" altLang="zh-CN" sz="1600" b="1">
                        <a:ln>
                          <a:noFill/>
                          <a:prstDash val="sysDot"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0070C0"/>
                      </a:solidFill>
                      <a:prstDash val="sysDot"/>
                    </a:lnL>
                    <a:lnR w="12700" cmpd="sng">
                      <a:solidFill>
                        <a:srgbClr val="0070C0"/>
                      </a:solidFill>
                      <a:prstDash val="sysDot"/>
                    </a:lnR>
                    <a:lnT w="12700" cmpd="sng">
                      <a:solidFill>
                        <a:srgbClr val="0070C0"/>
                      </a:solidFill>
                      <a:prstDash val="sysDot"/>
                    </a:lnT>
                    <a:lnB w="12700" cmpd="sng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</a:tr>
              <a:tr h="4191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ln>
                            <a:noFill/>
                            <a:prstDash val="sysDot"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sym typeface="+mn-ea"/>
                        </a:rPr>
                        <a:t>255.255.255.0</a:t>
                      </a:r>
                      <a:endParaRPr lang="en-US" altLang="zh-CN" sz="1600" b="1">
                        <a:ln>
                          <a:noFill/>
                          <a:prstDash val="sysDot"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0070C0"/>
                      </a:solidFill>
                      <a:prstDash val="sysDot"/>
                    </a:lnL>
                    <a:lnR w="12700" cmpd="sng">
                      <a:solidFill>
                        <a:srgbClr val="0070C0"/>
                      </a:solidFill>
                      <a:prstDash val="sysDot"/>
                    </a:lnR>
                    <a:lnT w="12700" cmpd="sng">
                      <a:solidFill>
                        <a:srgbClr val="0070C0"/>
                      </a:solidFill>
                      <a:prstDash val="sysDot"/>
                    </a:lnT>
                    <a:lnB w="12700" cmpd="sng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</a:tr>
              <a:tr h="4044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1">
                          <a:ln>
                            <a:noFill/>
                            <a:prstDash val="sysDot"/>
                          </a:ln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sym typeface="+mn-ea"/>
                        </a:rPr>
                        <a:t>255.255.255.192</a:t>
                      </a:r>
                      <a:endParaRPr lang="en-US" altLang="zh-CN" sz="1600" b="1">
                        <a:ln>
                          <a:noFill/>
                          <a:prstDash val="sysDot"/>
                        </a:ln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rgbClr val="0070C0"/>
                      </a:solidFill>
                      <a:prstDash val="sysDot"/>
                    </a:lnL>
                    <a:lnR w="12700" cmpd="sng">
                      <a:solidFill>
                        <a:srgbClr val="0070C0"/>
                      </a:solidFill>
                      <a:prstDash val="sysDot"/>
                    </a:lnR>
                    <a:lnT w="12700" cmpd="sng">
                      <a:solidFill>
                        <a:srgbClr val="0070C0"/>
                      </a:solidFill>
                      <a:prstDash val="sysDot"/>
                    </a:lnT>
                    <a:lnB w="12700" cmpd="sng">
                      <a:solidFill>
                        <a:srgbClr val="0070C0"/>
                      </a:solidFill>
                      <a:prstDash val="sysDot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849370" y="5800090"/>
            <a:ext cx="1537335" cy="368300"/>
          </a:xfrm>
          <a:prstGeom prst="rect">
            <a:avLst/>
          </a:prstGeom>
          <a:ln w="12700" cmpd="sng">
            <a:solidFill>
              <a:srgbClr val="0070C0"/>
            </a:solidFill>
            <a:prstDash val="sysDot"/>
          </a:ln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192.168.2.1</a:t>
            </a:r>
            <a:endParaRPr lang="en-US" altLang="zh-CN" sz="180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第五章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6213" y="893763"/>
            <a:ext cx="11463338" cy="17456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ts val="43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（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）若路由器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R2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接收到目的地址分别为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192.168.5.60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和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202.119.3.0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数据报，写出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R2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为这两个数据报所选路由的下一跳</a:t>
            </a:r>
            <a:r>
              <a:rPr kumimoji="0" lang="en-US" altLang="zh-CN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地址。</a:t>
            </a:r>
            <a:r>
              <a:rPr kumimoji="0" lang="en-US" altLang="zh-CN" sz="3200" b="0" i="0" u="sng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192.168.3.2</a:t>
            </a:r>
            <a:r>
              <a:rPr kumimoji="0" lang="zh-CN" altLang="en-US" sz="3200" b="0" i="0" u="sng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，</a:t>
            </a:r>
            <a:r>
              <a:rPr kumimoji="0" lang="en-US" altLang="zh-CN" sz="3200" b="0" i="0" u="sng" strike="noStrike" kern="1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 192.168.2.1</a:t>
            </a:r>
            <a:endParaRPr kumimoji="0" lang="en-US" altLang="zh-CN" sz="3200" b="0" i="0" u="sng" strike="noStrike" kern="100" cap="none" spc="0" normalizeH="0" baseline="0" noProof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j-ea"/>
              <a:ea typeface="+mj-ea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3" y="2693988"/>
            <a:ext cx="9069387" cy="4060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第六章  传输层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36867" name="Rectangle 3"/>
          <p:cNvSpPr>
            <a:spLocks noGrp="1"/>
          </p:cNvSpPr>
          <p:nvPr>
            <p:ph type="body" idx="4294967295"/>
          </p:nvPr>
        </p:nvSpPr>
        <p:spPr>
          <a:xfrm>
            <a:off x="333375" y="1225550"/>
            <a:ext cx="11444288" cy="5232400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掌握端口、套接字、五元组的概念及作用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的特点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通过三次握手建立连接的过程、标志位、序号和确认号的设置。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实现可靠传输方法（通过序号确认机制和重传机制），能够分析序号字段（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Seq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）、确认号字段（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）以及数据部分长度之间的关系。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中，发送窗口的取值和拥塞窗口、对方的接收窗口之间的关系，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的概念。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掌握拥塞控制算法（慢启动、拥塞避免）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能够判断各阶段采用什么算法以及慢启动门限值的变化。</a:t>
            </a:r>
            <a:endParaRPr lang="en-US" altLang="zh-CN" sz="28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 idx="4294967295"/>
          </p:nvPr>
        </p:nvSpPr>
        <p:spPr>
          <a:xfrm>
            <a:off x="1747838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第六章样题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892" name="Rectangle 3"/>
          <p:cNvSpPr/>
          <p:nvPr/>
        </p:nvSpPr>
        <p:spPr>
          <a:xfrm>
            <a:off x="223838" y="1200150"/>
            <a:ext cx="11277600" cy="15859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、主机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和主机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通过建立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连接来发送数据，请回答下列问题：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）假设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选择的初始序号分别都是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，请写出后两个报文中序号和确认号的值。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893" name="Picture 4" descr="C:\Users\min\AppData\Roaming\Tencent\Users\64643103\QQ\WinTemp\RichOle\LFB9~D%UQP%7[E33`(5I@8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2325" y="3371850"/>
            <a:ext cx="3729038" cy="2947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427980" y="4653280"/>
            <a:ext cx="193040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0   1</a:t>
            </a:r>
            <a:endParaRPr lang="en-US" altLang="zh-CN" sz="180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27980" y="5316220"/>
            <a:ext cx="186182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highlight>
                  <a:srgbClr val="FFFF00"/>
                </a:highlight>
                <a:latin typeface="Arial" panose="020B0604020202020204" pitchFamily="34" charset="0"/>
                <a:ea typeface="微软雅黑" panose="020B0503020204020204" pitchFamily="34" charset="-122"/>
              </a:rPr>
              <a:t>1   1</a:t>
            </a:r>
            <a:endParaRPr lang="en-US" altLang="zh-CN" sz="1800">
              <a:highlight>
                <a:srgbClr val="FFFF00"/>
              </a:highligh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第六章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type="body" idx="4294967295"/>
          </p:nvPr>
        </p:nvSpPr>
        <p:spPr>
          <a:xfrm>
            <a:off x="100013" y="1035050"/>
            <a:ext cx="11668125" cy="5527675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）假设该连接中双方商定的的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，慢启动门限初始值为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8000B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，接收窗口足够大。如果在整个数据传送过程中，只有在第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个传输轮次中出现超时重传，其余都是正常的，则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1-10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轮拥塞窗口的大小分别是多少？每轮中的拥塞控制算法分别是什么？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轮次：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1   2   3   4   5   6   7  8   9  10</a:t>
            </a:r>
            <a:endParaRPr lang="en-US" altLang="zh-CN" sz="28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algn="l" eaLnBrk="1" hangingPunct="1">
              <a:buClrTx/>
              <a:buSzTx/>
              <a:buNone/>
            </a:pP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cwnd(</a:t>
            </a: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MSS):   1   2   4   8   9  10  1  2   4   5+3/5      </a:t>
            </a:r>
            <a:endParaRPr lang="en-US" altLang="zh-CN" sz="28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ssthresh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单位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MSS)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  8                            5 </a:t>
            </a:r>
            <a:endParaRPr lang="en-US" altLang="zh-CN" sz="28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[1,3]</a:t>
            </a: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慢开始，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[4,6]</a:t>
            </a: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拥塞避免，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[7, 9]</a:t>
            </a: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慢开始，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[9,10]</a:t>
            </a: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拥塞避免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3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第六章  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type="body" idx="4294967295"/>
          </p:nvPr>
        </p:nvSpPr>
        <p:spPr>
          <a:xfrm>
            <a:off x="100013" y="1035050"/>
            <a:ext cx="11668125" cy="5527675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主机甲与主机乙之间已建立一个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连接，主机甲向主机乙发送了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个连续的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报文段，分别包含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的有效载荷，第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个段的序号为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。若主机乙仅正确接收到第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个报文段，请回答问题：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）计算出前两个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报文段的序号。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）主机乙发送给主机甲的确认号是多少？</a:t>
            </a:r>
            <a:r>
              <a:rPr lang="en-US" altLang="zh-CN" sz="28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500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3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93763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  应用层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type="body" idx="4294967295"/>
          </p:nvPr>
        </p:nvSpPr>
        <p:spPr>
          <a:xfrm>
            <a:off x="233363" y="1035050"/>
            <a:ext cx="11444287" cy="5632450"/>
          </a:xfrm>
          <a:ln>
            <a:solidFill>
              <a:srgbClr val="213F99">
                <a:alpha val="100000"/>
              </a:srgb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掌握域名系统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的作用以及域名解析的过程。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应用的两个连接名称以及建立两个连接的作用及优点。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的作用以及配置的四项信息。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理解发送电子邮件的过程以及可能会使用到的相关协议（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SMTP\MIME\POP3\IMAP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等）。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协议的作用和工作过程。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能够分析出通过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Wireshark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捕获到的数据帧（或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数据报）在各个层次的封装和解封装过程。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网络中的各种协议是否存在容易遭受攻击的安全隐患，如何防范。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6063" y="1195388"/>
            <a:ext cx="11550650" cy="5343525"/>
          </a:xfrm>
          <a:prstGeom prst="rect">
            <a:avLst/>
          </a:prstGeom>
          <a:noFill/>
          <a:ln w="9525">
            <a:solidFill>
              <a:srgbClr val="0067B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1.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域名系统的功能是实现（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域名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 ）  到（ 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地址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 ）的解析。</a:t>
            </a: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2.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允许用户自动获取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地址的应用层协议是什么？除了主机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地址，还需要配置哪些信息？</a:t>
            </a:r>
            <a:r>
              <a:rPr kumimoji="0" lang="en-US" altLang="zh-CN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DHCP</a:t>
            </a:r>
            <a:r>
              <a:rPr kumimoji="0" lang="en-US" altLang="zh-CN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  </a:t>
            </a:r>
            <a:r>
              <a:rPr kumimoji="0" lang="zh-CN" altLang="en-US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子网掩码，默认网关</a:t>
            </a:r>
            <a:r>
              <a:rPr kumimoji="0" lang="en-US" altLang="zh-CN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(</a:t>
            </a:r>
            <a:r>
              <a:rPr kumimoji="0" lang="zh-CN" altLang="en-US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路由器</a:t>
            </a:r>
            <a:r>
              <a:rPr kumimoji="0" lang="en-US" altLang="zh-CN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)</a:t>
            </a:r>
            <a:r>
              <a:rPr kumimoji="0" lang="zh-CN" altLang="en-US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地址，</a:t>
            </a:r>
            <a:r>
              <a:rPr kumimoji="0" lang="en-US" altLang="zh-CN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DNS</a:t>
            </a:r>
            <a:r>
              <a:rPr kumimoji="0" lang="zh-CN" altLang="en-US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服务器</a:t>
            </a:r>
            <a:r>
              <a:rPr lang="zh-CN" altLang="en-US" noProof="0" smtClean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sym typeface="+mn-ea"/>
              </a:rPr>
              <a:t>的</a:t>
            </a:r>
            <a:r>
              <a:rPr lang="en-US" altLang="zh-CN" noProof="0" smtClean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sym typeface="+mn-ea"/>
              </a:rPr>
              <a:t>IP</a:t>
            </a:r>
            <a:r>
              <a:rPr lang="zh-CN" altLang="en-US" noProof="0" smtClean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sym typeface="+mn-ea"/>
              </a:rPr>
              <a:t>地址</a:t>
            </a: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3.SMTP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的中文全称是（ ），其通常只能传送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ASCII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文本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信息。</a:t>
            </a: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4.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FTP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在客户端和服务器端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传输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文件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时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，使用的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是建立在（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TCP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  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）之上的（ 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数据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）连接。（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第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个空：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TCP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或者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UDP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，第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个空：数据或者文件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6063" y="1195388"/>
            <a:ext cx="11550650" cy="5343525"/>
          </a:xfrm>
          <a:prstGeom prst="rect">
            <a:avLst/>
          </a:prstGeom>
          <a:noFill/>
          <a:ln w="9525">
            <a:solidFill>
              <a:srgbClr val="0067B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5</a:t>
            </a: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在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浏览器中输入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http://www.njupt.edu.cn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并回车，使用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Wireshark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采集访问南邮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WWW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服务器时所传输的报文，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4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个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数据报前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40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个字节的内容如下图所示（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16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进制表示），请回答以下问题</a:t>
            </a: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。</a:t>
            </a: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pic>
        <p:nvPicPr>
          <p:cNvPr id="41989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613" y="3592513"/>
            <a:ext cx="8542337" cy="29464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1"/>
          <p:cNvCxnSpPr/>
          <p:nvPr/>
        </p:nvCxnSpPr>
        <p:spPr>
          <a:xfrm>
            <a:off x="6639560" y="4259580"/>
            <a:ext cx="1249680" cy="762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056880" y="4267200"/>
            <a:ext cx="1249680" cy="762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3050540" y="4565650"/>
            <a:ext cx="594360" cy="381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2357120" y="4569460"/>
            <a:ext cx="594360" cy="3810"/>
          </a:xfrm>
          <a:prstGeom prst="line">
            <a:avLst/>
          </a:prstGeom>
          <a:ln w="31750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2357120" y="5175250"/>
            <a:ext cx="594360" cy="381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3050540" y="5830570"/>
            <a:ext cx="594360" cy="381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3050540" y="6455410"/>
            <a:ext cx="594360" cy="381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6944360" y="4921250"/>
            <a:ext cx="365760" cy="289560"/>
          </a:xfrm>
          <a:prstGeom prst="ellipse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944360" y="4283710"/>
            <a:ext cx="365760" cy="289560"/>
          </a:xfrm>
          <a:prstGeom prst="ellipse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944360" y="5558790"/>
            <a:ext cx="365760" cy="289560"/>
          </a:xfrm>
          <a:prstGeom prst="ellipse">
            <a:avLst/>
          </a:prstGeom>
          <a:noFill/>
          <a:ln w="317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标注 13"/>
          <p:cNvSpPr/>
          <p:nvPr/>
        </p:nvSpPr>
        <p:spPr>
          <a:xfrm>
            <a:off x="8895715" y="3055620"/>
            <a:ext cx="2207895" cy="518160"/>
          </a:xfrm>
          <a:prstGeom prst="wedgeRoundRectCallout">
            <a:avLst>
              <a:gd name="adj1" fmla="val -69798"/>
              <a:gd name="adj2" fmla="val 136029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Web</a:t>
            </a:r>
            <a:r>
              <a:rPr lang="zh-CN" altLang="en-US">
                <a:solidFill>
                  <a:schemeClr val="tx1"/>
                </a:solidFill>
              </a:rPr>
              <a:t>服务器</a:t>
            </a:r>
            <a:r>
              <a:rPr lang="en-US" altLang="zh-CN">
                <a:solidFill>
                  <a:schemeClr val="tx1"/>
                </a:solidFill>
              </a:rPr>
              <a:t>202.119.224.201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5" name="圆角矩形标注 14"/>
          <p:cNvSpPr/>
          <p:nvPr/>
        </p:nvSpPr>
        <p:spPr>
          <a:xfrm>
            <a:off x="7463155" y="3055620"/>
            <a:ext cx="1135380" cy="518160"/>
          </a:xfrm>
          <a:prstGeom prst="wedgeRoundRectCallout">
            <a:avLst>
              <a:gd name="adj1" fmla="val -69798"/>
              <a:gd name="adj2" fmla="val 136029"/>
              <a:gd name="adj3" fmla="val 16667"/>
            </a:avLst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主机</a:t>
            </a:r>
            <a:br>
              <a:rPr lang="zh-CN" altLang="en-US">
                <a:solidFill>
                  <a:schemeClr val="tx1"/>
                </a:solidFill>
              </a:rPr>
            </a:br>
            <a:r>
              <a:rPr lang="en-US" altLang="zh-CN">
                <a:solidFill>
                  <a:schemeClr val="tx1"/>
                </a:solidFill>
              </a:rPr>
              <a:t>IP</a:t>
            </a:r>
            <a:r>
              <a:rPr lang="zh-CN" altLang="en-US">
                <a:solidFill>
                  <a:schemeClr val="tx1"/>
                </a:solidFill>
              </a:rPr>
              <a:t>地址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圆角矩形标注 15"/>
          <p:cNvSpPr/>
          <p:nvPr/>
        </p:nvSpPr>
        <p:spPr>
          <a:xfrm>
            <a:off x="3304540" y="2948305"/>
            <a:ext cx="2381885" cy="624840"/>
          </a:xfrm>
          <a:prstGeom prst="wedgeRoundRectCallout">
            <a:avLst>
              <a:gd name="adj1" fmla="val -49938"/>
              <a:gd name="adj2" fmla="val 179573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目的端口号为</a:t>
            </a:r>
            <a:r>
              <a:rPr lang="en-US" altLang="zh-CN">
                <a:solidFill>
                  <a:schemeClr val="tx1"/>
                </a:solidFill>
              </a:rPr>
              <a:t>TCP80(Web</a:t>
            </a:r>
            <a:r>
              <a:rPr lang="zh-CN" altLang="en-US">
                <a:solidFill>
                  <a:schemeClr val="tx1"/>
                </a:solidFill>
              </a:rPr>
              <a:t>服务器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3050540" y="5848350"/>
            <a:ext cx="678180" cy="400685"/>
          </a:xfrm>
          <a:prstGeom prst="ellipse">
            <a:avLst/>
          </a:prstGeom>
          <a:noFill/>
          <a:ln w="317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2448560" y="5848350"/>
            <a:ext cx="244475" cy="325120"/>
          </a:xfrm>
          <a:prstGeom prst="ellipse">
            <a:avLst/>
          </a:prstGeom>
          <a:noFill/>
          <a:ln w="317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548120" y="6173470"/>
            <a:ext cx="244475" cy="325120"/>
          </a:xfrm>
          <a:prstGeom prst="ellipse">
            <a:avLst/>
          </a:prstGeom>
          <a:noFill/>
          <a:ln w="317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标注 22"/>
          <p:cNvSpPr/>
          <p:nvPr/>
        </p:nvSpPr>
        <p:spPr>
          <a:xfrm>
            <a:off x="9895205" y="4259580"/>
            <a:ext cx="1902460" cy="915670"/>
          </a:xfrm>
          <a:prstGeom prst="wedgeRoundRectCallout">
            <a:avLst>
              <a:gd name="adj1" fmla="val -69559"/>
              <a:gd name="adj2" fmla="val 29183"/>
              <a:gd name="adj3" fmla="val 16667"/>
            </a:avLst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Web</a:t>
            </a:r>
            <a:r>
              <a:rPr lang="zh-CN" altLang="en-US">
                <a:solidFill>
                  <a:schemeClr val="tx1"/>
                </a:solidFill>
              </a:rPr>
              <a:t>服务器</a:t>
            </a:r>
            <a:br>
              <a:rPr lang="zh-CN" altLang="en-US">
                <a:solidFill>
                  <a:schemeClr val="tx1"/>
                </a:solidFill>
              </a:rPr>
            </a:b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Client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highlight>
                  <a:srgbClr val="00FFFF"/>
                </a:highlight>
              </a:rPr>
              <a:t>TTL:0x24</a:t>
            </a:r>
            <a:endParaRPr lang="en-US" altLang="zh-CN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V="1">
            <a:off x="5541645" y="4279900"/>
            <a:ext cx="325120" cy="10160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圆角矩形标注 18"/>
          <p:cNvSpPr/>
          <p:nvPr/>
        </p:nvSpPr>
        <p:spPr>
          <a:xfrm>
            <a:off x="6030595" y="2948305"/>
            <a:ext cx="1001395" cy="518160"/>
          </a:xfrm>
          <a:prstGeom prst="wedgeRoundRectCallout">
            <a:avLst>
              <a:gd name="adj1" fmla="val -78408"/>
              <a:gd name="adj2" fmla="val 158210"/>
              <a:gd name="adj3" fmla="val 16667"/>
            </a:avLst>
          </a:prstGeom>
          <a:noFill/>
          <a:ln w="22225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>
                <a:solidFill>
                  <a:schemeClr val="tx1"/>
                </a:solidFill>
              </a:rPr>
              <a:t>TCP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5544820" y="4892675"/>
            <a:ext cx="325120" cy="10160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808730" y="4569460"/>
            <a:ext cx="1254760" cy="0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808730" y="5830570"/>
            <a:ext cx="1254760" cy="0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218430" y="5179060"/>
            <a:ext cx="1254760" cy="0"/>
          </a:xfrm>
          <a:prstGeom prst="line">
            <a:avLst/>
          </a:prstGeom>
          <a:ln w="31750">
            <a:solidFill>
              <a:srgbClr val="0000FF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6538" y="1109663"/>
            <a:ext cx="11945938" cy="5343525"/>
          </a:xfrm>
          <a:prstGeom prst="rect">
            <a:avLst/>
          </a:prstGeom>
          <a:noFill/>
          <a:ln w="9525">
            <a:solidFill>
              <a:srgbClr val="0067B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5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在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浏览器中输入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http://www.njupt.edu.cn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并回车，使用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Wireshark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采集访问南邮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WWW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服务器时所传输的报文，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4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个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数据报前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40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个字节的内容如下图所示（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16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进制表示），请回答以下问题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）写出主机和南邮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WWW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地址（点分十进制表示）。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）分析该报文使用的传输层协议，以及南邮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WWW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服务器使用的端口号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）前三个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数据报完成了网络的什么功能？</a:t>
            </a:r>
            <a:r>
              <a:rPr kumimoji="0" lang="zh-CN" altLang="en-US" sz="28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j-ea"/>
                <a:ea typeface="+mj-ea"/>
                <a:cs typeface="+mn-cs"/>
              </a:rPr>
              <a:t>三次握手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4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）第四个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数据报为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HTTP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GET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方法，请问该报文携带了多少字节的用户数据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？</a:t>
            </a:r>
            <a:r>
              <a:rPr kumimoji="0" lang="en-US" altLang="zh-CN" sz="2800" b="1" i="0" u="sng" strike="noStrike" kern="1200" cap="none" spc="0" normalizeH="0" baseline="0" noProof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0x0198-20-20=368</a:t>
            </a:r>
            <a:r>
              <a:rPr kumimoji="0" lang="en-US" altLang="zh-CN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5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）如果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南邮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WWW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服务器发出的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数据报中初始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TTL=64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，请分析南邮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WWW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服务器和主机之间有几个路由器帮忙转发了该报文？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uLnTx/>
                <a:uFillTx/>
                <a:latin typeface="+mj-ea"/>
                <a:ea typeface="+mj-ea"/>
                <a:cs typeface="+mn-cs"/>
              </a:rPr>
              <a:t>64-0x24=28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0013" y="1122363"/>
            <a:ext cx="11550650" cy="5343525"/>
          </a:xfrm>
          <a:prstGeom prst="rect">
            <a:avLst/>
          </a:prstGeom>
          <a:noFill/>
          <a:ln w="9525">
            <a:solidFill>
              <a:srgbClr val="0067B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6.</a:t>
            </a:r>
            <a:r>
              <a:rPr kumimoji="0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Wireshark</a:t>
            </a:r>
            <a:r>
              <a:rPr kumimoji="0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采集到一个数据帧，内容如下图所示（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进制表示），请回答：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(1)</a:t>
            </a:r>
            <a:r>
              <a:rPr kumimoji="0" lang="zh-CN" altLang="en-US" sz="32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源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MAC</a:t>
            </a:r>
            <a:r>
              <a:rPr kumimoji="0" lang="zh-CN" altLang="en-US" sz="32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32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目的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MAC</a:t>
            </a:r>
            <a:r>
              <a:rPr kumimoji="0" lang="zh-CN" altLang="en-US" sz="3200" b="0" i="0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分别是多少</a:t>
            </a:r>
            <a:r>
              <a:rPr kumimoji="0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(2) 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类型字段值是多少？表示什么意思？</a:t>
            </a:r>
            <a:r>
              <a:rPr kumimoji="0" lang="en-US" altLang="zh-CN" sz="32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0x0800  IP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(3)</a:t>
            </a:r>
            <a:r>
              <a:rPr kumimoji="0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C0C0C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源站</a:t>
            </a:r>
            <a:r>
              <a:rPr kumimoji="0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和</a:t>
            </a:r>
            <a:r>
              <a:rPr kumimoji="0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目的站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I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</a:t>
            </a:r>
            <a:r>
              <a:rPr kumimoji="0" lang="zh-CN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地址分别是什么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?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点分十进制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30200" y="2400300"/>
          <a:ext cx="8785225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85225"/>
              </a:tblGrid>
              <a:tr h="176530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</a:t>
                      </a:r>
                      <a:r>
                        <a:rPr lang="zh-CN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400" u="sng" kern="100" dirty="0">
                          <a:effectLst/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f0 1f </a:t>
                      </a:r>
                      <a:r>
                        <a:rPr lang="en-US" sz="2400" u="sng" kern="100" dirty="0" err="1">
                          <a:effectLst/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af</a:t>
                      </a:r>
                      <a:r>
                        <a:rPr lang="en-US" sz="2400" u="sng" kern="100" dirty="0">
                          <a:effectLst/>
                          <a:highlight>
                            <a:srgbClr val="00FF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67 52 a7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400" u="sng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 19  e0 38 12 e4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400" kern="100" dirty="0"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08 00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45 00 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12700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r>
                        <a:rPr lang="zh-CN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00 34 00 00 40 00 3b 06  0b 76 </a:t>
                      </a:r>
                      <a:r>
                        <a:rPr lang="en-US" sz="2400" kern="100" dirty="0" err="1">
                          <a:effectLst/>
                          <a:highlight>
                            <a:srgbClr val="C0C0C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</a:t>
                      </a:r>
                      <a:r>
                        <a:rPr lang="en-US" sz="2400" kern="100" dirty="0">
                          <a:effectLst/>
                          <a:highlight>
                            <a:srgbClr val="C0C0C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77 e0 c9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400" kern="100" dirty="0">
                          <a:effectLst/>
                          <a:highlight>
                            <a:srgbClr val="FF00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c0 a8 </a:t>
                      </a:r>
                      <a:endParaRPr lang="zh-CN" sz="2400" kern="100" dirty="0">
                        <a:effectLst/>
                        <a:highlight>
                          <a:srgbClr val="FF00FF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12700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u="sng" kern="100" dirty="0">
                          <a:effectLst/>
                          <a:highlight>
                            <a:srgbClr val="FF00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0020</a:t>
                      </a:r>
                      <a:r>
                        <a:rPr lang="zh-CN" sz="2400" kern="100" dirty="0">
                          <a:effectLst/>
                          <a:highlight>
                            <a:srgbClr val="FF00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sz="2400" kern="100" dirty="0">
                          <a:effectLst/>
                          <a:highlight>
                            <a:srgbClr val="FF00FF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c8 64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00 50 c5 74 13 0b  52 0c 53 </a:t>
                      </a:r>
                      <a:r>
                        <a:rPr lang="en-US" sz="24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fa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d8 8c 80 12 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12700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0030</a:t>
                      </a:r>
                      <a:r>
                        <a:rPr lang="zh-CN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16 d0 cc 7f 00 00 02 04  05 b4 01 01 04 02 01 03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36538" y="1109663"/>
            <a:ext cx="11945938" cy="5343525"/>
          </a:xfrm>
          <a:prstGeom prst="rect">
            <a:avLst/>
          </a:prstGeom>
          <a:noFill/>
          <a:ln w="9525">
            <a:solidFill>
              <a:srgbClr val="0067B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6.</a:t>
            </a:r>
            <a:r>
              <a: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Wireshark</a:t>
            </a:r>
            <a:r>
              <a: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采集到一个数据帧，内容如下图所示（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</a:t>
            </a:r>
            <a:r>
              <a: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进制表示），请回答：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Arial" panose="020B0604020202020204" pitchFamily="34" charset="0"/>
              <a:buNone/>
              <a:defRPr/>
            </a:pP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60000"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(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4)IP</a:t>
            </a:r>
            <a:r>
              <a: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数据报的协议字段是多少，表示什么协议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? </a:t>
            </a:r>
            <a:r>
              <a:rPr kumimoji="0" lang="en-US" altLang="zh-CN" sz="28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06  TCP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(5)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经过几个路由器转发（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TTL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初始值为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64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r>
              <a:rPr kumimoji="0" lang="en-US" altLang="zh-CN" sz="2800" b="0" i="0" u="sng" strike="noStrike" kern="120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64-0x3b=64-(48+11)=5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(6)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通过端口推测其应用是</a:t>
            </a: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什么</a:t>
            </a:r>
            <a:r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? </a:t>
            </a:r>
            <a:r>
              <a:rPr kumimoji="0" lang="zh-CN" altLang="en-US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源端口为</a:t>
            </a:r>
            <a:r>
              <a:rPr kumimoji="0" lang="en-US" altLang="zh-CN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0x0050=80 HTTP</a:t>
            </a:r>
            <a:endParaRPr kumimoji="0" lang="en-US" altLang="zh-CN" sz="2800" b="0" i="0" u="sng" strike="noStrike" kern="1200" cap="none" spc="0" normalizeH="0" baseline="0" noProof="0" smtClean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HTTP</a:t>
            </a:r>
            <a:r>
              <a:rPr kumimoji="0" lang="zh-CN" altLang="en-US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服务器</a:t>
            </a:r>
            <a:r>
              <a:rPr kumimoji="0" lang="en-US" altLang="zh-CN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kumimoji="0" lang="zh-CN" altLang="en-US" sz="2800" b="0" i="0" u="sng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地址是</a:t>
            </a:r>
            <a:r>
              <a:rPr lang="en-US" sz="2800" u="sng" kern="100" dirty="0" err="1"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ca</a:t>
            </a:r>
            <a:r>
              <a:rPr lang="en-US" sz="2800" u="sng" kern="100" dirty="0">
                <a:effectLst/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77 e0 c9</a:t>
            </a:r>
            <a:endParaRPr kumimoji="0" lang="zh-CN" altLang="zh-CN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523875" y="2246313"/>
          <a:ext cx="8785225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85225"/>
              </a:tblGrid>
              <a:tr h="1752088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</a:t>
                      </a:r>
                      <a:r>
                        <a:rPr lang="zh-CN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f0 1f </a:t>
                      </a:r>
                      <a:r>
                        <a:rPr lang="en-US" sz="2400" u="sng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af</a:t>
                      </a: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67 52 a7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 19  e0 38 12 e4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08 00 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45 00 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12700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u="sng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00 34 00 00 40 00 </a:t>
                      </a:r>
                      <a:r>
                        <a:rPr lang="en-US" sz="2400" u="sng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3b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400" u="sng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06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0b 76 </a:t>
                      </a:r>
                      <a:r>
                        <a:rPr lang="en-US" sz="2400" u="sng" kern="100" dirty="0" err="1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</a:t>
                      </a:r>
                      <a:r>
                        <a:rPr lang="en-US" sz="2400" u="sng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77 e0 c9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c0 a8 </a:t>
                      </a:r>
                      <a:endParaRPr lang="zh-CN" sz="2400" kern="1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12700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u="sng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0020</a:t>
                      </a:r>
                      <a:r>
                        <a:rPr lang="zh-CN" sz="240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sz="2400" kern="1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c8 64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00 50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c5 74 13 0b  52 0c 53 </a:t>
                      </a:r>
                      <a:r>
                        <a:rPr lang="en-US" sz="2400" kern="100" dirty="0" err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fa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d8 8c 80 12 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12700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u="sng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0030</a:t>
                      </a:r>
                      <a:r>
                        <a:rPr lang="zh-CN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：</a:t>
                      </a:r>
                      <a:r>
                        <a:rPr lang="en-US" sz="2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16 d0 cc 7f 00 00 02 04  05 b4 01 01 04 02 01 03</a:t>
                      </a:r>
                      <a:endParaRPr lang="zh-CN" sz="2400" kern="100" dirty="0"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2" marR="68582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6063" y="1195388"/>
            <a:ext cx="11563350" cy="5343525"/>
          </a:xfrm>
          <a:prstGeom prst="rect">
            <a:avLst/>
          </a:prstGeom>
          <a:noFill/>
          <a:ln w="9525">
            <a:solidFill>
              <a:srgbClr val="0067B4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7.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某网络拓扑如下图所示，其中路由器内网接口（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地址：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202.119.15.1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MAC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地址：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MAC2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DHCP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服务器（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地址：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202.119.15.2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MAC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地址：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MAC1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）、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WWW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服务器与主机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1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均采用静态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地址配置，主机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2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～主机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N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通过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DHCP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服务器动态获取</a:t>
            </a: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IP</a:t>
            </a: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地址等配置信息。请回答下列问题。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710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2392363"/>
            <a:ext cx="8951913" cy="424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09" name="矩形 5"/>
          <p:cNvSpPr/>
          <p:nvPr/>
        </p:nvSpPr>
        <p:spPr>
          <a:xfrm>
            <a:off x="392113" y="1147763"/>
            <a:ext cx="11415712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100000"/>
              </a:lnSpc>
              <a:spcBef>
                <a:spcPts val="750"/>
              </a:spcBef>
              <a:buFontTx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）主机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协议获取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地址的过程中，发送的封装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DHCPDiscover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地址和目的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地址如何赋值？</a:t>
            </a:r>
            <a:r>
              <a:rPr lang="en-US" altLang="zh-CN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0.0.0.0</a:t>
            </a:r>
            <a:r>
              <a:rPr lang="zh-CN" altLang="en-US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255.255.255.255</a:t>
            </a:r>
            <a:endParaRPr lang="en-US" altLang="zh-CN" sz="32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813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488" y="2397125"/>
            <a:ext cx="8953500" cy="4246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133" name="矩形 5"/>
          <p:cNvSpPr/>
          <p:nvPr/>
        </p:nvSpPr>
        <p:spPr>
          <a:xfrm>
            <a:off x="74613" y="1146175"/>
            <a:ext cx="11503025" cy="9772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服务器可为主机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～主机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动态分配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地址的范围是什么？</a:t>
            </a:r>
            <a:r>
              <a:rPr lang="zh-CN" altLang="en-US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202.119.15.5~</a:t>
            </a:r>
            <a:r>
              <a:rPr lang="en-US" altLang="zh-CN" sz="3200" u="sng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202.119.15.254</a:t>
            </a:r>
            <a:endParaRPr lang="en-US" altLang="zh-CN" sz="32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915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2371725"/>
            <a:ext cx="8951913" cy="424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204788" y="1217613"/>
            <a:ext cx="11515725" cy="168211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）封装主机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发往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Internet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IP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分组的以太网帧的目的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MAC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地址是什么？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36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MAC2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Pct val="100000"/>
              <a:buFontTx/>
              <a:buNone/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180" name="矩形 7"/>
          <p:cNvSpPr/>
          <p:nvPr/>
        </p:nvSpPr>
        <p:spPr>
          <a:xfrm>
            <a:off x="0" y="1035050"/>
            <a:ext cx="11682413" cy="1087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）若主机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的默认网关的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地址配置为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202.119.15.2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，则主机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是否能访问主机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？请说明理由。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181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2271713"/>
            <a:ext cx="8951913" cy="4246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7"/>
          <p:cNvSpPr/>
          <p:nvPr/>
        </p:nvSpPr>
        <p:spPr>
          <a:xfrm>
            <a:off x="7719060" y="1728470"/>
            <a:ext cx="4062730" cy="117919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因为它们在同一子网中，可以直接交付，不需要经过路由器转发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90000"/>
              </a:lnSpc>
              <a:spcBef>
                <a:spcPts val="750"/>
              </a:spcBef>
              <a:buFontTx/>
              <a:buNone/>
            </a:pP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 idx="4294967295"/>
          </p:nvPr>
        </p:nvSpPr>
        <p:spPr>
          <a:xfrm>
            <a:off x="1990725" y="0"/>
            <a:ext cx="8229600" cy="1035050"/>
          </a:xfrm>
        </p:spPr>
        <p:txBody>
          <a:bodyPr vert="horz" wrap="square" lIns="91440" tIns="45720" rIns="91440" bIns="45720" anchor="ctr" anchorCtr="1"/>
          <a:p>
            <a:pPr algn="ctr" eaLnBrk="1" hangingPunct="1">
              <a:lnSpc>
                <a:spcPct val="100000"/>
              </a:lnSpc>
            </a:pPr>
            <a:r>
              <a:rPr lang="zh-CN" altLang="en-US" sz="4400" dirty="0">
                <a:solidFill>
                  <a:srgbClr val="0067B4"/>
                </a:solidFill>
              </a:rPr>
              <a:t>第七章样题</a:t>
            </a:r>
            <a:endParaRPr lang="zh-CN" altLang="en-US" sz="4400" dirty="0">
              <a:solidFill>
                <a:srgbClr val="0067B4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879475"/>
            <a:ext cx="12192000" cy="44450"/>
          </a:xfrm>
          <a:prstGeom prst="rect">
            <a:avLst/>
          </a:prstGeom>
          <a:solidFill>
            <a:srgbClr val="213F99"/>
          </a:solidFill>
          <a:ln w="6350">
            <a:noFill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0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2371725"/>
            <a:ext cx="8951913" cy="4244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05" name="矩形 5"/>
          <p:cNvSpPr/>
          <p:nvPr/>
        </p:nvSpPr>
        <p:spPr>
          <a:xfrm>
            <a:off x="231775" y="1222375"/>
            <a:ext cx="11514138" cy="169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）若主机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的默认网关的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地址配置为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202.119.15.2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，则主机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是否能访问因特网？请说明理由。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90000"/>
              </a:lnSpc>
              <a:spcBef>
                <a:spcPts val="750"/>
              </a:spcBef>
              <a:buFontTx/>
              <a:buNone/>
            </a:pP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7"/>
          <p:cNvSpPr/>
          <p:nvPr/>
        </p:nvSpPr>
        <p:spPr>
          <a:xfrm>
            <a:off x="6096000" y="2192020"/>
            <a:ext cx="5685790" cy="104267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lnSpc>
                <a:spcPct val="90000"/>
              </a:lnSpc>
              <a:spcBef>
                <a:spcPts val="750"/>
              </a:spcBef>
              <a:buFontTx/>
              <a:buNone/>
            </a:pP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不能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因为需要经过路由器转发</a:t>
            </a:r>
            <a:r>
              <a:rPr lang="en-US" altLang="zh-CN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202.119.15.2不是路由器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>
              <a:lnSpc>
                <a:spcPct val="90000"/>
              </a:lnSpc>
              <a:spcBef>
                <a:spcPts val="750"/>
              </a:spcBef>
              <a:buFontTx/>
              <a:buNone/>
            </a:pP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622550" y="2838450"/>
            <a:ext cx="7110413" cy="1016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0" i="0" u="none" strike="noStrike" kern="100" cap="none" spc="0" normalizeH="0" baseline="0" noProof="0">
                <a:ln>
                  <a:noFill/>
                </a:ln>
                <a:solidFill>
                  <a:srgbClr val="FFC819"/>
                </a:solidFill>
                <a:effectLst/>
                <a:uLnTx/>
                <a:uFillTx/>
                <a:latin typeface="方正正粗黑简体" charset="-122"/>
                <a:ea typeface="方正正粗黑简体" charset="-122"/>
                <a:cs typeface="Times New Roman" panose="02020603050405020304" pitchFamily="18" charset="0"/>
              </a:rPr>
              <a:t>祝大家考出好成绩！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正粗黑简体" charset="-122"/>
              <a:ea typeface="方正正粗黑简体" charset="-122"/>
              <a:cs typeface="+mn-c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58213" y="111125"/>
            <a:ext cx="3590925" cy="957263"/>
          </a:xfrm>
          <a:prstGeom prst="rect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86509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86509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TEMPLATE_INDEX" val="20186509"/>
  <p:tag name="KSO_WM_TEMPLATE_CATEGORY" val="custom"/>
  <p:tag name="KSO_WM_TEMPLATE_THUMBS_INDEX" val="1、2、3、4、5、6、7、8、9、10、11、12、13、14、15"/>
  <p:tag name="KSO_WM_TEMPLATE_TOPIC_ID" val="2869567"/>
  <p:tag name="KSO_WM_TEMPLATE_OUTLINE_ID" val="5"/>
  <p:tag name="KSO_WM_TEMPLATE_SCENE_ID" val="1"/>
  <p:tag name="KSO_WM_TEMPLATE_JOB_ID" val="5"/>
  <p:tag name="KSO_WM_TEMPLATE_TOPIC_DEFAULT" val="0"/>
</p:tagLst>
</file>

<file path=ppt/tags/tag23.xml><?xml version="1.0" encoding="utf-8"?>
<p:tagLst xmlns:p="http://schemas.openxmlformats.org/presentationml/2006/main">
  <p:tag name="TABLE_ENDDRAG_ORIGIN_RECT" val="528*205"/>
  <p:tag name="TABLE_ENDDRAG_RECT" val="128*310*528*205"/>
</p:tagLst>
</file>

<file path=ppt/tags/tag24.xml><?xml version="1.0" encoding="utf-8"?>
<p:tagLst xmlns:p="http://schemas.openxmlformats.org/presentationml/2006/main">
  <p:tag name="TABLE_ENDDRAG_ORIGIN_RECT" val="139*155"/>
  <p:tag name="TABLE_ENDDRAG_RECT" val="174*322*139*155"/>
</p:tagLst>
</file>

<file path=ppt/theme/theme1.xml><?xml version="1.0" encoding="utf-8"?>
<a:theme xmlns:a="http://schemas.openxmlformats.org/drawingml/2006/main" name="1_Office 主题​​">
  <a:themeElements>
    <a:clrScheme name="20186509">
      <a:dk1>
        <a:srgbClr val="000000"/>
      </a:dk1>
      <a:lt1>
        <a:srgbClr val="FFFFFF"/>
      </a:lt1>
      <a:dk2>
        <a:srgbClr val="A1887F"/>
      </a:dk2>
      <a:lt2>
        <a:srgbClr val="F0F0F0"/>
      </a:lt2>
      <a:accent1>
        <a:srgbClr val="A1887F"/>
      </a:accent1>
      <a:accent2>
        <a:srgbClr val="4B578F"/>
      </a:accent2>
      <a:accent3>
        <a:srgbClr val="51CCDC"/>
      </a:accent3>
      <a:accent4>
        <a:srgbClr val="C1EEEF"/>
      </a:accent4>
      <a:accent5>
        <a:srgbClr val="DBE674"/>
      </a:accent5>
      <a:accent6>
        <a:srgbClr val="FF8A65"/>
      </a:accent6>
      <a:hlink>
        <a:srgbClr val="2ABC5D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8963</Words>
  <Application>WPS 演示</Application>
  <PresentationFormat/>
  <Paragraphs>468</Paragraphs>
  <Slides>45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7" baseType="lpstr">
      <vt:lpstr>Arial</vt:lpstr>
      <vt:lpstr>宋体</vt:lpstr>
      <vt:lpstr>Wingdings</vt:lpstr>
      <vt:lpstr>黑体</vt:lpstr>
      <vt:lpstr>Arial Black</vt:lpstr>
      <vt:lpstr>微软雅黑</vt:lpstr>
      <vt:lpstr>方正正准黑简体</vt:lpstr>
      <vt:lpstr>Arial Unicode MS</vt:lpstr>
      <vt:lpstr>Calibri</vt:lpstr>
      <vt:lpstr>Times New Roman</vt:lpstr>
      <vt:lpstr>方正正粗黑简体</vt:lpstr>
      <vt:lpstr>1_Office 主题​​</vt:lpstr>
      <vt:lpstr>PowerPoint 演示文稿</vt:lpstr>
      <vt:lpstr>考试题型与分值</vt:lpstr>
      <vt:lpstr>第一章     概述</vt:lpstr>
      <vt:lpstr>第一章     样题</vt:lpstr>
      <vt:lpstr>第一章     样题</vt:lpstr>
      <vt:lpstr>第二章  数据通信技术基础</vt:lpstr>
      <vt:lpstr>第二章  数据通信技术基础</vt:lpstr>
      <vt:lpstr>第二章 样题</vt:lpstr>
      <vt:lpstr>第二章 样题</vt:lpstr>
      <vt:lpstr>第二章 样题</vt:lpstr>
      <vt:lpstr>第三章  数据链路层</vt:lpstr>
      <vt:lpstr>第三章  样题</vt:lpstr>
      <vt:lpstr>第四章  局域网与广域网</vt:lpstr>
      <vt:lpstr>第四章  样题</vt:lpstr>
      <vt:lpstr>第四章  样题</vt:lpstr>
      <vt:lpstr>第四章  样题</vt:lpstr>
      <vt:lpstr>第四章  样题</vt:lpstr>
      <vt:lpstr>第四章  样题</vt:lpstr>
      <vt:lpstr>第四章  样题</vt:lpstr>
      <vt:lpstr>第五章  网络层与网际互连</vt:lpstr>
      <vt:lpstr>第五章  网络层与网际互连</vt:lpstr>
      <vt:lpstr>第五章  样题</vt:lpstr>
      <vt:lpstr>第五章样题</vt:lpstr>
      <vt:lpstr>第五章  样题</vt:lpstr>
      <vt:lpstr>第五章  样题</vt:lpstr>
      <vt:lpstr>第五章  样题</vt:lpstr>
      <vt:lpstr>第五章  样题</vt:lpstr>
      <vt:lpstr>第五章  样题</vt:lpstr>
      <vt:lpstr>第六章  传输层</vt:lpstr>
      <vt:lpstr>第六章样题</vt:lpstr>
      <vt:lpstr>第六章  样题</vt:lpstr>
      <vt:lpstr>第六章  样题</vt:lpstr>
      <vt:lpstr>第七章  应用层</vt:lpstr>
      <vt:lpstr>第七章样题</vt:lpstr>
      <vt:lpstr>第七章样题</vt:lpstr>
      <vt:lpstr>第七章样题</vt:lpstr>
      <vt:lpstr>第七章样题</vt:lpstr>
      <vt:lpstr>第七章样题</vt:lpstr>
      <vt:lpstr>第七章样题</vt:lpstr>
      <vt:lpstr>第七章样题</vt:lpstr>
      <vt:lpstr>第七章样题</vt:lpstr>
      <vt:lpstr>第七章样题</vt:lpstr>
      <vt:lpstr>第七章样题</vt:lpstr>
      <vt:lpstr>第七章样题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Tiger</dc:creator>
  <cp:lastModifiedBy>ChengWeiqing</cp:lastModifiedBy>
  <cp:revision>285</cp:revision>
  <dcterms:created xsi:type="dcterms:W3CDTF">2018-11-08T00:43:00Z</dcterms:created>
  <dcterms:modified xsi:type="dcterms:W3CDTF">2025-01-05T08:12:30Z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KSORubyTemplateID">
    <vt:lpwstr>2</vt:lpwstr>
  </property>
  <property fmtid="{D5CDD505-2E9C-101B-9397-08002B2CF9AE}" pid="4" name="ICV">
    <vt:lpwstr>C808A3B499034824A9F05DDA060063C0_12</vt:lpwstr>
  </property>
</Properties>
</file>